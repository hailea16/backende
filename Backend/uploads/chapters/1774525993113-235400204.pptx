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x="18288000" cy="10287000"/>
  <p:notesSz cx="6858000" cy="9144000"/>
  <p:embeddedFontLst>
    <p:embeddedFont>
      <p:font typeface="Rubik One" charset="1" panose="02000604000000020004"/>
      <p:regular r:id="rId46"/>
    </p:embeddedFont>
    <p:embeddedFont>
      <p:font typeface="Open Sauce Bold" charset="1" panose="00000800000000000000"/>
      <p:regular r:id="rId47"/>
    </p:embeddedFont>
    <p:embeddedFont>
      <p:font typeface="Open Sauce" charset="1" panose="00000500000000000000"/>
      <p:regular r:id="rId48"/>
    </p:embeddedFont>
    <p:embeddedFont>
      <p:font typeface="Canva Sans" charset="1" panose="020B0503030501040103"/>
      <p:regular r:id="rId49"/>
    </p:embeddedFont>
    <p:embeddedFont>
      <p:font typeface="Open Sauce Italics" charset="1" panose="00000500000000000000"/>
      <p:regular r:id="rId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9261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6"/>
              </a:lnSpc>
            </a:pPr>
            <a:r>
              <a:rPr lang="en-US" sz="3662" b="true">
                <a:solidFill>
                  <a:srgbClr val="5E17EB"/>
                </a:solidFill>
                <a:latin typeface="Open Sauce Bold"/>
                <a:ea typeface="Open Sauce Bold"/>
                <a:cs typeface="Open Sauce Bold"/>
                <a:sym typeface="Open Sauce Bold"/>
              </a:rPr>
              <a:t>Empirical investigation </a:t>
            </a:r>
          </a:p>
          <a:p>
            <a:pPr algn="l">
              <a:lnSpc>
                <a:spcPts val="5127"/>
              </a:lnSpc>
            </a:pPr>
          </a:p>
        </p:txBody>
      </p:sp>
      <p:sp>
        <p:nvSpPr>
          <p:cNvPr name="TextBox 7" id="7"/>
          <p:cNvSpPr txBox="true"/>
          <p:nvPr/>
        </p:nvSpPr>
        <p:spPr>
          <a:xfrm rot="0">
            <a:off x="1387507" y="5353926"/>
            <a:ext cx="12352763" cy="1851736"/>
          </a:xfrm>
          <a:prstGeom prst="rect">
            <a:avLst/>
          </a:prstGeom>
        </p:spPr>
        <p:txBody>
          <a:bodyPr anchor="t" rtlCol="false" tIns="0" lIns="0" bIns="0" rIns="0">
            <a:spAutoFit/>
          </a:bodyPr>
          <a:lstStyle/>
          <a:p>
            <a:pPr algn="l">
              <a:lnSpc>
                <a:spcPts val="2931"/>
              </a:lnSpc>
            </a:pPr>
            <a:r>
              <a:rPr lang="en-US" sz="2093">
                <a:solidFill>
                  <a:srgbClr val="38B6FF"/>
                </a:solidFill>
                <a:latin typeface="Open Sauce"/>
                <a:ea typeface="Open Sauce"/>
                <a:cs typeface="Open Sauce"/>
                <a:sym typeface="Open Sauce"/>
              </a:rPr>
              <a:t>W</a:t>
            </a:r>
            <a:r>
              <a:rPr lang="en-US" sz="2093">
                <a:solidFill>
                  <a:srgbClr val="38B6FF"/>
                </a:solidFill>
                <a:latin typeface="Open Sauce"/>
                <a:ea typeface="Open Sauce"/>
                <a:cs typeface="Open Sauce"/>
                <a:sym typeface="Open Sauce"/>
              </a:rPr>
              <a:t>hat is software engineering investigation? Applying “scientific” principles and techniques to investigate properties of software and software related tools and techniques. Why talking about software engineering investigation? Because the standard of empirical software engineering research is quite poor. “the scientific method is merely a formalization of learning by experience”.</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46304" y="976851"/>
            <a:ext cx="15512996" cy="8333299"/>
          </a:xfrm>
          <a:custGeom>
            <a:avLst/>
            <a:gdLst/>
            <a:ahLst/>
            <a:cxnLst/>
            <a:rect r="r" b="b" t="t" l="l"/>
            <a:pathLst>
              <a:path h="8333299" w="15512996">
                <a:moveTo>
                  <a:pt x="0" y="0"/>
                </a:moveTo>
                <a:lnTo>
                  <a:pt x="15512996" y="0"/>
                </a:lnTo>
                <a:lnTo>
                  <a:pt x="15512996" y="8333298"/>
                </a:lnTo>
                <a:lnTo>
                  <a:pt x="0" y="8333298"/>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Empirical investigation </a:t>
            </a:r>
          </a:p>
        </p:txBody>
      </p:sp>
      <p:sp>
        <p:nvSpPr>
          <p:cNvPr name="TextBox 7" id="7"/>
          <p:cNvSpPr txBox="true"/>
          <p:nvPr/>
        </p:nvSpPr>
        <p:spPr>
          <a:xfrm rot="0">
            <a:off x="1387507" y="5334749"/>
            <a:ext cx="12056693" cy="2524163"/>
          </a:xfrm>
          <a:prstGeom prst="rect">
            <a:avLst/>
          </a:prstGeom>
        </p:spPr>
        <p:txBody>
          <a:bodyPr anchor="t" rtlCol="false" tIns="0" lIns="0" bIns="0" rIns="0">
            <a:spAutoFit/>
          </a:bodyPr>
          <a:lstStyle/>
          <a:p>
            <a:pPr algn="l">
              <a:lnSpc>
                <a:spcPts val="2859"/>
              </a:lnSpc>
            </a:pPr>
            <a:r>
              <a:rPr lang="en-US" sz="2042">
                <a:solidFill>
                  <a:srgbClr val="00BF63"/>
                </a:solidFill>
                <a:latin typeface="Open Sauce"/>
                <a:ea typeface="Open Sauce"/>
                <a:cs typeface="Open Sauce"/>
                <a:sym typeface="Open Sauce"/>
              </a:rPr>
              <a:t>SE</a:t>
            </a:r>
            <a:r>
              <a:rPr lang="en-US" sz="2042">
                <a:solidFill>
                  <a:srgbClr val="00BF63"/>
                </a:solidFill>
                <a:latin typeface="Open Sauce"/>
                <a:ea typeface="Open Sauce"/>
                <a:cs typeface="Open Sauce"/>
                <a:sym typeface="Open Sauce"/>
              </a:rPr>
              <a:t> Investigation(cont.)</a:t>
            </a:r>
          </a:p>
          <a:p>
            <a:pPr algn="l">
              <a:lnSpc>
                <a:spcPts val="2859"/>
              </a:lnSpc>
            </a:pPr>
            <a:r>
              <a:rPr lang="en-US" sz="2042">
                <a:solidFill>
                  <a:srgbClr val="38B6FF"/>
                </a:solidFill>
                <a:latin typeface="Open Sauce"/>
                <a:ea typeface="Open Sauce"/>
                <a:cs typeface="Open Sauce"/>
                <a:sym typeface="Open Sauce"/>
              </a:rPr>
              <a:t>An</a:t>
            </a:r>
            <a:r>
              <a:rPr lang="en-US" sz="2042">
                <a:solidFill>
                  <a:srgbClr val="38B6FF"/>
                </a:solidFill>
                <a:latin typeface="Open Sauce"/>
                <a:ea typeface="Open Sauce"/>
                <a:cs typeface="Open Sauce"/>
                <a:sym typeface="Open Sauce"/>
              </a:rPr>
              <a:t> empirical study examines some specific sample or observation of all of the possible values of the variables involved in a cause-effect relationship.</a:t>
            </a:r>
          </a:p>
          <a:p>
            <a:pPr algn="l">
              <a:lnSpc>
                <a:spcPts val="2859"/>
              </a:lnSpc>
            </a:pPr>
          </a:p>
          <a:p>
            <a:pPr algn="l">
              <a:lnSpc>
                <a:spcPts val="2860"/>
              </a:lnSpc>
            </a:pPr>
          </a:p>
          <a:p>
            <a:pPr algn="l">
              <a:lnSpc>
                <a:spcPts val="2860"/>
              </a:lnSpc>
            </a:pPr>
          </a:p>
          <a:p>
            <a:pPr algn="l">
              <a:lnSpc>
                <a:spcPts val="2860"/>
              </a:lnSpc>
            </a:pP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grpSp>
        <p:nvGrpSpPr>
          <p:cNvPr name="Group 10" id="10"/>
          <p:cNvGrpSpPr/>
          <p:nvPr/>
        </p:nvGrpSpPr>
        <p:grpSpPr>
          <a:xfrm rot="0">
            <a:off x="1458373" y="6841027"/>
            <a:ext cx="1860838" cy="1417605"/>
            <a:chOff x="0" y="0"/>
            <a:chExt cx="490097" cy="373361"/>
          </a:xfrm>
        </p:grpSpPr>
        <p:sp>
          <p:nvSpPr>
            <p:cNvPr name="Freeform 11" id="11"/>
            <p:cNvSpPr/>
            <p:nvPr/>
          </p:nvSpPr>
          <p:spPr>
            <a:xfrm flipH="false" flipV="false" rot="0">
              <a:off x="0" y="0"/>
              <a:ext cx="490097" cy="373361"/>
            </a:xfrm>
            <a:custGeom>
              <a:avLst/>
              <a:gdLst/>
              <a:ahLst/>
              <a:cxnLst/>
              <a:rect r="r" b="b" t="t" l="l"/>
              <a:pathLst>
                <a:path h="373361" w="490097">
                  <a:moveTo>
                    <a:pt x="70728" y="0"/>
                  </a:moveTo>
                  <a:lnTo>
                    <a:pt x="419369" y="0"/>
                  </a:lnTo>
                  <a:cubicBezTo>
                    <a:pt x="458431" y="0"/>
                    <a:pt x="490097" y="31666"/>
                    <a:pt x="490097" y="70728"/>
                  </a:cubicBezTo>
                  <a:lnTo>
                    <a:pt x="490097" y="302633"/>
                  </a:lnTo>
                  <a:cubicBezTo>
                    <a:pt x="490097" y="321392"/>
                    <a:pt x="482645" y="339381"/>
                    <a:pt x="469381" y="352645"/>
                  </a:cubicBezTo>
                  <a:cubicBezTo>
                    <a:pt x="456117" y="365909"/>
                    <a:pt x="438128" y="373361"/>
                    <a:pt x="419369" y="373361"/>
                  </a:cubicBezTo>
                  <a:lnTo>
                    <a:pt x="70728" y="373361"/>
                  </a:lnTo>
                  <a:cubicBezTo>
                    <a:pt x="31666" y="373361"/>
                    <a:pt x="0" y="341695"/>
                    <a:pt x="0" y="302633"/>
                  </a:cubicBezTo>
                  <a:lnTo>
                    <a:pt x="0" y="70728"/>
                  </a:lnTo>
                  <a:cubicBezTo>
                    <a:pt x="0" y="31666"/>
                    <a:pt x="31666" y="0"/>
                    <a:pt x="70728" y="0"/>
                  </a:cubicBezTo>
                  <a:close/>
                </a:path>
              </a:pathLst>
            </a:custGeom>
            <a:solidFill>
              <a:srgbClr val="5CE1E6"/>
            </a:solidFill>
          </p:spPr>
        </p:sp>
        <p:sp>
          <p:nvSpPr>
            <p:cNvPr name="TextBox 12" id="12"/>
            <p:cNvSpPr txBox="true"/>
            <p:nvPr/>
          </p:nvSpPr>
          <p:spPr>
            <a:xfrm>
              <a:off x="0" y="-38100"/>
              <a:ext cx="490097" cy="411461"/>
            </a:xfrm>
            <a:prstGeom prst="rect">
              <a:avLst/>
            </a:prstGeom>
          </p:spPr>
          <p:txBody>
            <a:bodyPr anchor="ctr" rtlCol="false" tIns="50800" lIns="50800" bIns="50800" rIns="50800"/>
            <a:lstStyle/>
            <a:p>
              <a:pPr algn="ctr">
                <a:lnSpc>
                  <a:spcPts val="2659"/>
                </a:lnSpc>
              </a:pPr>
              <a:r>
                <a:rPr lang="en-US" sz="1899">
                  <a:solidFill>
                    <a:srgbClr val="000000"/>
                  </a:solidFill>
                  <a:latin typeface="Canva Sans"/>
                  <a:ea typeface="Canva Sans"/>
                  <a:cs typeface="Canva Sans"/>
                  <a:sym typeface="Canva Sans"/>
                </a:rPr>
                <a:t>cause</a:t>
              </a:r>
            </a:p>
            <a:p>
              <a:pPr algn="ctr">
                <a:lnSpc>
                  <a:spcPts val="2659"/>
                </a:lnSpc>
                <a:spcBef>
                  <a:spcPct val="0"/>
                </a:spcBef>
              </a:pPr>
            </a:p>
          </p:txBody>
        </p:sp>
      </p:grpSp>
      <p:grpSp>
        <p:nvGrpSpPr>
          <p:cNvPr name="Group 13" id="13"/>
          <p:cNvGrpSpPr/>
          <p:nvPr/>
        </p:nvGrpSpPr>
        <p:grpSpPr>
          <a:xfrm rot="0">
            <a:off x="4165775" y="6865835"/>
            <a:ext cx="2057733" cy="1417605"/>
            <a:chOff x="0" y="0"/>
            <a:chExt cx="541954" cy="373361"/>
          </a:xfrm>
        </p:grpSpPr>
        <p:sp>
          <p:nvSpPr>
            <p:cNvPr name="Freeform 14" id="14"/>
            <p:cNvSpPr/>
            <p:nvPr/>
          </p:nvSpPr>
          <p:spPr>
            <a:xfrm flipH="false" flipV="false" rot="0">
              <a:off x="0" y="0"/>
              <a:ext cx="541954" cy="373361"/>
            </a:xfrm>
            <a:custGeom>
              <a:avLst/>
              <a:gdLst/>
              <a:ahLst/>
              <a:cxnLst/>
              <a:rect r="r" b="b" t="t" l="l"/>
              <a:pathLst>
                <a:path h="373361" w="541954">
                  <a:moveTo>
                    <a:pt x="63960" y="0"/>
                  </a:moveTo>
                  <a:lnTo>
                    <a:pt x="477994" y="0"/>
                  </a:lnTo>
                  <a:cubicBezTo>
                    <a:pt x="494957" y="0"/>
                    <a:pt x="511226" y="6739"/>
                    <a:pt x="523221" y="18733"/>
                  </a:cubicBezTo>
                  <a:cubicBezTo>
                    <a:pt x="535216" y="30728"/>
                    <a:pt x="541954" y="46997"/>
                    <a:pt x="541954" y="63960"/>
                  </a:cubicBezTo>
                  <a:lnTo>
                    <a:pt x="541954" y="309401"/>
                  </a:lnTo>
                  <a:cubicBezTo>
                    <a:pt x="541954" y="326364"/>
                    <a:pt x="535216" y="342633"/>
                    <a:pt x="523221" y="354628"/>
                  </a:cubicBezTo>
                  <a:cubicBezTo>
                    <a:pt x="511226" y="366622"/>
                    <a:pt x="494957" y="373361"/>
                    <a:pt x="477994" y="373361"/>
                  </a:cubicBezTo>
                  <a:lnTo>
                    <a:pt x="63960" y="373361"/>
                  </a:lnTo>
                  <a:cubicBezTo>
                    <a:pt x="46997" y="373361"/>
                    <a:pt x="30728" y="366622"/>
                    <a:pt x="18733" y="354628"/>
                  </a:cubicBezTo>
                  <a:cubicBezTo>
                    <a:pt x="6739" y="342633"/>
                    <a:pt x="0" y="326364"/>
                    <a:pt x="0" y="309401"/>
                  </a:cubicBezTo>
                  <a:lnTo>
                    <a:pt x="0" y="63960"/>
                  </a:lnTo>
                  <a:cubicBezTo>
                    <a:pt x="0" y="46997"/>
                    <a:pt x="6739" y="30728"/>
                    <a:pt x="18733" y="18733"/>
                  </a:cubicBezTo>
                  <a:cubicBezTo>
                    <a:pt x="30728" y="6739"/>
                    <a:pt x="46997" y="0"/>
                    <a:pt x="63960" y="0"/>
                  </a:cubicBezTo>
                  <a:close/>
                </a:path>
              </a:pathLst>
            </a:custGeom>
            <a:solidFill>
              <a:srgbClr val="5CE1E6"/>
            </a:solidFill>
          </p:spPr>
        </p:sp>
        <p:sp>
          <p:nvSpPr>
            <p:cNvPr name="TextBox 15" id="15"/>
            <p:cNvSpPr txBox="true"/>
            <p:nvPr/>
          </p:nvSpPr>
          <p:spPr>
            <a:xfrm>
              <a:off x="0" y="-38100"/>
              <a:ext cx="541954" cy="411461"/>
            </a:xfrm>
            <a:prstGeom prst="rect">
              <a:avLst/>
            </a:prstGeom>
          </p:spPr>
          <p:txBody>
            <a:bodyPr anchor="ctr" rtlCol="false" tIns="50800" lIns="50800" bIns="50800" rIns="50800"/>
            <a:lstStyle/>
            <a:p>
              <a:pPr algn="ctr">
                <a:lnSpc>
                  <a:spcPts val="2659"/>
                </a:lnSpc>
              </a:pPr>
              <a:r>
                <a:rPr lang="en-US" sz="1899">
                  <a:solidFill>
                    <a:srgbClr val="000000"/>
                  </a:solidFill>
                  <a:latin typeface="Canva Sans"/>
                  <a:ea typeface="Canva Sans"/>
                  <a:cs typeface="Canva Sans"/>
                  <a:sym typeface="Canva Sans"/>
                </a:rPr>
                <a:t>effect</a:t>
              </a:r>
            </a:p>
            <a:p>
              <a:pPr algn="ctr">
                <a:lnSpc>
                  <a:spcPts val="2659"/>
                </a:lnSpc>
              </a:pPr>
            </a:p>
          </p:txBody>
        </p:sp>
      </p:grpSp>
      <p:grpSp>
        <p:nvGrpSpPr>
          <p:cNvPr name="Group 16" id="16"/>
          <p:cNvGrpSpPr/>
          <p:nvPr/>
        </p:nvGrpSpPr>
        <p:grpSpPr>
          <a:xfrm rot="0">
            <a:off x="7053426" y="6865835"/>
            <a:ext cx="2090574" cy="1417605"/>
            <a:chOff x="0" y="0"/>
            <a:chExt cx="550604" cy="373361"/>
          </a:xfrm>
        </p:grpSpPr>
        <p:sp>
          <p:nvSpPr>
            <p:cNvPr name="Freeform 17" id="17"/>
            <p:cNvSpPr/>
            <p:nvPr/>
          </p:nvSpPr>
          <p:spPr>
            <a:xfrm flipH="false" flipV="false" rot="0">
              <a:off x="0" y="0"/>
              <a:ext cx="550604" cy="373361"/>
            </a:xfrm>
            <a:custGeom>
              <a:avLst/>
              <a:gdLst/>
              <a:ahLst/>
              <a:cxnLst/>
              <a:rect r="r" b="b" t="t" l="l"/>
              <a:pathLst>
                <a:path h="373361" w="550604">
                  <a:moveTo>
                    <a:pt x="62955" y="0"/>
                  </a:moveTo>
                  <a:lnTo>
                    <a:pt x="487649" y="0"/>
                  </a:lnTo>
                  <a:cubicBezTo>
                    <a:pt x="504345" y="0"/>
                    <a:pt x="520358" y="6633"/>
                    <a:pt x="532165" y="18439"/>
                  </a:cubicBezTo>
                  <a:cubicBezTo>
                    <a:pt x="543971" y="30246"/>
                    <a:pt x="550604" y="46258"/>
                    <a:pt x="550604" y="62955"/>
                  </a:cubicBezTo>
                  <a:lnTo>
                    <a:pt x="550604" y="310406"/>
                  </a:lnTo>
                  <a:cubicBezTo>
                    <a:pt x="550604" y="345175"/>
                    <a:pt x="522418" y="373361"/>
                    <a:pt x="487649" y="373361"/>
                  </a:cubicBezTo>
                  <a:lnTo>
                    <a:pt x="62955" y="373361"/>
                  </a:lnTo>
                  <a:cubicBezTo>
                    <a:pt x="28186" y="373361"/>
                    <a:pt x="0" y="345175"/>
                    <a:pt x="0" y="310406"/>
                  </a:cubicBezTo>
                  <a:lnTo>
                    <a:pt x="0" y="62955"/>
                  </a:lnTo>
                  <a:cubicBezTo>
                    <a:pt x="0" y="28186"/>
                    <a:pt x="28186" y="0"/>
                    <a:pt x="62955" y="0"/>
                  </a:cubicBezTo>
                  <a:close/>
                </a:path>
              </a:pathLst>
            </a:custGeom>
            <a:solidFill>
              <a:srgbClr val="D9D9D9"/>
            </a:solidFill>
          </p:spPr>
        </p:sp>
        <p:sp>
          <p:nvSpPr>
            <p:cNvPr name="TextBox 18" id="18"/>
            <p:cNvSpPr txBox="true"/>
            <p:nvPr/>
          </p:nvSpPr>
          <p:spPr>
            <a:xfrm>
              <a:off x="0" y="-38100"/>
              <a:ext cx="550604" cy="411461"/>
            </a:xfrm>
            <a:prstGeom prst="rect">
              <a:avLst/>
            </a:prstGeom>
          </p:spPr>
          <p:txBody>
            <a:bodyPr anchor="ctr" rtlCol="false" tIns="50800" lIns="50800" bIns="50800" rIns="50800"/>
            <a:lstStyle/>
            <a:p>
              <a:pPr algn="ctr">
                <a:lnSpc>
                  <a:spcPts val="2659"/>
                </a:lnSpc>
              </a:pPr>
              <a:r>
                <a:rPr lang="en-US" sz="1899">
                  <a:solidFill>
                    <a:srgbClr val="000000"/>
                  </a:solidFill>
                  <a:latin typeface="Canva Sans"/>
                  <a:ea typeface="Canva Sans"/>
                  <a:cs typeface="Canva Sans"/>
                  <a:sym typeface="Canva Sans"/>
                </a:rPr>
                <a:t>treatment</a:t>
              </a:r>
            </a:p>
            <a:p>
              <a:pPr algn="ctr">
                <a:lnSpc>
                  <a:spcPts val="2659"/>
                </a:lnSpc>
              </a:pPr>
            </a:p>
          </p:txBody>
        </p:sp>
      </p:grpSp>
      <p:grpSp>
        <p:nvGrpSpPr>
          <p:cNvPr name="Group 19" id="19"/>
          <p:cNvGrpSpPr/>
          <p:nvPr/>
        </p:nvGrpSpPr>
        <p:grpSpPr>
          <a:xfrm rot="0">
            <a:off x="10179907" y="6865835"/>
            <a:ext cx="2090574" cy="1417605"/>
            <a:chOff x="0" y="0"/>
            <a:chExt cx="550604" cy="373361"/>
          </a:xfrm>
        </p:grpSpPr>
        <p:sp>
          <p:nvSpPr>
            <p:cNvPr name="Freeform 20" id="20"/>
            <p:cNvSpPr/>
            <p:nvPr/>
          </p:nvSpPr>
          <p:spPr>
            <a:xfrm flipH="false" flipV="false" rot="0">
              <a:off x="0" y="0"/>
              <a:ext cx="550604" cy="373361"/>
            </a:xfrm>
            <a:custGeom>
              <a:avLst/>
              <a:gdLst/>
              <a:ahLst/>
              <a:cxnLst/>
              <a:rect r="r" b="b" t="t" l="l"/>
              <a:pathLst>
                <a:path h="373361" w="550604">
                  <a:moveTo>
                    <a:pt x="62955" y="0"/>
                  </a:moveTo>
                  <a:lnTo>
                    <a:pt x="487649" y="0"/>
                  </a:lnTo>
                  <a:cubicBezTo>
                    <a:pt x="504345" y="0"/>
                    <a:pt x="520358" y="6633"/>
                    <a:pt x="532165" y="18439"/>
                  </a:cubicBezTo>
                  <a:cubicBezTo>
                    <a:pt x="543971" y="30246"/>
                    <a:pt x="550604" y="46258"/>
                    <a:pt x="550604" y="62955"/>
                  </a:cubicBezTo>
                  <a:lnTo>
                    <a:pt x="550604" y="310406"/>
                  </a:lnTo>
                  <a:cubicBezTo>
                    <a:pt x="550604" y="345175"/>
                    <a:pt x="522418" y="373361"/>
                    <a:pt x="487649" y="373361"/>
                  </a:cubicBezTo>
                  <a:lnTo>
                    <a:pt x="62955" y="373361"/>
                  </a:lnTo>
                  <a:cubicBezTo>
                    <a:pt x="28186" y="373361"/>
                    <a:pt x="0" y="345175"/>
                    <a:pt x="0" y="310406"/>
                  </a:cubicBezTo>
                  <a:lnTo>
                    <a:pt x="0" y="62955"/>
                  </a:lnTo>
                  <a:cubicBezTo>
                    <a:pt x="0" y="28186"/>
                    <a:pt x="28186" y="0"/>
                    <a:pt x="62955" y="0"/>
                  </a:cubicBezTo>
                  <a:close/>
                </a:path>
              </a:pathLst>
            </a:custGeom>
            <a:solidFill>
              <a:srgbClr val="D9D9D9"/>
            </a:solidFill>
          </p:spPr>
        </p:sp>
        <p:sp>
          <p:nvSpPr>
            <p:cNvPr name="TextBox 21" id="21"/>
            <p:cNvSpPr txBox="true"/>
            <p:nvPr/>
          </p:nvSpPr>
          <p:spPr>
            <a:xfrm>
              <a:off x="0" y="-38100"/>
              <a:ext cx="550604" cy="411461"/>
            </a:xfrm>
            <a:prstGeom prst="rect">
              <a:avLst/>
            </a:prstGeom>
          </p:spPr>
          <p:txBody>
            <a:bodyPr anchor="ctr" rtlCol="false" tIns="50800" lIns="50800" bIns="50800" rIns="50800"/>
            <a:lstStyle/>
            <a:p>
              <a:pPr algn="ctr">
                <a:lnSpc>
                  <a:spcPts val="2659"/>
                </a:lnSpc>
              </a:pPr>
              <a:r>
                <a:rPr lang="en-US" sz="1899">
                  <a:solidFill>
                    <a:srgbClr val="000000"/>
                  </a:solidFill>
                  <a:latin typeface="Canva Sans"/>
                  <a:ea typeface="Canva Sans"/>
                  <a:cs typeface="Canva Sans"/>
                  <a:sym typeface="Canva Sans"/>
                </a:rPr>
                <a:t>outcome</a:t>
              </a:r>
            </a:p>
            <a:p>
              <a:pPr algn="ctr">
                <a:lnSpc>
                  <a:spcPts val="2659"/>
                </a:lnSpc>
              </a:pPr>
            </a:p>
          </p:txBody>
        </p:sp>
      </p:grpSp>
      <p:grpSp>
        <p:nvGrpSpPr>
          <p:cNvPr name="Group 22" id="22"/>
          <p:cNvGrpSpPr/>
          <p:nvPr/>
        </p:nvGrpSpPr>
        <p:grpSpPr>
          <a:xfrm rot="0">
            <a:off x="3233738" y="7358062"/>
            <a:ext cx="1066800" cy="249555"/>
            <a:chOff x="0" y="0"/>
            <a:chExt cx="1422400" cy="332740"/>
          </a:xfrm>
        </p:grpSpPr>
        <p:sp>
          <p:nvSpPr>
            <p:cNvPr name="Freeform 23" id="23"/>
            <p:cNvSpPr/>
            <p:nvPr/>
          </p:nvSpPr>
          <p:spPr>
            <a:xfrm flipH="false" flipV="false" rot="0">
              <a:off x="50749" y="41898"/>
              <a:ext cx="1319740" cy="242465"/>
            </a:xfrm>
            <a:custGeom>
              <a:avLst/>
              <a:gdLst/>
              <a:ahLst/>
              <a:cxnLst/>
              <a:rect r="r" b="b" t="t" l="l"/>
              <a:pathLst>
                <a:path h="242465" w="1319740">
                  <a:moveTo>
                    <a:pt x="21641" y="189242"/>
                  </a:moveTo>
                  <a:cubicBezTo>
                    <a:pt x="802691" y="71132"/>
                    <a:pt x="929691" y="24142"/>
                    <a:pt x="1046531" y="11442"/>
                  </a:cubicBezTo>
                  <a:cubicBezTo>
                    <a:pt x="1140511" y="1282"/>
                    <a:pt x="1267511" y="-7608"/>
                    <a:pt x="1301801" y="10172"/>
                  </a:cubicBezTo>
                  <a:cubicBezTo>
                    <a:pt x="1314501" y="16522"/>
                    <a:pt x="1319581" y="27952"/>
                    <a:pt x="1319581" y="35572"/>
                  </a:cubicBezTo>
                  <a:cubicBezTo>
                    <a:pt x="1319581" y="44462"/>
                    <a:pt x="1308151" y="58432"/>
                    <a:pt x="1299261" y="59702"/>
                  </a:cubicBezTo>
                  <a:cubicBezTo>
                    <a:pt x="1290371" y="60972"/>
                    <a:pt x="1270051" y="47002"/>
                    <a:pt x="1268781" y="38112"/>
                  </a:cubicBezTo>
                  <a:cubicBezTo>
                    <a:pt x="1267511" y="30492"/>
                    <a:pt x="1282751" y="10172"/>
                    <a:pt x="1291641" y="8902"/>
                  </a:cubicBezTo>
                  <a:cubicBezTo>
                    <a:pt x="1299261" y="8902"/>
                    <a:pt x="1318311" y="24142"/>
                    <a:pt x="1319581" y="33032"/>
                  </a:cubicBezTo>
                  <a:cubicBezTo>
                    <a:pt x="1320851" y="40652"/>
                    <a:pt x="1314501" y="52082"/>
                    <a:pt x="1301801" y="58432"/>
                  </a:cubicBezTo>
                  <a:cubicBezTo>
                    <a:pt x="1266241" y="77482"/>
                    <a:pt x="1106221" y="52082"/>
                    <a:pt x="1028751" y="64782"/>
                  </a:cubicBezTo>
                  <a:cubicBezTo>
                    <a:pt x="967791" y="73672"/>
                    <a:pt x="927151" y="99072"/>
                    <a:pt x="871271" y="111772"/>
                  </a:cubicBezTo>
                  <a:cubicBezTo>
                    <a:pt x="806501" y="127012"/>
                    <a:pt x="751891" y="134632"/>
                    <a:pt x="664261" y="148602"/>
                  </a:cubicBezTo>
                  <a:cubicBezTo>
                    <a:pt x="510591" y="172732"/>
                    <a:pt x="100381" y="257822"/>
                    <a:pt x="27991" y="240042"/>
                  </a:cubicBezTo>
                  <a:cubicBezTo>
                    <a:pt x="11481" y="236232"/>
                    <a:pt x="1321" y="228612"/>
                    <a:pt x="51" y="220992"/>
                  </a:cubicBezTo>
                  <a:cubicBezTo>
                    <a:pt x="-1219" y="212102"/>
                    <a:pt x="21641" y="189242"/>
                    <a:pt x="21641" y="189242"/>
                  </a:cubicBezTo>
                </a:path>
              </a:pathLst>
            </a:custGeom>
            <a:solidFill>
              <a:srgbClr val="0571D3"/>
            </a:solidFill>
            <a:ln cap="sq">
              <a:noFill/>
              <a:prstDash val="solid"/>
              <a:miter/>
            </a:ln>
          </p:spPr>
        </p:sp>
      </p:grpSp>
      <p:grpSp>
        <p:nvGrpSpPr>
          <p:cNvPr name="Group 24" id="24"/>
          <p:cNvGrpSpPr/>
          <p:nvPr/>
        </p:nvGrpSpPr>
        <p:grpSpPr>
          <a:xfrm rot="0">
            <a:off x="3842385" y="7171372"/>
            <a:ext cx="522922" cy="509588"/>
            <a:chOff x="0" y="0"/>
            <a:chExt cx="697230" cy="679450"/>
          </a:xfrm>
        </p:grpSpPr>
        <p:sp>
          <p:nvSpPr>
            <p:cNvPr name="Freeform 25" id="25"/>
            <p:cNvSpPr/>
            <p:nvPr/>
          </p:nvSpPr>
          <p:spPr>
            <a:xfrm flipH="false" flipV="false" rot="0">
              <a:off x="50641" y="42468"/>
              <a:ext cx="609741" cy="586494"/>
            </a:xfrm>
            <a:custGeom>
              <a:avLst/>
              <a:gdLst/>
              <a:ahLst/>
              <a:cxnLst/>
              <a:rect r="r" b="b" t="t" l="l"/>
              <a:pathLst>
                <a:path h="586494" w="609741">
                  <a:moveTo>
                    <a:pt x="299879" y="131522"/>
                  </a:moveTo>
                  <a:cubicBezTo>
                    <a:pt x="490379" y="440132"/>
                    <a:pt x="537369" y="487122"/>
                    <a:pt x="555149" y="520142"/>
                  </a:cubicBezTo>
                  <a:cubicBezTo>
                    <a:pt x="564039" y="536652"/>
                    <a:pt x="571659" y="549352"/>
                    <a:pt x="569119" y="560782"/>
                  </a:cubicBezTo>
                  <a:cubicBezTo>
                    <a:pt x="567849" y="570942"/>
                    <a:pt x="555149" y="583642"/>
                    <a:pt x="546259" y="586182"/>
                  </a:cubicBezTo>
                  <a:cubicBezTo>
                    <a:pt x="539909" y="587452"/>
                    <a:pt x="528479" y="584912"/>
                    <a:pt x="524669" y="577292"/>
                  </a:cubicBezTo>
                  <a:cubicBezTo>
                    <a:pt x="514509" y="559512"/>
                    <a:pt x="539909" y="498552"/>
                    <a:pt x="544989" y="443942"/>
                  </a:cubicBezTo>
                  <a:cubicBezTo>
                    <a:pt x="552609" y="362662"/>
                    <a:pt x="589439" y="183592"/>
                    <a:pt x="555149" y="128982"/>
                  </a:cubicBezTo>
                  <a:cubicBezTo>
                    <a:pt x="534829" y="97232"/>
                    <a:pt x="490379" y="97232"/>
                    <a:pt x="454819" y="85802"/>
                  </a:cubicBezTo>
                  <a:cubicBezTo>
                    <a:pt x="414179" y="74372"/>
                    <a:pt x="378619" y="69292"/>
                    <a:pt x="326549" y="64212"/>
                  </a:cubicBezTo>
                  <a:cubicBezTo>
                    <a:pt x="246539" y="56592"/>
                    <a:pt x="58579" y="80722"/>
                    <a:pt x="19209" y="59132"/>
                  </a:cubicBezTo>
                  <a:cubicBezTo>
                    <a:pt x="5239" y="51512"/>
                    <a:pt x="-1111" y="40082"/>
                    <a:pt x="159" y="31192"/>
                  </a:cubicBezTo>
                  <a:cubicBezTo>
                    <a:pt x="159" y="22302"/>
                    <a:pt x="12859" y="13412"/>
                    <a:pt x="24289" y="8332"/>
                  </a:cubicBezTo>
                  <a:cubicBezTo>
                    <a:pt x="44609" y="1982"/>
                    <a:pt x="99219" y="4522"/>
                    <a:pt x="113189" y="14682"/>
                  </a:cubicBezTo>
                  <a:cubicBezTo>
                    <a:pt x="120809" y="19762"/>
                    <a:pt x="123349" y="28652"/>
                    <a:pt x="123349" y="36272"/>
                  </a:cubicBezTo>
                  <a:cubicBezTo>
                    <a:pt x="123349" y="42622"/>
                    <a:pt x="116999" y="52782"/>
                    <a:pt x="110649" y="56592"/>
                  </a:cubicBezTo>
                  <a:cubicBezTo>
                    <a:pt x="105569" y="59132"/>
                    <a:pt x="94139" y="60402"/>
                    <a:pt x="87789" y="57862"/>
                  </a:cubicBezTo>
                  <a:cubicBezTo>
                    <a:pt x="81439" y="54052"/>
                    <a:pt x="73819" y="45162"/>
                    <a:pt x="72549" y="38812"/>
                  </a:cubicBezTo>
                  <a:cubicBezTo>
                    <a:pt x="72549" y="31192"/>
                    <a:pt x="75089" y="21032"/>
                    <a:pt x="80169" y="15952"/>
                  </a:cubicBezTo>
                  <a:cubicBezTo>
                    <a:pt x="85249" y="10872"/>
                    <a:pt x="96679" y="7062"/>
                    <a:pt x="103029" y="9602"/>
                  </a:cubicBezTo>
                  <a:cubicBezTo>
                    <a:pt x="111919" y="12142"/>
                    <a:pt x="123349" y="24842"/>
                    <a:pt x="123349" y="32462"/>
                  </a:cubicBezTo>
                  <a:cubicBezTo>
                    <a:pt x="123349" y="41352"/>
                    <a:pt x="115729" y="52782"/>
                    <a:pt x="106839" y="57862"/>
                  </a:cubicBezTo>
                  <a:cubicBezTo>
                    <a:pt x="89059" y="68022"/>
                    <a:pt x="35719" y="68022"/>
                    <a:pt x="19209" y="59132"/>
                  </a:cubicBezTo>
                  <a:cubicBezTo>
                    <a:pt x="7779" y="52782"/>
                    <a:pt x="-1111" y="40082"/>
                    <a:pt x="159" y="31192"/>
                  </a:cubicBezTo>
                  <a:cubicBezTo>
                    <a:pt x="159" y="22302"/>
                    <a:pt x="10319" y="14682"/>
                    <a:pt x="24289" y="8332"/>
                  </a:cubicBezTo>
                  <a:cubicBezTo>
                    <a:pt x="70009" y="-8178"/>
                    <a:pt x="246539" y="3252"/>
                    <a:pt x="334169" y="13412"/>
                  </a:cubicBezTo>
                  <a:cubicBezTo>
                    <a:pt x="400209" y="21032"/>
                    <a:pt x="459899" y="31192"/>
                    <a:pt x="505619" y="50242"/>
                  </a:cubicBezTo>
                  <a:cubicBezTo>
                    <a:pt x="541179" y="65482"/>
                    <a:pt x="575469" y="73102"/>
                    <a:pt x="593249" y="107392"/>
                  </a:cubicBezTo>
                  <a:cubicBezTo>
                    <a:pt x="627539" y="170892"/>
                    <a:pt x="598329" y="376632"/>
                    <a:pt x="594519" y="449022"/>
                  </a:cubicBezTo>
                  <a:cubicBezTo>
                    <a:pt x="593249" y="483312"/>
                    <a:pt x="593249" y="503632"/>
                    <a:pt x="586899" y="525222"/>
                  </a:cubicBezTo>
                  <a:cubicBezTo>
                    <a:pt x="581819" y="544272"/>
                    <a:pt x="569119" y="576022"/>
                    <a:pt x="565309" y="576022"/>
                  </a:cubicBezTo>
                  <a:cubicBezTo>
                    <a:pt x="562769" y="574752"/>
                    <a:pt x="562769" y="544272"/>
                    <a:pt x="564039" y="544272"/>
                  </a:cubicBezTo>
                  <a:cubicBezTo>
                    <a:pt x="564039" y="544272"/>
                    <a:pt x="569119" y="565862"/>
                    <a:pt x="566579" y="573482"/>
                  </a:cubicBezTo>
                  <a:cubicBezTo>
                    <a:pt x="562769" y="579832"/>
                    <a:pt x="553879" y="584912"/>
                    <a:pt x="546259" y="586182"/>
                  </a:cubicBezTo>
                  <a:cubicBezTo>
                    <a:pt x="539909" y="586182"/>
                    <a:pt x="533559" y="584912"/>
                    <a:pt x="524669" y="577292"/>
                  </a:cubicBezTo>
                  <a:cubicBezTo>
                    <a:pt x="486569" y="545542"/>
                    <a:pt x="353219" y="330912"/>
                    <a:pt x="306229" y="252172"/>
                  </a:cubicBezTo>
                  <a:cubicBezTo>
                    <a:pt x="280829" y="208992"/>
                    <a:pt x="251619" y="173432"/>
                    <a:pt x="252889" y="149302"/>
                  </a:cubicBezTo>
                  <a:cubicBezTo>
                    <a:pt x="254159" y="137872"/>
                    <a:pt x="264319" y="125172"/>
                    <a:pt x="271939" y="122632"/>
                  </a:cubicBezTo>
                  <a:cubicBezTo>
                    <a:pt x="279559" y="120092"/>
                    <a:pt x="299879" y="131522"/>
                    <a:pt x="299879" y="131522"/>
                  </a:cubicBezTo>
                </a:path>
              </a:pathLst>
            </a:custGeom>
            <a:solidFill>
              <a:srgbClr val="0571D3"/>
            </a:solidFill>
            <a:ln cap="sq">
              <a:noFill/>
              <a:prstDash val="solid"/>
              <a:miter/>
            </a:ln>
          </p:spPr>
        </p:sp>
      </p:grpSp>
      <p:grpSp>
        <p:nvGrpSpPr>
          <p:cNvPr name="Group 26" id="26"/>
          <p:cNvGrpSpPr/>
          <p:nvPr/>
        </p:nvGrpSpPr>
        <p:grpSpPr>
          <a:xfrm rot="0">
            <a:off x="4133850" y="7154228"/>
            <a:ext cx="132398" cy="441007"/>
            <a:chOff x="0" y="0"/>
            <a:chExt cx="176530" cy="588010"/>
          </a:xfrm>
        </p:grpSpPr>
        <p:sp>
          <p:nvSpPr>
            <p:cNvPr name="Freeform 27" id="27"/>
            <p:cNvSpPr/>
            <p:nvPr/>
          </p:nvSpPr>
          <p:spPr>
            <a:xfrm flipH="false" flipV="false" rot="0">
              <a:off x="36671" y="50693"/>
              <a:ext cx="89120" cy="485353"/>
            </a:xfrm>
            <a:custGeom>
              <a:avLst/>
              <a:gdLst/>
              <a:ahLst/>
              <a:cxnLst/>
              <a:rect r="r" b="b" t="t" l="l"/>
              <a:pathLst>
                <a:path h="485353" w="89120">
                  <a:moveTo>
                    <a:pt x="64929" y="25507"/>
                  </a:moveTo>
                  <a:cubicBezTo>
                    <a:pt x="59849" y="475087"/>
                    <a:pt x="50959" y="485247"/>
                    <a:pt x="43339" y="485247"/>
                  </a:cubicBezTo>
                  <a:cubicBezTo>
                    <a:pt x="34449" y="486517"/>
                    <a:pt x="21749" y="476357"/>
                    <a:pt x="14129" y="459847"/>
                  </a:cubicBezTo>
                  <a:cubicBezTo>
                    <a:pt x="-4921" y="416667"/>
                    <a:pt x="1429" y="223627"/>
                    <a:pt x="14129" y="155047"/>
                  </a:cubicBezTo>
                  <a:cubicBezTo>
                    <a:pt x="21749" y="118217"/>
                    <a:pt x="31909" y="85197"/>
                    <a:pt x="47149" y="73767"/>
                  </a:cubicBezTo>
                  <a:cubicBezTo>
                    <a:pt x="56039" y="67417"/>
                    <a:pt x="71279" y="68687"/>
                    <a:pt x="77629" y="72497"/>
                  </a:cubicBezTo>
                  <a:cubicBezTo>
                    <a:pt x="83979" y="75037"/>
                    <a:pt x="89059" y="86467"/>
                    <a:pt x="89059" y="92817"/>
                  </a:cubicBezTo>
                  <a:cubicBezTo>
                    <a:pt x="89059" y="100437"/>
                    <a:pt x="83979" y="110597"/>
                    <a:pt x="77629" y="114407"/>
                  </a:cubicBezTo>
                  <a:cubicBezTo>
                    <a:pt x="72549" y="118217"/>
                    <a:pt x="61119" y="119487"/>
                    <a:pt x="54769" y="116947"/>
                  </a:cubicBezTo>
                  <a:cubicBezTo>
                    <a:pt x="47149" y="113137"/>
                    <a:pt x="38259" y="99167"/>
                    <a:pt x="38259" y="90277"/>
                  </a:cubicBezTo>
                  <a:cubicBezTo>
                    <a:pt x="38259" y="83927"/>
                    <a:pt x="45879" y="73767"/>
                    <a:pt x="52229" y="71227"/>
                  </a:cubicBezTo>
                  <a:cubicBezTo>
                    <a:pt x="58579" y="67417"/>
                    <a:pt x="70009" y="67417"/>
                    <a:pt x="75089" y="71227"/>
                  </a:cubicBezTo>
                  <a:cubicBezTo>
                    <a:pt x="81439" y="73767"/>
                    <a:pt x="87789" y="81387"/>
                    <a:pt x="89059" y="90277"/>
                  </a:cubicBezTo>
                  <a:cubicBezTo>
                    <a:pt x="90329" y="105517"/>
                    <a:pt x="71279" y="124567"/>
                    <a:pt x="64929" y="155047"/>
                  </a:cubicBezTo>
                  <a:cubicBezTo>
                    <a:pt x="53499" y="218547"/>
                    <a:pt x="80169" y="426827"/>
                    <a:pt x="64929" y="466197"/>
                  </a:cubicBezTo>
                  <a:cubicBezTo>
                    <a:pt x="61119" y="477627"/>
                    <a:pt x="56039" y="481437"/>
                    <a:pt x="48419" y="483977"/>
                  </a:cubicBezTo>
                  <a:cubicBezTo>
                    <a:pt x="42069" y="486517"/>
                    <a:pt x="31909" y="485247"/>
                    <a:pt x="25559" y="481437"/>
                  </a:cubicBezTo>
                  <a:cubicBezTo>
                    <a:pt x="20479" y="477627"/>
                    <a:pt x="17939" y="472547"/>
                    <a:pt x="14129" y="459847"/>
                  </a:cubicBezTo>
                  <a:cubicBezTo>
                    <a:pt x="1429" y="409047"/>
                    <a:pt x="-10001" y="80117"/>
                    <a:pt x="14129" y="25507"/>
                  </a:cubicBezTo>
                  <a:cubicBezTo>
                    <a:pt x="21749" y="8997"/>
                    <a:pt x="34449" y="-1163"/>
                    <a:pt x="43339" y="107"/>
                  </a:cubicBezTo>
                  <a:cubicBezTo>
                    <a:pt x="50959" y="107"/>
                    <a:pt x="64929" y="25507"/>
                    <a:pt x="64929" y="25507"/>
                  </a:cubicBezTo>
                </a:path>
              </a:pathLst>
            </a:custGeom>
            <a:solidFill>
              <a:srgbClr val="0571D3"/>
            </a:solidFill>
            <a:ln cap="sq">
              <a:noFill/>
              <a:prstDash val="solid"/>
              <a:miter/>
            </a:ln>
          </p:spPr>
        </p:sp>
      </p:grpSp>
      <p:sp>
        <p:nvSpPr>
          <p:cNvPr name="AutoShape 28" id="28"/>
          <p:cNvSpPr/>
          <p:nvPr/>
        </p:nvSpPr>
        <p:spPr>
          <a:xfrm>
            <a:off x="6166899" y="7601405"/>
            <a:ext cx="884044" cy="69576"/>
          </a:xfrm>
          <a:prstGeom prst="line">
            <a:avLst/>
          </a:prstGeom>
          <a:ln cap="flat" w="19050">
            <a:solidFill>
              <a:srgbClr val="0571D3"/>
            </a:solidFill>
            <a:prstDash val="solid"/>
            <a:headEnd type="none" len="sm" w="sm"/>
            <a:tailEnd type="arrow" len="sm" w="med"/>
          </a:ln>
        </p:spPr>
      </p:sp>
      <p:grpSp>
        <p:nvGrpSpPr>
          <p:cNvPr name="Group 29" id="29"/>
          <p:cNvGrpSpPr/>
          <p:nvPr/>
        </p:nvGrpSpPr>
        <p:grpSpPr>
          <a:xfrm rot="0">
            <a:off x="8983980" y="7511415"/>
            <a:ext cx="1408748" cy="147638"/>
            <a:chOff x="0" y="0"/>
            <a:chExt cx="1878330" cy="196850"/>
          </a:xfrm>
        </p:grpSpPr>
        <p:sp>
          <p:nvSpPr>
            <p:cNvPr name="Freeform 30" id="30"/>
            <p:cNvSpPr/>
            <p:nvPr/>
          </p:nvSpPr>
          <p:spPr>
            <a:xfrm flipH="false" flipV="false" rot="0">
              <a:off x="50800" y="45426"/>
              <a:ext cx="1776730" cy="123669"/>
            </a:xfrm>
            <a:custGeom>
              <a:avLst/>
              <a:gdLst/>
              <a:ahLst/>
              <a:cxnLst/>
              <a:rect r="r" b="b" t="t" l="l"/>
              <a:pathLst>
                <a:path h="123669" w="1776730">
                  <a:moveTo>
                    <a:pt x="25400" y="49824"/>
                  </a:moveTo>
                  <a:cubicBezTo>
                    <a:pt x="1239520" y="42204"/>
                    <a:pt x="1292860" y="23154"/>
                    <a:pt x="1375410" y="15534"/>
                  </a:cubicBezTo>
                  <a:cubicBezTo>
                    <a:pt x="1455420" y="9184"/>
                    <a:pt x="1545590" y="6644"/>
                    <a:pt x="1614170" y="5374"/>
                  </a:cubicBezTo>
                  <a:cubicBezTo>
                    <a:pt x="1666240" y="4104"/>
                    <a:pt x="1724660" y="-6056"/>
                    <a:pt x="1751330" y="5374"/>
                  </a:cubicBezTo>
                  <a:cubicBezTo>
                    <a:pt x="1765300" y="11724"/>
                    <a:pt x="1776730" y="23154"/>
                    <a:pt x="1776730" y="32044"/>
                  </a:cubicBezTo>
                  <a:cubicBezTo>
                    <a:pt x="1776730" y="39664"/>
                    <a:pt x="1764030" y="53634"/>
                    <a:pt x="1756410" y="54904"/>
                  </a:cubicBezTo>
                  <a:cubicBezTo>
                    <a:pt x="1750060" y="57444"/>
                    <a:pt x="1738630" y="53634"/>
                    <a:pt x="1733550" y="48554"/>
                  </a:cubicBezTo>
                  <a:cubicBezTo>
                    <a:pt x="1728470" y="44744"/>
                    <a:pt x="1724660" y="33314"/>
                    <a:pt x="1725930" y="26964"/>
                  </a:cubicBezTo>
                  <a:cubicBezTo>
                    <a:pt x="1728470" y="19344"/>
                    <a:pt x="1739900" y="5374"/>
                    <a:pt x="1748790" y="5374"/>
                  </a:cubicBezTo>
                  <a:cubicBezTo>
                    <a:pt x="1757680" y="5374"/>
                    <a:pt x="1776730" y="20614"/>
                    <a:pt x="1776730" y="29504"/>
                  </a:cubicBezTo>
                  <a:cubicBezTo>
                    <a:pt x="1776730" y="37124"/>
                    <a:pt x="1766570" y="48554"/>
                    <a:pt x="1751330" y="56174"/>
                  </a:cubicBezTo>
                  <a:cubicBezTo>
                    <a:pt x="1701800" y="77764"/>
                    <a:pt x="1496060" y="57444"/>
                    <a:pt x="1384300" y="66334"/>
                  </a:cubicBezTo>
                  <a:cubicBezTo>
                    <a:pt x="1291590" y="73954"/>
                    <a:pt x="1243330" y="93004"/>
                    <a:pt x="1127760" y="100624"/>
                  </a:cubicBezTo>
                  <a:cubicBezTo>
                    <a:pt x="889000" y="115864"/>
                    <a:pt x="121920" y="143804"/>
                    <a:pt x="25400" y="100624"/>
                  </a:cubicBezTo>
                  <a:cubicBezTo>
                    <a:pt x="7620" y="91734"/>
                    <a:pt x="0" y="80304"/>
                    <a:pt x="0" y="71414"/>
                  </a:cubicBezTo>
                  <a:cubicBezTo>
                    <a:pt x="1270" y="63794"/>
                    <a:pt x="25400" y="49824"/>
                    <a:pt x="25400" y="49824"/>
                  </a:cubicBezTo>
                </a:path>
              </a:pathLst>
            </a:custGeom>
            <a:solidFill>
              <a:srgbClr val="0571D3"/>
            </a:solidFill>
            <a:ln cap="sq">
              <a:noFill/>
              <a:prstDash val="solid"/>
              <a:miter/>
            </a:ln>
          </p:spPr>
        </p:sp>
      </p:grpSp>
      <p:grpSp>
        <p:nvGrpSpPr>
          <p:cNvPr name="Group 31" id="31"/>
          <p:cNvGrpSpPr/>
          <p:nvPr/>
        </p:nvGrpSpPr>
        <p:grpSpPr>
          <a:xfrm rot="0">
            <a:off x="10209848" y="7478078"/>
            <a:ext cx="182880" cy="248603"/>
            <a:chOff x="0" y="0"/>
            <a:chExt cx="243840" cy="331470"/>
          </a:xfrm>
        </p:grpSpPr>
        <p:sp>
          <p:nvSpPr>
            <p:cNvPr name="Freeform 32" id="32"/>
            <p:cNvSpPr/>
            <p:nvPr/>
          </p:nvSpPr>
          <p:spPr>
            <a:xfrm flipH="false" flipV="false" rot="0">
              <a:off x="47875" y="50800"/>
              <a:ext cx="145411" cy="231538"/>
            </a:xfrm>
            <a:custGeom>
              <a:avLst/>
              <a:gdLst/>
              <a:ahLst/>
              <a:cxnLst/>
              <a:rect r="r" b="b" t="t" l="l"/>
              <a:pathLst>
                <a:path h="231538" w="145411">
                  <a:moveTo>
                    <a:pt x="52455" y="20320"/>
                  </a:moveTo>
                  <a:cubicBezTo>
                    <a:pt x="85475" y="151130"/>
                    <a:pt x="127385" y="171450"/>
                    <a:pt x="137545" y="187960"/>
                  </a:cubicBezTo>
                  <a:cubicBezTo>
                    <a:pt x="142625" y="196850"/>
                    <a:pt x="146435" y="204470"/>
                    <a:pt x="145165" y="210820"/>
                  </a:cubicBezTo>
                  <a:cubicBezTo>
                    <a:pt x="142625" y="217170"/>
                    <a:pt x="136275" y="226060"/>
                    <a:pt x="129925" y="229870"/>
                  </a:cubicBezTo>
                  <a:cubicBezTo>
                    <a:pt x="123575" y="232410"/>
                    <a:pt x="110875" y="232410"/>
                    <a:pt x="105795" y="227330"/>
                  </a:cubicBezTo>
                  <a:cubicBezTo>
                    <a:pt x="99445" y="220980"/>
                    <a:pt x="94365" y="198120"/>
                    <a:pt x="99445" y="190500"/>
                  </a:cubicBezTo>
                  <a:cubicBezTo>
                    <a:pt x="104525" y="184150"/>
                    <a:pt x="128655" y="181610"/>
                    <a:pt x="136275" y="186690"/>
                  </a:cubicBezTo>
                  <a:cubicBezTo>
                    <a:pt x="142625" y="190500"/>
                    <a:pt x="146435" y="209550"/>
                    <a:pt x="142625" y="215900"/>
                  </a:cubicBezTo>
                  <a:cubicBezTo>
                    <a:pt x="138815" y="223520"/>
                    <a:pt x="121035" y="231140"/>
                    <a:pt x="108335" y="228600"/>
                  </a:cubicBezTo>
                  <a:cubicBezTo>
                    <a:pt x="84205" y="222250"/>
                    <a:pt x="41025" y="172720"/>
                    <a:pt x="23245" y="137160"/>
                  </a:cubicBezTo>
                  <a:cubicBezTo>
                    <a:pt x="6735" y="102870"/>
                    <a:pt x="-5965" y="39370"/>
                    <a:pt x="2925" y="19050"/>
                  </a:cubicBezTo>
                  <a:cubicBezTo>
                    <a:pt x="8005" y="7620"/>
                    <a:pt x="23245" y="0"/>
                    <a:pt x="32135" y="0"/>
                  </a:cubicBezTo>
                  <a:cubicBezTo>
                    <a:pt x="39755" y="1270"/>
                    <a:pt x="52455" y="20320"/>
                    <a:pt x="52455" y="20320"/>
                  </a:cubicBezTo>
                </a:path>
              </a:pathLst>
            </a:custGeom>
            <a:solidFill>
              <a:srgbClr val="0571D3"/>
            </a:solidFill>
            <a:ln cap="sq">
              <a:noFill/>
              <a:prstDash val="solid"/>
              <a:miter/>
            </a:ln>
          </p:spPr>
        </p:sp>
      </p:grpSp>
      <p:grpSp>
        <p:nvGrpSpPr>
          <p:cNvPr name="Group 33" id="33"/>
          <p:cNvGrpSpPr/>
          <p:nvPr/>
        </p:nvGrpSpPr>
        <p:grpSpPr>
          <a:xfrm rot="0">
            <a:off x="8920162" y="8843010"/>
            <a:ext cx="111442" cy="108585"/>
            <a:chOff x="0" y="0"/>
            <a:chExt cx="148590" cy="144780"/>
          </a:xfrm>
        </p:grpSpPr>
        <p:sp>
          <p:nvSpPr>
            <p:cNvPr name="Freeform 34" id="34"/>
            <p:cNvSpPr/>
            <p:nvPr/>
          </p:nvSpPr>
          <p:spPr>
            <a:xfrm flipH="false" flipV="false" rot="0">
              <a:off x="49280" y="48830"/>
              <a:ext cx="48510" cy="40090"/>
            </a:xfrm>
            <a:custGeom>
              <a:avLst/>
              <a:gdLst/>
              <a:ahLst/>
              <a:cxnLst/>
              <a:rect r="r" b="b" t="t" l="l"/>
              <a:pathLst>
                <a:path h="40090" w="48510">
                  <a:moveTo>
                    <a:pt x="48510" y="14670"/>
                  </a:moveTo>
                  <a:cubicBezTo>
                    <a:pt x="26920" y="47690"/>
                    <a:pt x="6600" y="41340"/>
                    <a:pt x="1520" y="34990"/>
                  </a:cubicBezTo>
                  <a:cubicBezTo>
                    <a:pt x="-2290" y="27370"/>
                    <a:pt x="1520" y="7050"/>
                    <a:pt x="7870" y="1970"/>
                  </a:cubicBezTo>
                  <a:cubicBezTo>
                    <a:pt x="14220" y="-3110"/>
                    <a:pt x="42160" y="3240"/>
                    <a:pt x="42160" y="3240"/>
                  </a:cubicBezTo>
                </a:path>
              </a:pathLst>
            </a:custGeom>
            <a:solidFill>
              <a:srgbClr val="0571D3"/>
            </a:solidFill>
            <a:ln cap="sq">
              <a:noFill/>
              <a:prstDash val="solid"/>
              <a:miter/>
            </a:ln>
          </p:spPr>
        </p:sp>
      </p:grpSp>
      <p:sp>
        <p:nvSpPr>
          <p:cNvPr name="TextBox 35" id="35"/>
          <p:cNvSpPr txBox="true"/>
          <p:nvPr/>
        </p:nvSpPr>
        <p:spPr>
          <a:xfrm rot="0">
            <a:off x="6866285" y="4790034"/>
            <a:ext cx="4555431" cy="630732"/>
          </a:xfrm>
          <a:prstGeom prst="rect">
            <a:avLst/>
          </a:prstGeom>
        </p:spPr>
        <p:txBody>
          <a:bodyPr anchor="t" rtlCol="false" tIns="0" lIns="0" bIns="0" rIns="0">
            <a:spAutoFit/>
          </a:bodyPr>
          <a:lstStyle/>
          <a:p>
            <a:pPr algn="l">
              <a:lnSpc>
                <a:spcPts val="5128"/>
              </a:lnSpc>
              <a:spcBef>
                <a:spcPct val="0"/>
              </a:spcBef>
            </a:pPr>
            <a:r>
              <a:rPr lang="en-US" b="true" sz="3662">
                <a:solidFill>
                  <a:srgbClr val="000000"/>
                </a:solidFill>
                <a:latin typeface="Open Sauce Bold"/>
                <a:ea typeface="Open Sauce Bold"/>
                <a:cs typeface="Open Sauce Bold"/>
                <a:sym typeface="Open Sauce Bold"/>
              </a:rPr>
              <a:t>Your paragraph text</a:t>
            </a:r>
          </a:p>
        </p:txBody>
      </p:sp>
      <p:grpSp>
        <p:nvGrpSpPr>
          <p:cNvPr name="Group 36" id="36"/>
          <p:cNvGrpSpPr/>
          <p:nvPr/>
        </p:nvGrpSpPr>
        <p:grpSpPr>
          <a:xfrm rot="0">
            <a:off x="4879658" y="8238172"/>
            <a:ext cx="5321618" cy="1655445"/>
            <a:chOff x="0" y="0"/>
            <a:chExt cx="7095490" cy="2207260"/>
          </a:xfrm>
        </p:grpSpPr>
        <p:sp>
          <p:nvSpPr>
            <p:cNvPr name="Freeform 37" id="37"/>
            <p:cNvSpPr/>
            <p:nvPr/>
          </p:nvSpPr>
          <p:spPr>
            <a:xfrm flipH="false" flipV="false" rot="0">
              <a:off x="49352" y="50800"/>
              <a:ext cx="7007744" cy="2106463"/>
            </a:xfrm>
            <a:custGeom>
              <a:avLst/>
              <a:gdLst/>
              <a:ahLst/>
              <a:cxnLst/>
              <a:rect r="r" b="b" t="t" l="l"/>
              <a:pathLst>
                <a:path h="2106463" w="7007744">
                  <a:moveTo>
                    <a:pt x="153848" y="67310"/>
                  </a:moveTo>
                  <a:cubicBezTo>
                    <a:pt x="224968" y="601980"/>
                    <a:pt x="213538" y="654050"/>
                    <a:pt x="223698" y="740410"/>
                  </a:cubicBezTo>
                  <a:cubicBezTo>
                    <a:pt x="237668" y="857250"/>
                    <a:pt x="277038" y="1038860"/>
                    <a:pt x="311328" y="1150620"/>
                  </a:cubicBezTo>
                  <a:cubicBezTo>
                    <a:pt x="337998" y="1230630"/>
                    <a:pt x="365938" y="1295400"/>
                    <a:pt x="397688" y="1352550"/>
                  </a:cubicBezTo>
                  <a:cubicBezTo>
                    <a:pt x="421818" y="1397000"/>
                    <a:pt x="448488" y="1435100"/>
                    <a:pt x="477698" y="1466850"/>
                  </a:cubicBezTo>
                  <a:cubicBezTo>
                    <a:pt x="504368" y="1492250"/>
                    <a:pt x="523418" y="1507490"/>
                    <a:pt x="561518" y="1529080"/>
                  </a:cubicBezTo>
                  <a:cubicBezTo>
                    <a:pt x="627558" y="1567180"/>
                    <a:pt x="782498" y="1633220"/>
                    <a:pt x="851078" y="1653540"/>
                  </a:cubicBezTo>
                  <a:cubicBezTo>
                    <a:pt x="886638" y="1664970"/>
                    <a:pt x="891718" y="1666240"/>
                    <a:pt x="934898" y="1670050"/>
                  </a:cubicBezTo>
                  <a:cubicBezTo>
                    <a:pt x="1066978" y="1682750"/>
                    <a:pt x="1566088" y="1694180"/>
                    <a:pt x="1755318" y="1670050"/>
                  </a:cubicBezTo>
                  <a:cubicBezTo>
                    <a:pt x="1858188" y="1656080"/>
                    <a:pt x="1929308" y="1629410"/>
                    <a:pt x="1987728" y="1607820"/>
                  </a:cubicBezTo>
                  <a:cubicBezTo>
                    <a:pt x="2025828" y="1593850"/>
                    <a:pt x="2034718" y="1578610"/>
                    <a:pt x="2077898" y="1564640"/>
                  </a:cubicBezTo>
                  <a:cubicBezTo>
                    <a:pt x="2174418" y="1535430"/>
                    <a:pt x="2369998" y="1504950"/>
                    <a:pt x="2559228" y="1490980"/>
                  </a:cubicBezTo>
                  <a:cubicBezTo>
                    <a:pt x="2827198" y="1470660"/>
                    <a:pt x="3308528" y="1469390"/>
                    <a:pt x="3538398" y="1492250"/>
                  </a:cubicBezTo>
                  <a:cubicBezTo>
                    <a:pt x="3664128" y="1506220"/>
                    <a:pt x="3736518" y="1529080"/>
                    <a:pt x="3829228" y="1553210"/>
                  </a:cubicBezTo>
                  <a:cubicBezTo>
                    <a:pt x="3915588" y="1576070"/>
                    <a:pt x="3977818" y="1605280"/>
                    <a:pt x="4076878" y="1634490"/>
                  </a:cubicBezTo>
                  <a:cubicBezTo>
                    <a:pt x="4226738" y="1678940"/>
                    <a:pt x="4466768" y="1739900"/>
                    <a:pt x="4643298" y="1781810"/>
                  </a:cubicBezTo>
                  <a:cubicBezTo>
                    <a:pt x="4798238" y="1817370"/>
                    <a:pt x="4930318" y="1845310"/>
                    <a:pt x="5080178" y="1873250"/>
                  </a:cubicBezTo>
                  <a:cubicBezTo>
                    <a:pt x="5236388" y="1901190"/>
                    <a:pt x="5410378" y="1939290"/>
                    <a:pt x="5562778" y="1949450"/>
                  </a:cubicBezTo>
                  <a:cubicBezTo>
                    <a:pt x="5694858" y="1958340"/>
                    <a:pt x="5852338" y="1957070"/>
                    <a:pt x="5939968" y="1938020"/>
                  </a:cubicBezTo>
                  <a:cubicBezTo>
                    <a:pt x="5988228" y="1927860"/>
                    <a:pt x="6007278" y="1916430"/>
                    <a:pt x="6047918" y="1892300"/>
                  </a:cubicBezTo>
                  <a:cubicBezTo>
                    <a:pt x="6110148" y="1855470"/>
                    <a:pt x="6211748" y="1753870"/>
                    <a:pt x="6266358" y="1719580"/>
                  </a:cubicBezTo>
                  <a:cubicBezTo>
                    <a:pt x="6295568" y="1701800"/>
                    <a:pt x="6310808" y="1703070"/>
                    <a:pt x="6336208" y="1684020"/>
                  </a:cubicBezTo>
                  <a:cubicBezTo>
                    <a:pt x="6375578" y="1657350"/>
                    <a:pt x="6428918" y="1583690"/>
                    <a:pt x="6469558" y="1557020"/>
                  </a:cubicBezTo>
                  <a:cubicBezTo>
                    <a:pt x="6497498" y="1540510"/>
                    <a:pt x="6524168" y="1543050"/>
                    <a:pt x="6545758" y="1526540"/>
                  </a:cubicBezTo>
                  <a:cubicBezTo>
                    <a:pt x="6569888" y="1508760"/>
                    <a:pt x="6581318" y="1470660"/>
                    <a:pt x="6604178" y="1447800"/>
                  </a:cubicBezTo>
                  <a:cubicBezTo>
                    <a:pt x="6624498" y="1427480"/>
                    <a:pt x="6653708" y="1424940"/>
                    <a:pt x="6676568" y="1394460"/>
                  </a:cubicBezTo>
                  <a:cubicBezTo>
                    <a:pt x="6721018" y="1334770"/>
                    <a:pt x="6775628" y="1176020"/>
                    <a:pt x="6794678" y="1070610"/>
                  </a:cubicBezTo>
                  <a:cubicBezTo>
                    <a:pt x="6812458" y="976630"/>
                    <a:pt x="6790868" y="868680"/>
                    <a:pt x="6799758" y="797560"/>
                  </a:cubicBezTo>
                  <a:cubicBezTo>
                    <a:pt x="6804838" y="751840"/>
                    <a:pt x="6818808" y="737870"/>
                    <a:pt x="6825158" y="684530"/>
                  </a:cubicBezTo>
                  <a:cubicBezTo>
                    <a:pt x="6837858" y="572770"/>
                    <a:pt x="6798488" y="219710"/>
                    <a:pt x="6825158" y="140970"/>
                  </a:cubicBezTo>
                  <a:cubicBezTo>
                    <a:pt x="6834048" y="115570"/>
                    <a:pt x="6844208" y="106680"/>
                    <a:pt x="6859448" y="96520"/>
                  </a:cubicBezTo>
                  <a:cubicBezTo>
                    <a:pt x="6873418" y="86360"/>
                    <a:pt x="6895008" y="80010"/>
                    <a:pt x="6912788" y="81280"/>
                  </a:cubicBezTo>
                  <a:cubicBezTo>
                    <a:pt x="6930568" y="82550"/>
                    <a:pt x="6952158" y="90170"/>
                    <a:pt x="6966128" y="101600"/>
                  </a:cubicBezTo>
                  <a:cubicBezTo>
                    <a:pt x="6978828" y="113030"/>
                    <a:pt x="6990258" y="133350"/>
                    <a:pt x="6994068" y="149860"/>
                  </a:cubicBezTo>
                  <a:cubicBezTo>
                    <a:pt x="6997878" y="167640"/>
                    <a:pt x="6997878" y="189230"/>
                    <a:pt x="6988988" y="205740"/>
                  </a:cubicBezTo>
                  <a:cubicBezTo>
                    <a:pt x="6977558" y="226060"/>
                    <a:pt x="6947078" y="252730"/>
                    <a:pt x="6922948" y="256540"/>
                  </a:cubicBezTo>
                  <a:cubicBezTo>
                    <a:pt x="6898818" y="260350"/>
                    <a:pt x="6860718" y="247650"/>
                    <a:pt x="6844208" y="229870"/>
                  </a:cubicBezTo>
                  <a:cubicBezTo>
                    <a:pt x="6827698" y="212090"/>
                    <a:pt x="6820078" y="172720"/>
                    <a:pt x="6822618" y="149860"/>
                  </a:cubicBezTo>
                  <a:cubicBezTo>
                    <a:pt x="6825158" y="132080"/>
                    <a:pt x="6837858" y="113030"/>
                    <a:pt x="6851828" y="101600"/>
                  </a:cubicBezTo>
                  <a:cubicBezTo>
                    <a:pt x="6864528" y="90170"/>
                    <a:pt x="6886118" y="82550"/>
                    <a:pt x="6903898" y="81280"/>
                  </a:cubicBezTo>
                  <a:cubicBezTo>
                    <a:pt x="6921678" y="80010"/>
                    <a:pt x="6943268" y="86360"/>
                    <a:pt x="6958508" y="96520"/>
                  </a:cubicBezTo>
                  <a:cubicBezTo>
                    <a:pt x="6972478" y="106680"/>
                    <a:pt x="6983908" y="115570"/>
                    <a:pt x="6991528" y="140970"/>
                  </a:cubicBezTo>
                  <a:cubicBezTo>
                    <a:pt x="7018198" y="217170"/>
                    <a:pt x="7006768" y="543560"/>
                    <a:pt x="6994068" y="650240"/>
                  </a:cubicBezTo>
                  <a:cubicBezTo>
                    <a:pt x="6987718" y="699770"/>
                    <a:pt x="6973748" y="713740"/>
                    <a:pt x="6968668" y="758190"/>
                  </a:cubicBezTo>
                  <a:cubicBezTo>
                    <a:pt x="6959778" y="826770"/>
                    <a:pt x="6972478" y="955040"/>
                    <a:pt x="6966128" y="1023620"/>
                  </a:cubicBezTo>
                  <a:cubicBezTo>
                    <a:pt x="6962318" y="1069340"/>
                    <a:pt x="6962318" y="1089660"/>
                    <a:pt x="6949618" y="1136650"/>
                  </a:cubicBezTo>
                  <a:cubicBezTo>
                    <a:pt x="6922948" y="1226820"/>
                    <a:pt x="6849288" y="1422400"/>
                    <a:pt x="6784518" y="1512570"/>
                  </a:cubicBezTo>
                  <a:cubicBezTo>
                    <a:pt x="6740068" y="1577340"/>
                    <a:pt x="6682918" y="1620520"/>
                    <a:pt x="6634658" y="1652270"/>
                  </a:cubicBezTo>
                  <a:cubicBezTo>
                    <a:pt x="6599098" y="1676400"/>
                    <a:pt x="6560998" y="1678940"/>
                    <a:pt x="6531788" y="1700530"/>
                  </a:cubicBezTo>
                  <a:cubicBezTo>
                    <a:pt x="6505118" y="1720850"/>
                    <a:pt x="6489878" y="1752600"/>
                    <a:pt x="6463208" y="1775460"/>
                  </a:cubicBezTo>
                  <a:cubicBezTo>
                    <a:pt x="6433998" y="1798320"/>
                    <a:pt x="6402248" y="1807210"/>
                    <a:pt x="6361608" y="1835150"/>
                  </a:cubicBezTo>
                  <a:cubicBezTo>
                    <a:pt x="6295568" y="1880870"/>
                    <a:pt x="6187618" y="1991360"/>
                    <a:pt x="6112688" y="2035810"/>
                  </a:cubicBezTo>
                  <a:cubicBezTo>
                    <a:pt x="6060618" y="2066290"/>
                    <a:pt x="6019978" y="2081530"/>
                    <a:pt x="5969178" y="2092960"/>
                  </a:cubicBezTo>
                  <a:cubicBezTo>
                    <a:pt x="5917108" y="2105660"/>
                    <a:pt x="5867578" y="2104390"/>
                    <a:pt x="5806618" y="2105660"/>
                  </a:cubicBezTo>
                  <a:cubicBezTo>
                    <a:pt x="5730418" y="2106930"/>
                    <a:pt x="5640248" y="2108200"/>
                    <a:pt x="5546268" y="2096770"/>
                  </a:cubicBezTo>
                  <a:cubicBezTo>
                    <a:pt x="5430698" y="2084070"/>
                    <a:pt x="5298618" y="2044700"/>
                    <a:pt x="5165268" y="2020570"/>
                  </a:cubicBezTo>
                  <a:cubicBezTo>
                    <a:pt x="5021758" y="1995170"/>
                    <a:pt x="4866818" y="1983740"/>
                    <a:pt x="4714418" y="1951990"/>
                  </a:cubicBezTo>
                  <a:cubicBezTo>
                    <a:pt x="4554398" y="1918970"/>
                    <a:pt x="4353738" y="1851660"/>
                    <a:pt x="4226738" y="1822450"/>
                  </a:cubicBezTo>
                  <a:cubicBezTo>
                    <a:pt x="4147998" y="1804670"/>
                    <a:pt x="4102278" y="1802130"/>
                    <a:pt x="4032428" y="1785620"/>
                  </a:cubicBezTo>
                  <a:cubicBezTo>
                    <a:pt x="3946068" y="1764030"/>
                    <a:pt x="3825418" y="1714500"/>
                    <a:pt x="3749218" y="1697990"/>
                  </a:cubicBezTo>
                  <a:cubicBezTo>
                    <a:pt x="3698418" y="1687830"/>
                    <a:pt x="3659048" y="1691640"/>
                    <a:pt x="3620948" y="1684020"/>
                  </a:cubicBezTo>
                  <a:cubicBezTo>
                    <a:pt x="3590468" y="1676400"/>
                    <a:pt x="3581578" y="1663700"/>
                    <a:pt x="3537128" y="1657350"/>
                  </a:cubicBezTo>
                  <a:cubicBezTo>
                    <a:pt x="3385998" y="1634490"/>
                    <a:pt x="2747188" y="1639570"/>
                    <a:pt x="2507158" y="1666240"/>
                  </a:cubicBezTo>
                  <a:cubicBezTo>
                    <a:pt x="2376348" y="1680210"/>
                    <a:pt x="2274748" y="1724660"/>
                    <a:pt x="2206168" y="1729740"/>
                  </a:cubicBezTo>
                  <a:cubicBezTo>
                    <a:pt x="2173148" y="1732280"/>
                    <a:pt x="2157908" y="1720850"/>
                    <a:pt x="2129968" y="1725930"/>
                  </a:cubicBezTo>
                  <a:cubicBezTo>
                    <a:pt x="2093138" y="1732280"/>
                    <a:pt x="2058848" y="1761490"/>
                    <a:pt x="2010588" y="1778000"/>
                  </a:cubicBezTo>
                  <a:cubicBezTo>
                    <a:pt x="1943278" y="1802130"/>
                    <a:pt x="1869618" y="1827530"/>
                    <a:pt x="1761668" y="1840230"/>
                  </a:cubicBezTo>
                  <a:cubicBezTo>
                    <a:pt x="1569898" y="1864360"/>
                    <a:pt x="1146988" y="1861820"/>
                    <a:pt x="952678" y="1836420"/>
                  </a:cubicBezTo>
                  <a:cubicBezTo>
                    <a:pt x="839648" y="1821180"/>
                    <a:pt x="776148" y="1800860"/>
                    <a:pt x="689788" y="1766570"/>
                  </a:cubicBezTo>
                  <a:cubicBezTo>
                    <a:pt x="597078" y="1729740"/>
                    <a:pt x="475158" y="1662430"/>
                    <a:pt x="416738" y="1620520"/>
                  </a:cubicBezTo>
                  <a:cubicBezTo>
                    <a:pt x="384988" y="1597660"/>
                    <a:pt x="371018" y="1582420"/>
                    <a:pt x="350698" y="1558290"/>
                  </a:cubicBezTo>
                  <a:cubicBezTo>
                    <a:pt x="327838" y="1532890"/>
                    <a:pt x="306248" y="1502410"/>
                    <a:pt x="287198" y="1469390"/>
                  </a:cubicBezTo>
                  <a:cubicBezTo>
                    <a:pt x="264338" y="1431290"/>
                    <a:pt x="246558" y="1393190"/>
                    <a:pt x="223698" y="1344930"/>
                  </a:cubicBezTo>
                  <a:cubicBezTo>
                    <a:pt x="194488" y="1278890"/>
                    <a:pt x="155118" y="1200150"/>
                    <a:pt x="129718" y="1107440"/>
                  </a:cubicBezTo>
                  <a:cubicBezTo>
                    <a:pt x="97968" y="989330"/>
                    <a:pt x="78918" y="805180"/>
                    <a:pt x="67488" y="688340"/>
                  </a:cubicBezTo>
                  <a:cubicBezTo>
                    <a:pt x="59868" y="603250"/>
                    <a:pt x="67488" y="551180"/>
                    <a:pt x="59868" y="467360"/>
                  </a:cubicBezTo>
                  <a:cubicBezTo>
                    <a:pt x="49708" y="353060"/>
                    <a:pt x="-9982" y="137160"/>
                    <a:pt x="1448" y="68580"/>
                  </a:cubicBezTo>
                  <a:cubicBezTo>
                    <a:pt x="5258" y="44450"/>
                    <a:pt x="14148" y="31750"/>
                    <a:pt x="26848" y="20320"/>
                  </a:cubicBezTo>
                  <a:cubicBezTo>
                    <a:pt x="38278" y="8890"/>
                    <a:pt x="59868" y="0"/>
                    <a:pt x="76378" y="0"/>
                  </a:cubicBezTo>
                  <a:cubicBezTo>
                    <a:pt x="94158" y="0"/>
                    <a:pt x="115748" y="7620"/>
                    <a:pt x="128448" y="19050"/>
                  </a:cubicBezTo>
                  <a:cubicBezTo>
                    <a:pt x="141148" y="30480"/>
                    <a:pt x="153848" y="67310"/>
                    <a:pt x="153848" y="67310"/>
                  </a:cubicBezTo>
                </a:path>
              </a:pathLst>
            </a:custGeom>
            <a:solidFill>
              <a:srgbClr val="E7191F"/>
            </a:solidFill>
            <a:ln cap="sq">
              <a:noFill/>
              <a:prstDash val="solid"/>
              <a:miter/>
            </a:ln>
          </p:spPr>
        </p:sp>
      </p:grpSp>
      <p:grpSp>
        <p:nvGrpSpPr>
          <p:cNvPr name="Group 38" id="38"/>
          <p:cNvGrpSpPr/>
          <p:nvPr/>
        </p:nvGrpSpPr>
        <p:grpSpPr>
          <a:xfrm rot="0">
            <a:off x="9951720" y="8255318"/>
            <a:ext cx="533400" cy="205740"/>
            <a:chOff x="0" y="0"/>
            <a:chExt cx="711200" cy="274320"/>
          </a:xfrm>
        </p:grpSpPr>
        <p:sp>
          <p:nvSpPr>
            <p:cNvPr name="Freeform 39" id="39"/>
            <p:cNvSpPr/>
            <p:nvPr/>
          </p:nvSpPr>
          <p:spPr>
            <a:xfrm flipH="false" flipV="false" rot="0">
              <a:off x="49866" y="44967"/>
              <a:ext cx="610534" cy="190479"/>
            </a:xfrm>
            <a:custGeom>
              <a:avLst/>
              <a:gdLst/>
              <a:ahLst/>
              <a:cxnLst/>
              <a:rect r="r" b="b" t="t" l="l"/>
              <a:pathLst>
                <a:path h="190479" w="610534">
                  <a:moveTo>
                    <a:pt x="65704" y="27423"/>
                  </a:moveTo>
                  <a:cubicBezTo>
                    <a:pt x="313354" y="5833"/>
                    <a:pt x="498774" y="-10677"/>
                    <a:pt x="555924" y="8373"/>
                  </a:cubicBezTo>
                  <a:cubicBezTo>
                    <a:pt x="577514" y="15993"/>
                    <a:pt x="587674" y="26153"/>
                    <a:pt x="596564" y="38853"/>
                  </a:cubicBezTo>
                  <a:cubicBezTo>
                    <a:pt x="605454" y="52823"/>
                    <a:pt x="610534" y="71873"/>
                    <a:pt x="610534" y="88383"/>
                  </a:cubicBezTo>
                  <a:cubicBezTo>
                    <a:pt x="609264" y="104893"/>
                    <a:pt x="601644" y="123943"/>
                    <a:pt x="591484" y="135373"/>
                  </a:cubicBezTo>
                  <a:cubicBezTo>
                    <a:pt x="580054" y="148073"/>
                    <a:pt x="564814" y="159503"/>
                    <a:pt x="547034" y="162043"/>
                  </a:cubicBezTo>
                  <a:cubicBezTo>
                    <a:pt x="526714" y="164583"/>
                    <a:pt x="491154" y="156963"/>
                    <a:pt x="474644" y="141723"/>
                  </a:cubicBezTo>
                  <a:cubicBezTo>
                    <a:pt x="458134" y="127753"/>
                    <a:pt x="449244" y="92193"/>
                    <a:pt x="450514" y="70603"/>
                  </a:cubicBezTo>
                  <a:cubicBezTo>
                    <a:pt x="451784" y="54093"/>
                    <a:pt x="461944" y="36313"/>
                    <a:pt x="474644" y="26153"/>
                  </a:cubicBezTo>
                  <a:cubicBezTo>
                    <a:pt x="491154" y="13453"/>
                    <a:pt x="526714" y="3293"/>
                    <a:pt x="547034" y="5833"/>
                  </a:cubicBezTo>
                  <a:cubicBezTo>
                    <a:pt x="563544" y="8373"/>
                    <a:pt x="580054" y="19803"/>
                    <a:pt x="591484" y="32503"/>
                  </a:cubicBezTo>
                  <a:cubicBezTo>
                    <a:pt x="601644" y="43933"/>
                    <a:pt x="609264" y="62983"/>
                    <a:pt x="610534" y="79493"/>
                  </a:cubicBezTo>
                  <a:cubicBezTo>
                    <a:pt x="610534" y="96003"/>
                    <a:pt x="606724" y="115053"/>
                    <a:pt x="596564" y="129023"/>
                  </a:cubicBezTo>
                  <a:cubicBezTo>
                    <a:pt x="583864" y="145533"/>
                    <a:pt x="563544" y="155693"/>
                    <a:pt x="530524" y="164583"/>
                  </a:cubicBezTo>
                  <a:cubicBezTo>
                    <a:pt x="444164" y="186173"/>
                    <a:pt x="122854" y="202683"/>
                    <a:pt x="51734" y="178553"/>
                  </a:cubicBezTo>
                  <a:cubicBezTo>
                    <a:pt x="27604" y="169663"/>
                    <a:pt x="17444" y="158233"/>
                    <a:pt x="9824" y="142993"/>
                  </a:cubicBezTo>
                  <a:cubicBezTo>
                    <a:pt x="934" y="127753"/>
                    <a:pt x="-1606" y="103623"/>
                    <a:pt x="934" y="88383"/>
                  </a:cubicBezTo>
                  <a:cubicBezTo>
                    <a:pt x="3474" y="75683"/>
                    <a:pt x="8554" y="64253"/>
                    <a:pt x="17444" y="54093"/>
                  </a:cubicBezTo>
                  <a:cubicBezTo>
                    <a:pt x="28874" y="42663"/>
                    <a:pt x="65704" y="27423"/>
                    <a:pt x="65704" y="27423"/>
                  </a:cubicBezTo>
                </a:path>
              </a:pathLst>
            </a:custGeom>
            <a:solidFill>
              <a:srgbClr val="E7191F"/>
            </a:solidFill>
            <a:ln cap="sq">
              <a:noFill/>
              <a:prstDash val="solid"/>
              <a:miter/>
            </a:ln>
          </p:spPr>
        </p:sp>
      </p:grpSp>
      <p:grpSp>
        <p:nvGrpSpPr>
          <p:cNvPr name="Group 40" id="40"/>
          <p:cNvGrpSpPr/>
          <p:nvPr/>
        </p:nvGrpSpPr>
        <p:grpSpPr>
          <a:xfrm rot="0">
            <a:off x="10240328" y="8258175"/>
            <a:ext cx="188595" cy="184785"/>
            <a:chOff x="0" y="0"/>
            <a:chExt cx="251460" cy="246380"/>
          </a:xfrm>
        </p:grpSpPr>
        <p:sp>
          <p:nvSpPr>
            <p:cNvPr name="Freeform 41" id="41"/>
            <p:cNvSpPr/>
            <p:nvPr/>
          </p:nvSpPr>
          <p:spPr>
            <a:xfrm flipH="false" flipV="false" rot="0">
              <a:off x="50637" y="50746"/>
              <a:ext cx="148753" cy="147163"/>
            </a:xfrm>
            <a:custGeom>
              <a:avLst/>
              <a:gdLst/>
              <a:ahLst/>
              <a:cxnLst/>
              <a:rect r="r" b="b" t="t" l="l"/>
              <a:pathLst>
                <a:path h="147163" w="148753">
                  <a:moveTo>
                    <a:pt x="148753" y="52124"/>
                  </a:moveTo>
                  <a:cubicBezTo>
                    <a:pt x="129703" y="133404"/>
                    <a:pt x="119543" y="139754"/>
                    <a:pt x="108113" y="143564"/>
                  </a:cubicBezTo>
                  <a:cubicBezTo>
                    <a:pt x="90333" y="149914"/>
                    <a:pt x="53503" y="147374"/>
                    <a:pt x="36993" y="139754"/>
                  </a:cubicBezTo>
                  <a:cubicBezTo>
                    <a:pt x="24293" y="134674"/>
                    <a:pt x="16673" y="124514"/>
                    <a:pt x="11593" y="114354"/>
                  </a:cubicBezTo>
                  <a:cubicBezTo>
                    <a:pt x="5243" y="104194"/>
                    <a:pt x="-1107" y="92764"/>
                    <a:pt x="163" y="78794"/>
                  </a:cubicBezTo>
                  <a:cubicBezTo>
                    <a:pt x="1433" y="61014"/>
                    <a:pt x="16673" y="27994"/>
                    <a:pt x="29373" y="14024"/>
                  </a:cubicBezTo>
                  <a:cubicBezTo>
                    <a:pt x="38263" y="5134"/>
                    <a:pt x="49693" y="54"/>
                    <a:pt x="62393" y="54"/>
                  </a:cubicBezTo>
                  <a:cubicBezTo>
                    <a:pt x="81443" y="-1216"/>
                    <a:pt x="129703" y="20374"/>
                    <a:pt x="129703" y="20374"/>
                  </a:cubicBezTo>
                </a:path>
              </a:pathLst>
            </a:custGeom>
            <a:solidFill>
              <a:srgbClr val="E7191F"/>
            </a:solidFill>
            <a:ln cap="sq">
              <a:noFill/>
              <a:prstDash val="solid"/>
              <a:miter/>
            </a:ln>
          </p:spPr>
        </p:sp>
      </p:grpSp>
      <p:grpSp>
        <p:nvGrpSpPr>
          <p:cNvPr name="Group 42" id="42"/>
          <p:cNvGrpSpPr/>
          <p:nvPr/>
        </p:nvGrpSpPr>
        <p:grpSpPr>
          <a:xfrm rot="0">
            <a:off x="2826067" y="6318885"/>
            <a:ext cx="4554855" cy="661035"/>
            <a:chOff x="0" y="0"/>
            <a:chExt cx="6073140" cy="881380"/>
          </a:xfrm>
        </p:grpSpPr>
        <p:sp>
          <p:nvSpPr>
            <p:cNvPr name="Freeform 43" id="43"/>
            <p:cNvSpPr/>
            <p:nvPr/>
          </p:nvSpPr>
          <p:spPr>
            <a:xfrm flipH="false" flipV="false" rot="0">
              <a:off x="50800" y="39543"/>
              <a:ext cx="5971267" cy="790257"/>
            </a:xfrm>
            <a:custGeom>
              <a:avLst/>
              <a:gdLst/>
              <a:ahLst/>
              <a:cxnLst/>
              <a:rect r="r" b="b" t="t" l="l"/>
              <a:pathLst>
                <a:path h="790257" w="5971267">
                  <a:moveTo>
                    <a:pt x="0" y="756747"/>
                  </a:moveTo>
                  <a:cubicBezTo>
                    <a:pt x="30480" y="623397"/>
                    <a:pt x="63500" y="568787"/>
                    <a:pt x="76200" y="519257"/>
                  </a:cubicBezTo>
                  <a:cubicBezTo>
                    <a:pt x="87630" y="472267"/>
                    <a:pt x="73660" y="425277"/>
                    <a:pt x="90170" y="377017"/>
                  </a:cubicBezTo>
                  <a:cubicBezTo>
                    <a:pt x="107950" y="318597"/>
                    <a:pt x="168910" y="229697"/>
                    <a:pt x="194310" y="197947"/>
                  </a:cubicBezTo>
                  <a:cubicBezTo>
                    <a:pt x="204470" y="183977"/>
                    <a:pt x="204470" y="181437"/>
                    <a:pt x="219710" y="171277"/>
                  </a:cubicBezTo>
                  <a:cubicBezTo>
                    <a:pt x="261620" y="145877"/>
                    <a:pt x="421640" y="97617"/>
                    <a:pt x="505460" y="76027"/>
                  </a:cubicBezTo>
                  <a:cubicBezTo>
                    <a:pt x="568960" y="58247"/>
                    <a:pt x="593090" y="49357"/>
                    <a:pt x="678180" y="40467"/>
                  </a:cubicBezTo>
                  <a:cubicBezTo>
                    <a:pt x="901700" y="17607"/>
                    <a:pt x="1750060" y="55707"/>
                    <a:pt x="1915160" y="35387"/>
                  </a:cubicBezTo>
                  <a:cubicBezTo>
                    <a:pt x="1957070" y="30307"/>
                    <a:pt x="1962150" y="20147"/>
                    <a:pt x="1992630" y="16337"/>
                  </a:cubicBezTo>
                  <a:cubicBezTo>
                    <a:pt x="2034540" y="9987"/>
                    <a:pt x="2067560" y="13797"/>
                    <a:pt x="2147570" y="12527"/>
                  </a:cubicBezTo>
                  <a:cubicBezTo>
                    <a:pt x="2418080" y="8717"/>
                    <a:pt x="3441700" y="-12873"/>
                    <a:pt x="3928110" y="11257"/>
                  </a:cubicBezTo>
                  <a:cubicBezTo>
                    <a:pt x="4267200" y="29037"/>
                    <a:pt x="4542790" y="86187"/>
                    <a:pt x="4789170" y="98887"/>
                  </a:cubicBezTo>
                  <a:cubicBezTo>
                    <a:pt x="4974590" y="109047"/>
                    <a:pt x="5163820" y="97617"/>
                    <a:pt x="5276850" y="103967"/>
                  </a:cubicBezTo>
                  <a:cubicBezTo>
                    <a:pt x="5337810" y="106507"/>
                    <a:pt x="5363210" y="110317"/>
                    <a:pt x="5415280" y="117937"/>
                  </a:cubicBezTo>
                  <a:cubicBezTo>
                    <a:pt x="5482590" y="126827"/>
                    <a:pt x="5570220" y="139527"/>
                    <a:pt x="5646420" y="156037"/>
                  </a:cubicBezTo>
                  <a:cubicBezTo>
                    <a:pt x="5721350" y="173817"/>
                    <a:pt x="5812790" y="195407"/>
                    <a:pt x="5869940" y="219537"/>
                  </a:cubicBezTo>
                  <a:cubicBezTo>
                    <a:pt x="5910580" y="236047"/>
                    <a:pt x="5958840" y="255097"/>
                    <a:pt x="5966460" y="275417"/>
                  </a:cubicBezTo>
                  <a:cubicBezTo>
                    <a:pt x="5971540" y="286847"/>
                    <a:pt x="5965190" y="305897"/>
                    <a:pt x="5958840" y="310977"/>
                  </a:cubicBezTo>
                  <a:cubicBezTo>
                    <a:pt x="5952490" y="316057"/>
                    <a:pt x="5934710" y="312247"/>
                    <a:pt x="5928360" y="307167"/>
                  </a:cubicBezTo>
                  <a:cubicBezTo>
                    <a:pt x="5922010" y="302087"/>
                    <a:pt x="5919470" y="291927"/>
                    <a:pt x="5920740" y="284307"/>
                  </a:cubicBezTo>
                  <a:cubicBezTo>
                    <a:pt x="5923280" y="276687"/>
                    <a:pt x="5934710" y="265257"/>
                    <a:pt x="5943600" y="263987"/>
                  </a:cubicBezTo>
                  <a:cubicBezTo>
                    <a:pt x="5949950" y="262717"/>
                    <a:pt x="5961380" y="267797"/>
                    <a:pt x="5965190" y="272877"/>
                  </a:cubicBezTo>
                  <a:cubicBezTo>
                    <a:pt x="5970270" y="277957"/>
                    <a:pt x="5972810" y="289387"/>
                    <a:pt x="5970270" y="295737"/>
                  </a:cubicBezTo>
                  <a:cubicBezTo>
                    <a:pt x="5966460" y="304627"/>
                    <a:pt x="5949950" y="313517"/>
                    <a:pt x="5937250" y="313517"/>
                  </a:cubicBezTo>
                  <a:cubicBezTo>
                    <a:pt x="5915660" y="312247"/>
                    <a:pt x="5892800" y="277957"/>
                    <a:pt x="5852160" y="261447"/>
                  </a:cubicBezTo>
                  <a:cubicBezTo>
                    <a:pt x="5763260" y="227157"/>
                    <a:pt x="5515610" y="183977"/>
                    <a:pt x="5410200" y="167467"/>
                  </a:cubicBezTo>
                  <a:cubicBezTo>
                    <a:pt x="5353050" y="158577"/>
                    <a:pt x="5335270" y="157307"/>
                    <a:pt x="5276850" y="154767"/>
                  </a:cubicBezTo>
                  <a:cubicBezTo>
                    <a:pt x="5165090" y="148417"/>
                    <a:pt x="4970780" y="159847"/>
                    <a:pt x="4784090" y="149687"/>
                  </a:cubicBezTo>
                  <a:cubicBezTo>
                    <a:pt x="4537710" y="135717"/>
                    <a:pt x="4265930" y="79837"/>
                    <a:pt x="3928110" y="62057"/>
                  </a:cubicBezTo>
                  <a:cubicBezTo>
                    <a:pt x="3442970" y="37927"/>
                    <a:pt x="2413000" y="59517"/>
                    <a:pt x="2147570" y="63327"/>
                  </a:cubicBezTo>
                  <a:cubicBezTo>
                    <a:pt x="2071370" y="63327"/>
                    <a:pt x="2043430" y="60787"/>
                    <a:pt x="2000250" y="65867"/>
                  </a:cubicBezTo>
                  <a:cubicBezTo>
                    <a:pt x="1968500" y="70947"/>
                    <a:pt x="1960880" y="81107"/>
                    <a:pt x="1915160" y="86187"/>
                  </a:cubicBezTo>
                  <a:cubicBezTo>
                    <a:pt x="1748790" y="105237"/>
                    <a:pt x="969010" y="69677"/>
                    <a:pt x="736600" y="88727"/>
                  </a:cubicBezTo>
                  <a:cubicBezTo>
                    <a:pt x="637540" y="96347"/>
                    <a:pt x="590550" y="103967"/>
                    <a:pt x="527050" y="121747"/>
                  </a:cubicBezTo>
                  <a:cubicBezTo>
                    <a:pt x="469900" y="136987"/>
                    <a:pt x="417830" y="167467"/>
                    <a:pt x="368300" y="182707"/>
                  </a:cubicBezTo>
                  <a:cubicBezTo>
                    <a:pt x="327660" y="195407"/>
                    <a:pt x="280670" y="191597"/>
                    <a:pt x="251460" y="209377"/>
                  </a:cubicBezTo>
                  <a:cubicBezTo>
                    <a:pt x="228600" y="223347"/>
                    <a:pt x="218440" y="243667"/>
                    <a:pt x="201930" y="266527"/>
                  </a:cubicBezTo>
                  <a:cubicBezTo>
                    <a:pt x="181610" y="297007"/>
                    <a:pt x="153670" y="337647"/>
                    <a:pt x="139700" y="379557"/>
                  </a:cubicBezTo>
                  <a:cubicBezTo>
                    <a:pt x="125730" y="427817"/>
                    <a:pt x="134620" y="490047"/>
                    <a:pt x="121920" y="539577"/>
                  </a:cubicBezTo>
                  <a:cubicBezTo>
                    <a:pt x="110490" y="586567"/>
                    <a:pt x="81280" y="631017"/>
                    <a:pt x="68580" y="672927"/>
                  </a:cubicBezTo>
                  <a:cubicBezTo>
                    <a:pt x="57150" y="708487"/>
                    <a:pt x="60960" y="755477"/>
                    <a:pt x="46990" y="773257"/>
                  </a:cubicBezTo>
                  <a:cubicBezTo>
                    <a:pt x="39370" y="784687"/>
                    <a:pt x="26670" y="792307"/>
                    <a:pt x="17780" y="789767"/>
                  </a:cubicBezTo>
                  <a:cubicBezTo>
                    <a:pt x="10160" y="788497"/>
                    <a:pt x="0" y="756747"/>
                    <a:pt x="0" y="756747"/>
                  </a:cubicBezTo>
                </a:path>
              </a:pathLst>
            </a:custGeom>
            <a:solidFill>
              <a:srgbClr val="0571D3"/>
            </a:solidFill>
            <a:ln cap="sq">
              <a:noFill/>
              <a:prstDash val="solid"/>
              <a:miter/>
            </a:ln>
          </p:spPr>
        </p:sp>
      </p:grpSp>
      <p:grpSp>
        <p:nvGrpSpPr>
          <p:cNvPr name="Group 44" id="44"/>
          <p:cNvGrpSpPr/>
          <p:nvPr/>
        </p:nvGrpSpPr>
        <p:grpSpPr>
          <a:xfrm rot="0">
            <a:off x="7146607" y="6541770"/>
            <a:ext cx="132398" cy="421005"/>
            <a:chOff x="0" y="0"/>
            <a:chExt cx="176530" cy="561340"/>
          </a:xfrm>
        </p:grpSpPr>
        <p:sp>
          <p:nvSpPr>
            <p:cNvPr name="Freeform 45" id="45"/>
            <p:cNvSpPr/>
            <p:nvPr/>
          </p:nvSpPr>
          <p:spPr>
            <a:xfrm flipH="false" flipV="false" rot="0">
              <a:off x="48929" y="50735"/>
              <a:ext cx="82008" cy="458535"/>
            </a:xfrm>
            <a:custGeom>
              <a:avLst/>
              <a:gdLst/>
              <a:ahLst/>
              <a:cxnLst/>
              <a:rect r="r" b="b" t="t" l="l"/>
              <a:pathLst>
                <a:path h="458535" w="82008">
                  <a:moveTo>
                    <a:pt x="51401" y="16575"/>
                  </a:moveTo>
                  <a:cubicBezTo>
                    <a:pt x="80611" y="232475"/>
                    <a:pt x="89501" y="391225"/>
                    <a:pt x="75531" y="433135"/>
                  </a:cubicBezTo>
                  <a:cubicBezTo>
                    <a:pt x="71721" y="447105"/>
                    <a:pt x="65371" y="454725"/>
                    <a:pt x="57751" y="457265"/>
                  </a:cubicBezTo>
                  <a:cubicBezTo>
                    <a:pt x="51401" y="459805"/>
                    <a:pt x="38701" y="457265"/>
                    <a:pt x="33621" y="452185"/>
                  </a:cubicBezTo>
                  <a:cubicBezTo>
                    <a:pt x="28541" y="447105"/>
                    <a:pt x="24731" y="430595"/>
                    <a:pt x="27271" y="422975"/>
                  </a:cubicBezTo>
                  <a:cubicBezTo>
                    <a:pt x="29811" y="415355"/>
                    <a:pt x="39971" y="409005"/>
                    <a:pt x="46321" y="407735"/>
                  </a:cubicBezTo>
                  <a:cubicBezTo>
                    <a:pt x="55211" y="407735"/>
                    <a:pt x="69181" y="415355"/>
                    <a:pt x="74261" y="422975"/>
                  </a:cubicBezTo>
                  <a:cubicBezTo>
                    <a:pt x="76801" y="429325"/>
                    <a:pt x="75531" y="440755"/>
                    <a:pt x="72991" y="445835"/>
                  </a:cubicBezTo>
                  <a:cubicBezTo>
                    <a:pt x="69181" y="452185"/>
                    <a:pt x="59021" y="458535"/>
                    <a:pt x="52671" y="458535"/>
                  </a:cubicBezTo>
                  <a:cubicBezTo>
                    <a:pt x="43781" y="458535"/>
                    <a:pt x="33621" y="453455"/>
                    <a:pt x="26001" y="442025"/>
                  </a:cubicBezTo>
                  <a:cubicBezTo>
                    <a:pt x="6951" y="405195"/>
                    <a:pt x="29811" y="236285"/>
                    <a:pt x="23461" y="158815"/>
                  </a:cubicBezTo>
                  <a:cubicBezTo>
                    <a:pt x="18381" y="104205"/>
                    <a:pt x="-7019" y="45785"/>
                    <a:pt x="1871" y="21655"/>
                  </a:cubicBezTo>
                  <a:cubicBezTo>
                    <a:pt x="6951" y="8955"/>
                    <a:pt x="19651" y="65"/>
                    <a:pt x="27271" y="65"/>
                  </a:cubicBezTo>
                  <a:cubicBezTo>
                    <a:pt x="34891" y="-1205"/>
                    <a:pt x="51401" y="16575"/>
                    <a:pt x="51401" y="16575"/>
                  </a:cubicBezTo>
                </a:path>
              </a:pathLst>
            </a:custGeom>
            <a:solidFill>
              <a:srgbClr val="0571D3"/>
            </a:solidFill>
            <a:ln cap="sq">
              <a:noFill/>
              <a:prstDash val="solid"/>
              <a:miter/>
            </a:ln>
          </p:spPr>
        </p:sp>
      </p:grpSp>
      <p:grpSp>
        <p:nvGrpSpPr>
          <p:cNvPr name="Group 46" id="46"/>
          <p:cNvGrpSpPr/>
          <p:nvPr/>
        </p:nvGrpSpPr>
        <p:grpSpPr>
          <a:xfrm rot="0">
            <a:off x="6997065" y="6524625"/>
            <a:ext cx="670560" cy="465772"/>
            <a:chOff x="0" y="0"/>
            <a:chExt cx="894080" cy="621030"/>
          </a:xfrm>
        </p:grpSpPr>
        <p:sp>
          <p:nvSpPr>
            <p:cNvPr name="Freeform 47" id="47"/>
            <p:cNvSpPr/>
            <p:nvPr/>
          </p:nvSpPr>
          <p:spPr>
            <a:xfrm flipH="false" flipV="false" rot="0">
              <a:off x="48031" y="49488"/>
              <a:ext cx="794890" cy="523543"/>
            </a:xfrm>
            <a:custGeom>
              <a:avLst/>
              <a:gdLst/>
              <a:ahLst/>
              <a:cxnLst/>
              <a:rect r="r" b="b" t="t" l="l"/>
              <a:pathLst>
                <a:path h="523543" w="794890">
                  <a:moveTo>
                    <a:pt x="34519" y="410252"/>
                  </a:moveTo>
                  <a:cubicBezTo>
                    <a:pt x="122149" y="480102"/>
                    <a:pt x="133579" y="473752"/>
                    <a:pt x="157709" y="463592"/>
                  </a:cubicBezTo>
                  <a:cubicBezTo>
                    <a:pt x="221209" y="434382"/>
                    <a:pt x="383769" y="313732"/>
                    <a:pt x="485369" y="234992"/>
                  </a:cubicBezTo>
                  <a:cubicBezTo>
                    <a:pt x="580619" y="161332"/>
                    <a:pt x="706349" y="27982"/>
                    <a:pt x="753339" y="7662"/>
                  </a:cubicBezTo>
                  <a:cubicBezTo>
                    <a:pt x="767309" y="1312"/>
                    <a:pt x="777469" y="-1228"/>
                    <a:pt x="783819" y="2582"/>
                  </a:cubicBezTo>
                  <a:cubicBezTo>
                    <a:pt x="791439" y="7662"/>
                    <a:pt x="797789" y="31792"/>
                    <a:pt x="792709" y="39412"/>
                  </a:cubicBezTo>
                  <a:cubicBezTo>
                    <a:pt x="788899" y="45762"/>
                    <a:pt x="763499" y="50842"/>
                    <a:pt x="757149" y="45762"/>
                  </a:cubicBezTo>
                  <a:cubicBezTo>
                    <a:pt x="749529" y="40682"/>
                    <a:pt x="746989" y="16552"/>
                    <a:pt x="752069" y="8932"/>
                  </a:cubicBezTo>
                  <a:cubicBezTo>
                    <a:pt x="755879" y="2582"/>
                    <a:pt x="774929" y="-2498"/>
                    <a:pt x="781279" y="1312"/>
                  </a:cubicBezTo>
                  <a:cubicBezTo>
                    <a:pt x="788899" y="6392"/>
                    <a:pt x="797789" y="22902"/>
                    <a:pt x="793979" y="36872"/>
                  </a:cubicBezTo>
                  <a:cubicBezTo>
                    <a:pt x="787629" y="67352"/>
                    <a:pt x="715239" y="114342"/>
                    <a:pt x="659359" y="162602"/>
                  </a:cubicBezTo>
                  <a:cubicBezTo>
                    <a:pt x="572999" y="233722"/>
                    <a:pt x="414249" y="353102"/>
                    <a:pt x="322809" y="415332"/>
                  </a:cubicBezTo>
                  <a:cubicBezTo>
                    <a:pt x="261849" y="457242"/>
                    <a:pt x="211049" y="497882"/>
                    <a:pt x="167869" y="511852"/>
                  </a:cubicBezTo>
                  <a:cubicBezTo>
                    <a:pt x="139929" y="522012"/>
                    <a:pt x="119609" y="527092"/>
                    <a:pt x="95479" y="520742"/>
                  </a:cubicBezTo>
                  <a:cubicBezTo>
                    <a:pt x="63729" y="511852"/>
                    <a:pt x="11659" y="469942"/>
                    <a:pt x="2769" y="448352"/>
                  </a:cubicBezTo>
                  <a:cubicBezTo>
                    <a:pt x="-2311" y="436922"/>
                    <a:pt x="229" y="420412"/>
                    <a:pt x="5309" y="415332"/>
                  </a:cubicBezTo>
                  <a:cubicBezTo>
                    <a:pt x="11659" y="408982"/>
                    <a:pt x="34519" y="410252"/>
                    <a:pt x="34519" y="410252"/>
                  </a:cubicBezTo>
                </a:path>
              </a:pathLst>
            </a:custGeom>
            <a:solidFill>
              <a:srgbClr val="0571D3"/>
            </a:solidFill>
            <a:ln cap="sq">
              <a:noFill/>
              <a:prstDash val="solid"/>
              <a:miter/>
            </a:ln>
          </p:spPr>
        </p:sp>
      </p:grpSp>
      <p:grpSp>
        <p:nvGrpSpPr>
          <p:cNvPr name="Group 48" id="48"/>
          <p:cNvGrpSpPr/>
          <p:nvPr/>
        </p:nvGrpSpPr>
        <p:grpSpPr>
          <a:xfrm rot="0">
            <a:off x="3407092" y="7882890"/>
            <a:ext cx="335280" cy="360997"/>
            <a:chOff x="0" y="0"/>
            <a:chExt cx="447040" cy="481330"/>
          </a:xfrm>
        </p:grpSpPr>
        <p:sp>
          <p:nvSpPr>
            <p:cNvPr name="Freeform 49" id="49"/>
            <p:cNvSpPr/>
            <p:nvPr/>
          </p:nvSpPr>
          <p:spPr>
            <a:xfrm flipH="false" flipV="false" rot="0">
              <a:off x="50493" y="47867"/>
              <a:ext cx="344477" cy="385838"/>
            </a:xfrm>
            <a:custGeom>
              <a:avLst/>
              <a:gdLst/>
              <a:ahLst/>
              <a:cxnLst/>
              <a:rect r="r" b="b" t="t" l="l"/>
              <a:pathLst>
                <a:path h="385838" w="344477">
                  <a:moveTo>
                    <a:pt x="202237" y="15633"/>
                  </a:moveTo>
                  <a:cubicBezTo>
                    <a:pt x="146357" y="19443"/>
                    <a:pt x="127307" y="27063"/>
                    <a:pt x="109527" y="41033"/>
                  </a:cubicBezTo>
                  <a:cubicBezTo>
                    <a:pt x="87937" y="57543"/>
                    <a:pt x="62537" y="93103"/>
                    <a:pt x="47297" y="118503"/>
                  </a:cubicBezTo>
                  <a:cubicBezTo>
                    <a:pt x="35867" y="137553"/>
                    <a:pt x="28247" y="152793"/>
                    <a:pt x="23167" y="174383"/>
                  </a:cubicBezTo>
                  <a:cubicBezTo>
                    <a:pt x="15547" y="199783"/>
                    <a:pt x="10467" y="231533"/>
                    <a:pt x="11737" y="260743"/>
                  </a:cubicBezTo>
                  <a:cubicBezTo>
                    <a:pt x="14277" y="289953"/>
                    <a:pt x="18087" y="330593"/>
                    <a:pt x="35867" y="349643"/>
                  </a:cubicBezTo>
                  <a:cubicBezTo>
                    <a:pt x="51107" y="364883"/>
                    <a:pt x="81587" y="367423"/>
                    <a:pt x="105717" y="369963"/>
                  </a:cubicBezTo>
                  <a:cubicBezTo>
                    <a:pt x="128577" y="373773"/>
                    <a:pt x="148897" y="378853"/>
                    <a:pt x="173027" y="368693"/>
                  </a:cubicBezTo>
                  <a:cubicBezTo>
                    <a:pt x="218747" y="349643"/>
                    <a:pt x="310187" y="212483"/>
                    <a:pt x="333047" y="209943"/>
                  </a:cubicBezTo>
                  <a:cubicBezTo>
                    <a:pt x="339397" y="208673"/>
                    <a:pt x="344477" y="215023"/>
                    <a:pt x="344477" y="215023"/>
                  </a:cubicBezTo>
                  <a:cubicBezTo>
                    <a:pt x="344477" y="215023"/>
                    <a:pt x="333047" y="209943"/>
                    <a:pt x="333047" y="209943"/>
                  </a:cubicBezTo>
                  <a:cubicBezTo>
                    <a:pt x="333047" y="209943"/>
                    <a:pt x="343207" y="213753"/>
                    <a:pt x="343207" y="217563"/>
                  </a:cubicBezTo>
                  <a:cubicBezTo>
                    <a:pt x="344477" y="234073"/>
                    <a:pt x="265737" y="311543"/>
                    <a:pt x="232717" y="339483"/>
                  </a:cubicBezTo>
                  <a:cubicBezTo>
                    <a:pt x="212397" y="358533"/>
                    <a:pt x="197157" y="373773"/>
                    <a:pt x="174297" y="381393"/>
                  </a:cubicBezTo>
                  <a:cubicBezTo>
                    <a:pt x="152707" y="387743"/>
                    <a:pt x="126037" y="386473"/>
                    <a:pt x="101907" y="382663"/>
                  </a:cubicBezTo>
                  <a:cubicBezTo>
                    <a:pt x="76507" y="378853"/>
                    <a:pt x="40947" y="369963"/>
                    <a:pt x="25707" y="357263"/>
                  </a:cubicBezTo>
                  <a:cubicBezTo>
                    <a:pt x="15547" y="348373"/>
                    <a:pt x="13007" y="339483"/>
                    <a:pt x="9197" y="326783"/>
                  </a:cubicBezTo>
                  <a:cubicBezTo>
                    <a:pt x="2847" y="309003"/>
                    <a:pt x="307" y="283603"/>
                    <a:pt x="307" y="259473"/>
                  </a:cubicBezTo>
                  <a:cubicBezTo>
                    <a:pt x="-963" y="231533"/>
                    <a:pt x="1577" y="198513"/>
                    <a:pt x="10467" y="169303"/>
                  </a:cubicBezTo>
                  <a:cubicBezTo>
                    <a:pt x="21897" y="135013"/>
                    <a:pt x="47297" y="93103"/>
                    <a:pt x="65077" y="68973"/>
                  </a:cubicBezTo>
                  <a:cubicBezTo>
                    <a:pt x="77777" y="51193"/>
                    <a:pt x="89207" y="39763"/>
                    <a:pt x="104447" y="29603"/>
                  </a:cubicBezTo>
                  <a:cubicBezTo>
                    <a:pt x="120957" y="18173"/>
                    <a:pt x="145087" y="6743"/>
                    <a:pt x="162867" y="2933"/>
                  </a:cubicBezTo>
                  <a:cubicBezTo>
                    <a:pt x="176837" y="393"/>
                    <a:pt x="199697" y="-2147"/>
                    <a:pt x="203507" y="2933"/>
                  </a:cubicBezTo>
                  <a:cubicBezTo>
                    <a:pt x="206047" y="5473"/>
                    <a:pt x="202237" y="15633"/>
                    <a:pt x="202237" y="15633"/>
                  </a:cubicBezTo>
                </a:path>
              </a:pathLst>
            </a:custGeom>
            <a:solidFill>
              <a:srgbClr val="0571D3"/>
            </a:solidFill>
            <a:ln cap="sq">
              <a:noFill/>
              <a:prstDash val="solid"/>
              <a:miter/>
            </a:ln>
          </p:spPr>
        </p:sp>
      </p:grpSp>
      <p:grpSp>
        <p:nvGrpSpPr>
          <p:cNvPr name="Group 50" id="50"/>
          <p:cNvGrpSpPr/>
          <p:nvPr/>
        </p:nvGrpSpPr>
        <p:grpSpPr>
          <a:xfrm rot="0">
            <a:off x="3717608" y="7800022"/>
            <a:ext cx="260985" cy="278130"/>
            <a:chOff x="0" y="0"/>
            <a:chExt cx="347980" cy="370840"/>
          </a:xfrm>
        </p:grpSpPr>
        <p:sp>
          <p:nvSpPr>
            <p:cNvPr name="Freeform 51" id="51"/>
            <p:cNvSpPr/>
            <p:nvPr/>
          </p:nvSpPr>
          <p:spPr>
            <a:xfrm flipH="false" flipV="false" rot="0">
              <a:off x="50787" y="50776"/>
              <a:ext cx="245322" cy="262666"/>
            </a:xfrm>
            <a:custGeom>
              <a:avLst/>
              <a:gdLst/>
              <a:ahLst/>
              <a:cxnLst/>
              <a:rect r="r" b="b" t="t" l="l"/>
              <a:pathLst>
                <a:path h="262666" w="245322">
                  <a:moveTo>
                    <a:pt x="40653" y="233704"/>
                  </a:moveTo>
                  <a:cubicBezTo>
                    <a:pt x="5093" y="267994"/>
                    <a:pt x="1283" y="264184"/>
                    <a:pt x="13" y="259104"/>
                  </a:cubicBezTo>
                  <a:cubicBezTo>
                    <a:pt x="-1257" y="238784"/>
                    <a:pt x="91453" y="129564"/>
                    <a:pt x="135903" y="83844"/>
                  </a:cubicBezTo>
                  <a:cubicBezTo>
                    <a:pt x="168923" y="48284"/>
                    <a:pt x="222263" y="-1246"/>
                    <a:pt x="237503" y="24"/>
                  </a:cubicBezTo>
                  <a:cubicBezTo>
                    <a:pt x="241313" y="24"/>
                    <a:pt x="246393" y="5104"/>
                    <a:pt x="245123" y="8914"/>
                  </a:cubicBezTo>
                  <a:cubicBezTo>
                    <a:pt x="245123" y="19074"/>
                    <a:pt x="203213" y="31774"/>
                    <a:pt x="176543" y="55904"/>
                  </a:cubicBezTo>
                  <a:cubicBezTo>
                    <a:pt x="132093" y="99084"/>
                    <a:pt x="43193" y="251484"/>
                    <a:pt x="16523" y="261644"/>
                  </a:cubicBezTo>
                  <a:cubicBezTo>
                    <a:pt x="8903" y="264184"/>
                    <a:pt x="2553" y="261644"/>
                    <a:pt x="1283" y="257834"/>
                  </a:cubicBezTo>
                  <a:cubicBezTo>
                    <a:pt x="13" y="252754"/>
                    <a:pt x="25413" y="223544"/>
                    <a:pt x="33033" y="223544"/>
                  </a:cubicBezTo>
                  <a:cubicBezTo>
                    <a:pt x="36843" y="223544"/>
                    <a:pt x="40653" y="233704"/>
                    <a:pt x="40653" y="233704"/>
                  </a:cubicBezTo>
                </a:path>
              </a:pathLst>
            </a:custGeom>
            <a:solidFill>
              <a:srgbClr val="0571D3"/>
            </a:solidFill>
            <a:ln cap="sq">
              <a:noFill/>
              <a:prstDash val="solid"/>
              <a:miter/>
            </a:ln>
          </p:spPr>
        </p:sp>
      </p:grpSp>
      <p:grpSp>
        <p:nvGrpSpPr>
          <p:cNvPr name="Group 52" id="52"/>
          <p:cNvGrpSpPr/>
          <p:nvPr/>
        </p:nvGrpSpPr>
        <p:grpSpPr>
          <a:xfrm rot="0">
            <a:off x="3907155" y="7611428"/>
            <a:ext cx="429578" cy="396240"/>
            <a:chOff x="0" y="0"/>
            <a:chExt cx="572770" cy="528320"/>
          </a:xfrm>
        </p:grpSpPr>
        <p:sp>
          <p:nvSpPr>
            <p:cNvPr name="Freeform 53" id="53"/>
            <p:cNvSpPr/>
            <p:nvPr/>
          </p:nvSpPr>
          <p:spPr>
            <a:xfrm flipH="false" flipV="false" rot="0">
              <a:off x="48657" y="50596"/>
              <a:ext cx="473813" cy="426993"/>
            </a:xfrm>
            <a:custGeom>
              <a:avLst/>
              <a:gdLst/>
              <a:ahLst/>
              <a:cxnLst/>
              <a:rect r="r" b="b" t="t" l="l"/>
              <a:pathLst>
                <a:path h="426993" w="473813">
                  <a:moveTo>
                    <a:pt x="88503" y="4014"/>
                  </a:moveTo>
                  <a:cubicBezTo>
                    <a:pt x="103743" y="178004"/>
                    <a:pt x="22463" y="303734"/>
                    <a:pt x="14843" y="353264"/>
                  </a:cubicBezTo>
                  <a:cubicBezTo>
                    <a:pt x="11033" y="373584"/>
                    <a:pt x="11033" y="387554"/>
                    <a:pt x="17383" y="397714"/>
                  </a:cubicBezTo>
                  <a:cubicBezTo>
                    <a:pt x="21193" y="406604"/>
                    <a:pt x="31353" y="415494"/>
                    <a:pt x="40243" y="415494"/>
                  </a:cubicBezTo>
                  <a:cubicBezTo>
                    <a:pt x="54213" y="416764"/>
                    <a:pt x="74533" y="400254"/>
                    <a:pt x="96123" y="383744"/>
                  </a:cubicBezTo>
                  <a:cubicBezTo>
                    <a:pt x="131683" y="357074"/>
                    <a:pt x="195183" y="278334"/>
                    <a:pt x="229473" y="255474"/>
                  </a:cubicBezTo>
                  <a:cubicBezTo>
                    <a:pt x="247253" y="244044"/>
                    <a:pt x="259953" y="238964"/>
                    <a:pt x="276463" y="238964"/>
                  </a:cubicBezTo>
                  <a:cubicBezTo>
                    <a:pt x="294243" y="237694"/>
                    <a:pt x="320913" y="259284"/>
                    <a:pt x="336153" y="260554"/>
                  </a:cubicBezTo>
                  <a:cubicBezTo>
                    <a:pt x="345043" y="260554"/>
                    <a:pt x="350123" y="260554"/>
                    <a:pt x="357743" y="254204"/>
                  </a:cubicBezTo>
                  <a:cubicBezTo>
                    <a:pt x="374253" y="241504"/>
                    <a:pt x="402193" y="193244"/>
                    <a:pt x="418703" y="158954"/>
                  </a:cubicBezTo>
                  <a:cubicBezTo>
                    <a:pt x="436483" y="124664"/>
                    <a:pt x="449183" y="52274"/>
                    <a:pt x="461883" y="48464"/>
                  </a:cubicBezTo>
                  <a:cubicBezTo>
                    <a:pt x="465693" y="47194"/>
                    <a:pt x="472043" y="54814"/>
                    <a:pt x="472043" y="54814"/>
                  </a:cubicBezTo>
                  <a:cubicBezTo>
                    <a:pt x="472043" y="54814"/>
                    <a:pt x="460613" y="49734"/>
                    <a:pt x="460613" y="48464"/>
                  </a:cubicBezTo>
                  <a:cubicBezTo>
                    <a:pt x="460613" y="48464"/>
                    <a:pt x="470773" y="48464"/>
                    <a:pt x="473313" y="52274"/>
                  </a:cubicBezTo>
                  <a:cubicBezTo>
                    <a:pt x="479663" y="66244"/>
                    <a:pt x="423783" y="185624"/>
                    <a:pt x="400923" y="222454"/>
                  </a:cubicBezTo>
                  <a:cubicBezTo>
                    <a:pt x="386953" y="244044"/>
                    <a:pt x="374253" y="259284"/>
                    <a:pt x="361553" y="265634"/>
                  </a:cubicBezTo>
                  <a:cubicBezTo>
                    <a:pt x="352663" y="271984"/>
                    <a:pt x="343773" y="273254"/>
                    <a:pt x="332343" y="271984"/>
                  </a:cubicBezTo>
                  <a:cubicBezTo>
                    <a:pt x="317103" y="270714"/>
                    <a:pt x="295513" y="250394"/>
                    <a:pt x="279003" y="250394"/>
                  </a:cubicBezTo>
                  <a:cubicBezTo>
                    <a:pt x="265033" y="250394"/>
                    <a:pt x="254873" y="255474"/>
                    <a:pt x="238363" y="265634"/>
                  </a:cubicBezTo>
                  <a:cubicBezTo>
                    <a:pt x="204073" y="285954"/>
                    <a:pt x="141843" y="367234"/>
                    <a:pt x="103743" y="393904"/>
                  </a:cubicBezTo>
                  <a:cubicBezTo>
                    <a:pt x="78343" y="411684"/>
                    <a:pt x="52943" y="428194"/>
                    <a:pt x="36433" y="426924"/>
                  </a:cubicBezTo>
                  <a:cubicBezTo>
                    <a:pt x="23733" y="425654"/>
                    <a:pt x="12303" y="412954"/>
                    <a:pt x="5953" y="401524"/>
                  </a:cubicBezTo>
                  <a:cubicBezTo>
                    <a:pt x="-397" y="388824"/>
                    <a:pt x="-1667" y="372314"/>
                    <a:pt x="2143" y="348184"/>
                  </a:cubicBezTo>
                  <a:cubicBezTo>
                    <a:pt x="11033" y="297384"/>
                    <a:pt x="92313" y="175464"/>
                    <a:pt x="97393" y="113234"/>
                  </a:cubicBezTo>
                  <a:cubicBezTo>
                    <a:pt x="99933" y="75134"/>
                    <a:pt x="77073" y="38304"/>
                    <a:pt x="75803" y="17984"/>
                  </a:cubicBezTo>
                  <a:cubicBezTo>
                    <a:pt x="74533" y="10364"/>
                    <a:pt x="74533" y="1474"/>
                    <a:pt x="77073" y="204"/>
                  </a:cubicBezTo>
                  <a:cubicBezTo>
                    <a:pt x="79613" y="-1066"/>
                    <a:pt x="88503" y="4014"/>
                    <a:pt x="88503" y="4014"/>
                  </a:cubicBezTo>
                </a:path>
              </a:pathLst>
            </a:custGeom>
            <a:solidFill>
              <a:srgbClr val="0571D3"/>
            </a:solidFill>
            <a:ln cap="sq">
              <a:noFill/>
              <a:prstDash val="solid"/>
              <a:miter/>
            </a:ln>
          </p:spPr>
        </p:sp>
      </p:grpSp>
      <p:grpSp>
        <p:nvGrpSpPr>
          <p:cNvPr name="Group 54" id="54"/>
          <p:cNvGrpSpPr/>
          <p:nvPr/>
        </p:nvGrpSpPr>
        <p:grpSpPr>
          <a:xfrm rot="0">
            <a:off x="3962400" y="7577138"/>
            <a:ext cx="289560" cy="270510"/>
            <a:chOff x="0" y="0"/>
            <a:chExt cx="386080" cy="360680"/>
          </a:xfrm>
        </p:grpSpPr>
        <p:sp>
          <p:nvSpPr>
            <p:cNvPr name="Freeform 55" id="55"/>
            <p:cNvSpPr/>
            <p:nvPr/>
          </p:nvSpPr>
          <p:spPr>
            <a:xfrm flipH="false" flipV="false" rot="0">
              <a:off x="50800" y="50800"/>
              <a:ext cx="284480" cy="257953"/>
            </a:xfrm>
            <a:custGeom>
              <a:avLst/>
              <a:gdLst/>
              <a:ahLst/>
              <a:cxnLst/>
              <a:rect r="r" b="b" t="t" l="l"/>
              <a:pathLst>
                <a:path h="257953" w="284480">
                  <a:moveTo>
                    <a:pt x="0" y="251460"/>
                  </a:moveTo>
                  <a:cubicBezTo>
                    <a:pt x="66040" y="149860"/>
                    <a:pt x="74930" y="153670"/>
                    <a:pt x="90170" y="144780"/>
                  </a:cubicBezTo>
                  <a:cubicBezTo>
                    <a:pt x="129540" y="123190"/>
                    <a:pt x="252730" y="-1270"/>
                    <a:pt x="274320" y="1270"/>
                  </a:cubicBezTo>
                  <a:cubicBezTo>
                    <a:pt x="279400" y="1270"/>
                    <a:pt x="281940" y="11430"/>
                    <a:pt x="281940" y="11430"/>
                  </a:cubicBezTo>
                  <a:cubicBezTo>
                    <a:pt x="281940" y="10160"/>
                    <a:pt x="274320" y="0"/>
                    <a:pt x="275590" y="0"/>
                  </a:cubicBezTo>
                  <a:cubicBezTo>
                    <a:pt x="275590" y="0"/>
                    <a:pt x="284480" y="3810"/>
                    <a:pt x="284480" y="8890"/>
                  </a:cubicBezTo>
                  <a:cubicBezTo>
                    <a:pt x="283210" y="27940"/>
                    <a:pt x="133350" y="137160"/>
                    <a:pt x="95250" y="157480"/>
                  </a:cubicBezTo>
                  <a:cubicBezTo>
                    <a:pt x="81280" y="165100"/>
                    <a:pt x="73660" y="158750"/>
                    <a:pt x="63500" y="167640"/>
                  </a:cubicBezTo>
                  <a:cubicBezTo>
                    <a:pt x="44450" y="182880"/>
                    <a:pt x="22860" y="255270"/>
                    <a:pt x="10160" y="257810"/>
                  </a:cubicBezTo>
                  <a:cubicBezTo>
                    <a:pt x="6350" y="259080"/>
                    <a:pt x="0" y="251460"/>
                    <a:pt x="0" y="251460"/>
                  </a:cubicBezTo>
                </a:path>
              </a:pathLst>
            </a:custGeom>
            <a:solidFill>
              <a:srgbClr val="0571D3"/>
            </a:solidFill>
            <a:ln cap="sq">
              <a:noFill/>
              <a:prstDash val="solid"/>
              <a:miter/>
            </a:ln>
          </p:spPr>
        </p:sp>
      </p:grpSp>
      <p:grpSp>
        <p:nvGrpSpPr>
          <p:cNvPr name="Group 56" id="56"/>
          <p:cNvGrpSpPr/>
          <p:nvPr/>
        </p:nvGrpSpPr>
        <p:grpSpPr>
          <a:xfrm rot="0">
            <a:off x="4012883" y="7357110"/>
            <a:ext cx="221933" cy="304800"/>
            <a:chOff x="0" y="0"/>
            <a:chExt cx="295910" cy="406400"/>
          </a:xfrm>
        </p:grpSpPr>
        <p:sp>
          <p:nvSpPr>
            <p:cNvPr name="Freeform 57" id="57"/>
            <p:cNvSpPr/>
            <p:nvPr/>
          </p:nvSpPr>
          <p:spPr>
            <a:xfrm flipH="false" flipV="false" rot="0">
              <a:off x="50800" y="50089"/>
              <a:ext cx="193190" cy="304445"/>
            </a:xfrm>
            <a:custGeom>
              <a:avLst/>
              <a:gdLst/>
              <a:ahLst/>
              <a:cxnLst/>
              <a:rect r="r" b="b" t="t" l="l"/>
              <a:pathLst>
                <a:path h="304445" w="193190">
                  <a:moveTo>
                    <a:pt x="0" y="300431"/>
                  </a:moveTo>
                  <a:cubicBezTo>
                    <a:pt x="12700" y="252171"/>
                    <a:pt x="59690" y="231851"/>
                    <a:pt x="76200" y="208991"/>
                  </a:cubicBezTo>
                  <a:cubicBezTo>
                    <a:pt x="88900" y="188671"/>
                    <a:pt x="85090" y="168351"/>
                    <a:pt x="96520" y="142951"/>
                  </a:cubicBezTo>
                  <a:cubicBezTo>
                    <a:pt x="114300" y="103581"/>
                    <a:pt x="163830" y="7061"/>
                    <a:pt x="181610" y="711"/>
                  </a:cubicBezTo>
                  <a:cubicBezTo>
                    <a:pt x="186690" y="-1829"/>
                    <a:pt x="193040" y="3251"/>
                    <a:pt x="193040" y="3251"/>
                  </a:cubicBezTo>
                  <a:cubicBezTo>
                    <a:pt x="193040" y="4521"/>
                    <a:pt x="181610" y="711"/>
                    <a:pt x="181610" y="711"/>
                  </a:cubicBezTo>
                  <a:cubicBezTo>
                    <a:pt x="181610" y="1981"/>
                    <a:pt x="191770" y="3251"/>
                    <a:pt x="193040" y="7061"/>
                  </a:cubicBezTo>
                  <a:cubicBezTo>
                    <a:pt x="196850" y="23571"/>
                    <a:pt x="127000" y="107391"/>
                    <a:pt x="109220" y="146761"/>
                  </a:cubicBezTo>
                  <a:cubicBezTo>
                    <a:pt x="96520" y="173431"/>
                    <a:pt x="95250" y="197561"/>
                    <a:pt x="86360" y="215341"/>
                  </a:cubicBezTo>
                  <a:cubicBezTo>
                    <a:pt x="78740" y="229311"/>
                    <a:pt x="72390" y="240741"/>
                    <a:pt x="60960" y="250901"/>
                  </a:cubicBezTo>
                  <a:cubicBezTo>
                    <a:pt x="48260" y="261061"/>
                    <a:pt x="17780" y="266141"/>
                    <a:pt x="11430" y="277571"/>
                  </a:cubicBezTo>
                  <a:cubicBezTo>
                    <a:pt x="6350" y="285191"/>
                    <a:pt x="15240" y="301701"/>
                    <a:pt x="11430" y="304241"/>
                  </a:cubicBezTo>
                  <a:cubicBezTo>
                    <a:pt x="8890" y="305511"/>
                    <a:pt x="0" y="300431"/>
                    <a:pt x="0" y="300431"/>
                  </a:cubicBezTo>
                </a:path>
              </a:pathLst>
            </a:custGeom>
            <a:solidFill>
              <a:srgbClr val="0571D3"/>
            </a:solidFill>
            <a:ln cap="sq">
              <a:noFill/>
              <a:prstDash val="solid"/>
              <a:miter/>
            </a:ln>
          </p:spPr>
        </p:sp>
      </p:grpSp>
      <p:grpSp>
        <p:nvGrpSpPr>
          <p:cNvPr name="Group 58" id="58"/>
          <p:cNvGrpSpPr/>
          <p:nvPr/>
        </p:nvGrpSpPr>
        <p:grpSpPr>
          <a:xfrm rot="0">
            <a:off x="4013835" y="7457122"/>
            <a:ext cx="220028" cy="222885"/>
            <a:chOff x="0" y="0"/>
            <a:chExt cx="293370" cy="297180"/>
          </a:xfrm>
        </p:grpSpPr>
        <p:sp>
          <p:nvSpPr>
            <p:cNvPr name="Freeform 59" id="59"/>
            <p:cNvSpPr/>
            <p:nvPr/>
          </p:nvSpPr>
          <p:spPr>
            <a:xfrm flipH="false" flipV="false" rot="0">
              <a:off x="50381" y="50783"/>
              <a:ext cx="190919" cy="195597"/>
            </a:xfrm>
            <a:custGeom>
              <a:avLst/>
              <a:gdLst/>
              <a:ahLst/>
              <a:cxnLst/>
              <a:rect r="r" b="b" t="t" l="l"/>
              <a:pathLst>
                <a:path h="195597" w="190919">
                  <a:moveTo>
                    <a:pt x="190919" y="10177"/>
                  </a:moveTo>
                  <a:cubicBezTo>
                    <a:pt x="28359" y="138447"/>
                    <a:pt x="22009" y="189247"/>
                    <a:pt x="11849" y="193057"/>
                  </a:cubicBezTo>
                  <a:cubicBezTo>
                    <a:pt x="6769" y="194327"/>
                    <a:pt x="419" y="186707"/>
                    <a:pt x="419" y="187977"/>
                  </a:cubicBezTo>
                  <a:cubicBezTo>
                    <a:pt x="-851" y="187977"/>
                    <a:pt x="9309" y="195597"/>
                    <a:pt x="9309" y="195597"/>
                  </a:cubicBezTo>
                  <a:cubicBezTo>
                    <a:pt x="9309" y="195597"/>
                    <a:pt x="419" y="191787"/>
                    <a:pt x="419" y="187977"/>
                  </a:cubicBezTo>
                  <a:cubicBezTo>
                    <a:pt x="-3391" y="175277"/>
                    <a:pt x="19469" y="130827"/>
                    <a:pt x="41059" y="104157"/>
                  </a:cubicBezTo>
                  <a:cubicBezTo>
                    <a:pt x="72809" y="67327"/>
                    <a:pt x="164249" y="-1253"/>
                    <a:pt x="182029" y="17"/>
                  </a:cubicBezTo>
                  <a:cubicBezTo>
                    <a:pt x="187109" y="1287"/>
                    <a:pt x="190919" y="10177"/>
                    <a:pt x="190919" y="10177"/>
                  </a:cubicBezTo>
                </a:path>
              </a:pathLst>
            </a:custGeom>
            <a:solidFill>
              <a:srgbClr val="0571D3"/>
            </a:solidFill>
            <a:ln cap="sq">
              <a:noFill/>
              <a:prstDash val="solid"/>
              <a:miter/>
            </a:ln>
          </p:spPr>
        </p:sp>
      </p:grpSp>
      <p:grpSp>
        <p:nvGrpSpPr>
          <p:cNvPr name="Group 60" id="60"/>
          <p:cNvGrpSpPr/>
          <p:nvPr/>
        </p:nvGrpSpPr>
        <p:grpSpPr>
          <a:xfrm rot="0">
            <a:off x="6926580" y="8520112"/>
            <a:ext cx="587693" cy="878205"/>
            <a:chOff x="0" y="0"/>
            <a:chExt cx="783590" cy="1170940"/>
          </a:xfrm>
        </p:grpSpPr>
        <p:sp>
          <p:nvSpPr>
            <p:cNvPr name="Freeform 61" id="61"/>
            <p:cNvSpPr/>
            <p:nvPr/>
          </p:nvSpPr>
          <p:spPr>
            <a:xfrm flipH="false" flipV="false" rot="0">
              <a:off x="47942" y="50693"/>
              <a:ext cx="686601" cy="1070614"/>
            </a:xfrm>
            <a:custGeom>
              <a:avLst/>
              <a:gdLst/>
              <a:ahLst/>
              <a:cxnLst/>
              <a:rect r="r" b="b" t="t" l="l"/>
              <a:pathLst>
                <a:path h="1070614" w="686601">
                  <a:moveTo>
                    <a:pt x="522288" y="24237"/>
                  </a:moveTo>
                  <a:cubicBezTo>
                    <a:pt x="480378" y="10267"/>
                    <a:pt x="447358" y="21697"/>
                    <a:pt x="423228" y="35667"/>
                  </a:cubicBezTo>
                  <a:cubicBezTo>
                    <a:pt x="395288" y="50907"/>
                    <a:pt x="367348" y="78847"/>
                    <a:pt x="343218" y="108057"/>
                  </a:cubicBezTo>
                  <a:cubicBezTo>
                    <a:pt x="315278" y="141077"/>
                    <a:pt x="291148" y="182987"/>
                    <a:pt x="268288" y="226167"/>
                  </a:cubicBezTo>
                  <a:cubicBezTo>
                    <a:pt x="242888" y="275697"/>
                    <a:pt x="193358" y="354437"/>
                    <a:pt x="199708" y="391267"/>
                  </a:cubicBezTo>
                  <a:cubicBezTo>
                    <a:pt x="203518" y="411587"/>
                    <a:pt x="223838" y="425557"/>
                    <a:pt x="240348" y="434447"/>
                  </a:cubicBezTo>
                  <a:cubicBezTo>
                    <a:pt x="256858" y="442067"/>
                    <a:pt x="273368" y="440797"/>
                    <a:pt x="300038" y="439527"/>
                  </a:cubicBezTo>
                  <a:cubicBezTo>
                    <a:pt x="352108" y="438257"/>
                    <a:pt x="466408" y="406507"/>
                    <a:pt x="529908" y="405237"/>
                  </a:cubicBezTo>
                  <a:cubicBezTo>
                    <a:pt x="576898" y="403967"/>
                    <a:pt x="622618" y="400157"/>
                    <a:pt x="649288" y="417937"/>
                  </a:cubicBezTo>
                  <a:cubicBezTo>
                    <a:pt x="669608" y="433177"/>
                    <a:pt x="679768" y="462387"/>
                    <a:pt x="684848" y="489057"/>
                  </a:cubicBezTo>
                  <a:cubicBezTo>
                    <a:pt x="689928" y="522077"/>
                    <a:pt x="683578" y="563987"/>
                    <a:pt x="670878" y="600817"/>
                  </a:cubicBezTo>
                  <a:cubicBezTo>
                    <a:pt x="655638" y="643997"/>
                    <a:pt x="620078" y="688447"/>
                    <a:pt x="589598" y="726547"/>
                  </a:cubicBezTo>
                  <a:cubicBezTo>
                    <a:pt x="560388" y="764647"/>
                    <a:pt x="532448" y="795127"/>
                    <a:pt x="490538" y="830687"/>
                  </a:cubicBezTo>
                  <a:cubicBezTo>
                    <a:pt x="432118" y="880217"/>
                    <a:pt x="345758" y="942447"/>
                    <a:pt x="265748" y="981817"/>
                  </a:cubicBezTo>
                  <a:cubicBezTo>
                    <a:pt x="184468" y="1021187"/>
                    <a:pt x="18098" y="1079607"/>
                    <a:pt x="2858" y="1069447"/>
                  </a:cubicBezTo>
                  <a:cubicBezTo>
                    <a:pt x="-952" y="1066907"/>
                    <a:pt x="-952" y="1061827"/>
                    <a:pt x="2858" y="1056747"/>
                  </a:cubicBezTo>
                  <a:cubicBezTo>
                    <a:pt x="18098" y="1036427"/>
                    <a:pt x="178118" y="1009757"/>
                    <a:pt x="258128" y="970387"/>
                  </a:cubicBezTo>
                  <a:cubicBezTo>
                    <a:pt x="338138" y="932287"/>
                    <a:pt x="424498" y="870057"/>
                    <a:pt x="481648" y="821797"/>
                  </a:cubicBezTo>
                  <a:cubicBezTo>
                    <a:pt x="523558" y="787507"/>
                    <a:pt x="550228" y="757027"/>
                    <a:pt x="579438" y="720197"/>
                  </a:cubicBezTo>
                  <a:cubicBezTo>
                    <a:pt x="608648" y="682097"/>
                    <a:pt x="642938" y="640187"/>
                    <a:pt x="658178" y="599547"/>
                  </a:cubicBezTo>
                  <a:cubicBezTo>
                    <a:pt x="670878" y="563987"/>
                    <a:pt x="677228" y="522077"/>
                    <a:pt x="672148" y="491597"/>
                  </a:cubicBezTo>
                  <a:cubicBezTo>
                    <a:pt x="668338" y="467467"/>
                    <a:pt x="663258" y="442067"/>
                    <a:pt x="644208" y="429367"/>
                  </a:cubicBezTo>
                  <a:cubicBezTo>
                    <a:pt x="621348" y="412857"/>
                    <a:pt x="575628" y="416667"/>
                    <a:pt x="531178" y="417937"/>
                  </a:cubicBezTo>
                  <a:cubicBezTo>
                    <a:pt x="467678" y="419207"/>
                    <a:pt x="352108" y="450957"/>
                    <a:pt x="298768" y="452227"/>
                  </a:cubicBezTo>
                  <a:cubicBezTo>
                    <a:pt x="270828" y="452227"/>
                    <a:pt x="253048" y="454767"/>
                    <a:pt x="233998" y="444607"/>
                  </a:cubicBezTo>
                  <a:cubicBezTo>
                    <a:pt x="214948" y="434447"/>
                    <a:pt x="192088" y="415397"/>
                    <a:pt x="187008" y="391267"/>
                  </a:cubicBezTo>
                  <a:cubicBezTo>
                    <a:pt x="180658" y="350627"/>
                    <a:pt x="231458" y="270617"/>
                    <a:pt x="256858" y="219817"/>
                  </a:cubicBezTo>
                  <a:cubicBezTo>
                    <a:pt x="280988" y="174097"/>
                    <a:pt x="306388" y="132187"/>
                    <a:pt x="335598" y="97897"/>
                  </a:cubicBezTo>
                  <a:cubicBezTo>
                    <a:pt x="360998" y="68687"/>
                    <a:pt x="388938" y="40747"/>
                    <a:pt x="418148" y="24237"/>
                  </a:cubicBezTo>
                  <a:cubicBezTo>
                    <a:pt x="444818" y="8997"/>
                    <a:pt x="481648" y="-1163"/>
                    <a:pt x="501968" y="107"/>
                  </a:cubicBezTo>
                  <a:cubicBezTo>
                    <a:pt x="514668" y="1377"/>
                    <a:pt x="529908" y="8997"/>
                    <a:pt x="529908" y="14077"/>
                  </a:cubicBezTo>
                  <a:cubicBezTo>
                    <a:pt x="531178" y="16617"/>
                    <a:pt x="522288" y="24237"/>
                    <a:pt x="522288" y="24237"/>
                  </a:cubicBezTo>
                </a:path>
              </a:pathLst>
            </a:custGeom>
            <a:solidFill>
              <a:srgbClr val="0571D3"/>
            </a:solidFill>
            <a:ln cap="sq">
              <a:noFill/>
              <a:prstDash val="solid"/>
              <a:miter/>
            </a:ln>
          </p:spPr>
        </p:sp>
      </p:grpSp>
      <p:grpSp>
        <p:nvGrpSpPr>
          <p:cNvPr name="Group 62" id="62"/>
          <p:cNvGrpSpPr/>
          <p:nvPr/>
        </p:nvGrpSpPr>
        <p:grpSpPr>
          <a:xfrm rot="0">
            <a:off x="7491412" y="8546782"/>
            <a:ext cx="299085" cy="476250"/>
            <a:chOff x="0" y="0"/>
            <a:chExt cx="398780" cy="635000"/>
          </a:xfrm>
        </p:grpSpPr>
        <p:sp>
          <p:nvSpPr>
            <p:cNvPr name="Freeform 63" id="63"/>
            <p:cNvSpPr/>
            <p:nvPr/>
          </p:nvSpPr>
          <p:spPr>
            <a:xfrm flipH="false" flipV="false" rot="0">
              <a:off x="50132" y="48500"/>
              <a:ext cx="297451" cy="538540"/>
            </a:xfrm>
            <a:custGeom>
              <a:avLst/>
              <a:gdLst/>
              <a:ahLst/>
              <a:cxnLst/>
              <a:rect r="r" b="b" t="t" l="l"/>
              <a:pathLst>
                <a:path h="538540" w="297451">
                  <a:moveTo>
                    <a:pt x="42578" y="15000"/>
                  </a:moveTo>
                  <a:cubicBezTo>
                    <a:pt x="-3142" y="55640"/>
                    <a:pt x="103538" y="248680"/>
                    <a:pt x="149258" y="337580"/>
                  </a:cubicBezTo>
                  <a:cubicBezTo>
                    <a:pt x="184818" y="407430"/>
                    <a:pt x="221648" y="498870"/>
                    <a:pt x="253398" y="519190"/>
                  </a:cubicBezTo>
                  <a:cubicBezTo>
                    <a:pt x="268638" y="529350"/>
                    <a:pt x="292768" y="517920"/>
                    <a:pt x="296578" y="523000"/>
                  </a:cubicBezTo>
                  <a:cubicBezTo>
                    <a:pt x="299118" y="526810"/>
                    <a:pt x="295308" y="535700"/>
                    <a:pt x="295308" y="535700"/>
                  </a:cubicBezTo>
                  <a:cubicBezTo>
                    <a:pt x="294038" y="535700"/>
                    <a:pt x="294038" y="523000"/>
                    <a:pt x="294038" y="523000"/>
                  </a:cubicBezTo>
                  <a:cubicBezTo>
                    <a:pt x="294038" y="523000"/>
                    <a:pt x="297848" y="533160"/>
                    <a:pt x="295308" y="535700"/>
                  </a:cubicBezTo>
                  <a:cubicBezTo>
                    <a:pt x="290228" y="540780"/>
                    <a:pt x="263558" y="539510"/>
                    <a:pt x="247048" y="528080"/>
                  </a:cubicBezTo>
                  <a:cubicBezTo>
                    <a:pt x="211488" y="505220"/>
                    <a:pt x="173388" y="412510"/>
                    <a:pt x="137828" y="343930"/>
                  </a:cubicBezTo>
                  <a:cubicBezTo>
                    <a:pt x="94648" y="258840"/>
                    <a:pt x="26068" y="105170"/>
                    <a:pt x="9558" y="55640"/>
                  </a:cubicBezTo>
                  <a:cubicBezTo>
                    <a:pt x="3208" y="37860"/>
                    <a:pt x="-1872" y="30240"/>
                    <a:pt x="668" y="20080"/>
                  </a:cubicBezTo>
                  <a:cubicBezTo>
                    <a:pt x="1938" y="13730"/>
                    <a:pt x="8288" y="6110"/>
                    <a:pt x="14638" y="3570"/>
                  </a:cubicBezTo>
                  <a:cubicBezTo>
                    <a:pt x="22258" y="-240"/>
                    <a:pt x="42578" y="-1510"/>
                    <a:pt x="45118" y="2300"/>
                  </a:cubicBezTo>
                  <a:cubicBezTo>
                    <a:pt x="47658" y="4840"/>
                    <a:pt x="42578" y="15000"/>
                    <a:pt x="42578" y="15000"/>
                  </a:cubicBezTo>
                </a:path>
              </a:pathLst>
            </a:custGeom>
            <a:solidFill>
              <a:srgbClr val="0571D3"/>
            </a:solidFill>
            <a:ln cap="sq">
              <a:noFill/>
              <a:prstDash val="solid"/>
              <a:miter/>
            </a:ln>
          </p:spPr>
        </p:sp>
      </p:grpSp>
      <p:grpSp>
        <p:nvGrpSpPr>
          <p:cNvPr name="Group 64" id="64"/>
          <p:cNvGrpSpPr/>
          <p:nvPr/>
        </p:nvGrpSpPr>
        <p:grpSpPr>
          <a:xfrm rot="0">
            <a:off x="7487603" y="8529638"/>
            <a:ext cx="320040" cy="359092"/>
            <a:chOff x="0" y="0"/>
            <a:chExt cx="426720" cy="478790"/>
          </a:xfrm>
        </p:grpSpPr>
        <p:sp>
          <p:nvSpPr>
            <p:cNvPr name="Freeform 65" id="65"/>
            <p:cNvSpPr/>
            <p:nvPr/>
          </p:nvSpPr>
          <p:spPr>
            <a:xfrm flipH="false" flipV="false" rot="0">
              <a:off x="50800" y="50800"/>
              <a:ext cx="325152" cy="376360"/>
            </a:xfrm>
            <a:custGeom>
              <a:avLst/>
              <a:gdLst/>
              <a:ahLst/>
              <a:cxnLst/>
              <a:rect r="r" b="b" t="t" l="l"/>
              <a:pathLst>
                <a:path h="376360" w="325152">
                  <a:moveTo>
                    <a:pt x="0" y="363220"/>
                  </a:moveTo>
                  <a:cubicBezTo>
                    <a:pt x="210820" y="167640"/>
                    <a:pt x="290830" y="6350"/>
                    <a:pt x="313690" y="2540"/>
                  </a:cubicBezTo>
                  <a:cubicBezTo>
                    <a:pt x="318770" y="1270"/>
                    <a:pt x="323850" y="8890"/>
                    <a:pt x="323850" y="8890"/>
                  </a:cubicBezTo>
                  <a:cubicBezTo>
                    <a:pt x="325120" y="8890"/>
                    <a:pt x="316230" y="0"/>
                    <a:pt x="316230" y="0"/>
                  </a:cubicBezTo>
                  <a:cubicBezTo>
                    <a:pt x="316230" y="0"/>
                    <a:pt x="323850" y="3810"/>
                    <a:pt x="325120" y="8890"/>
                  </a:cubicBezTo>
                  <a:cubicBezTo>
                    <a:pt x="326390" y="22860"/>
                    <a:pt x="289560" y="72390"/>
                    <a:pt x="266700" y="106680"/>
                  </a:cubicBezTo>
                  <a:cubicBezTo>
                    <a:pt x="237490" y="148590"/>
                    <a:pt x="200660" y="198120"/>
                    <a:pt x="162560" y="240030"/>
                  </a:cubicBezTo>
                  <a:cubicBezTo>
                    <a:pt x="123190" y="283210"/>
                    <a:pt x="59690" y="341630"/>
                    <a:pt x="30480" y="360680"/>
                  </a:cubicBezTo>
                  <a:cubicBezTo>
                    <a:pt x="19050" y="369570"/>
                    <a:pt x="7620" y="378460"/>
                    <a:pt x="2540" y="375920"/>
                  </a:cubicBezTo>
                  <a:cubicBezTo>
                    <a:pt x="0" y="374650"/>
                    <a:pt x="0" y="363220"/>
                    <a:pt x="0" y="363220"/>
                  </a:cubicBezTo>
                </a:path>
              </a:pathLst>
            </a:custGeom>
            <a:solidFill>
              <a:srgbClr val="0571D3"/>
            </a:solidFill>
            <a:ln cap="sq">
              <a:noFill/>
              <a:prstDash val="solid"/>
              <a:miter/>
            </a:ln>
          </p:spPr>
        </p:sp>
      </p:grpSp>
      <p:grpSp>
        <p:nvGrpSpPr>
          <p:cNvPr name="Group 66" id="66"/>
          <p:cNvGrpSpPr/>
          <p:nvPr/>
        </p:nvGrpSpPr>
        <p:grpSpPr>
          <a:xfrm rot="0">
            <a:off x="7894320" y="8191500"/>
            <a:ext cx="764857" cy="655320"/>
            <a:chOff x="0" y="0"/>
            <a:chExt cx="1019810" cy="873760"/>
          </a:xfrm>
        </p:grpSpPr>
        <p:sp>
          <p:nvSpPr>
            <p:cNvPr name="Freeform 67" id="67"/>
            <p:cNvSpPr/>
            <p:nvPr/>
          </p:nvSpPr>
          <p:spPr>
            <a:xfrm flipH="false" flipV="false" rot="0">
              <a:off x="50482" y="49611"/>
              <a:ext cx="918763" cy="773409"/>
            </a:xfrm>
            <a:custGeom>
              <a:avLst/>
              <a:gdLst/>
              <a:ahLst/>
              <a:cxnLst/>
              <a:rect r="r" b="b" t="t" l="l"/>
              <a:pathLst>
                <a:path h="773409" w="918763">
                  <a:moveTo>
                    <a:pt x="52388" y="579039"/>
                  </a:moveTo>
                  <a:cubicBezTo>
                    <a:pt x="19368" y="598089"/>
                    <a:pt x="16828" y="610789"/>
                    <a:pt x="14288" y="626029"/>
                  </a:cubicBezTo>
                  <a:cubicBezTo>
                    <a:pt x="11748" y="650159"/>
                    <a:pt x="13018" y="694609"/>
                    <a:pt x="25718" y="717469"/>
                  </a:cubicBezTo>
                  <a:cubicBezTo>
                    <a:pt x="35878" y="737789"/>
                    <a:pt x="62548" y="756839"/>
                    <a:pt x="79058" y="760649"/>
                  </a:cubicBezTo>
                  <a:cubicBezTo>
                    <a:pt x="90488" y="763189"/>
                    <a:pt x="101918" y="758109"/>
                    <a:pt x="112078" y="753029"/>
                  </a:cubicBezTo>
                  <a:cubicBezTo>
                    <a:pt x="126048" y="746679"/>
                    <a:pt x="140018" y="737789"/>
                    <a:pt x="151448" y="725089"/>
                  </a:cubicBezTo>
                  <a:cubicBezTo>
                    <a:pt x="164148" y="709849"/>
                    <a:pt x="170498" y="689529"/>
                    <a:pt x="180658" y="662859"/>
                  </a:cubicBezTo>
                  <a:cubicBezTo>
                    <a:pt x="195898" y="620949"/>
                    <a:pt x="225108" y="553639"/>
                    <a:pt x="230188" y="497759"/>
                  </a:cubicBezTo>
                  <a:cubicBezTo>
                    <a:pt x="235268" y="443149"/>
                    <a:pt x="231458" y="364409"/>
                    <a:pt x="213678" y="330119"/>
                  </a:cubicBezTo>
                  <a:cubicBezTo>
                    <a:pt x="203518" y="309799"/>
                    <a:pt x="187008" y="297099"/>
                    <a:pt x="171768" y="289479"/>
                  </a:cubicBezTo>
                  <a:cubicBezTo>
                    <a:pt x="159068" y="284399"/>
                    <a:pt x="145098" y="279319"/>
                    <a:pt x="131128" y="285669"/>
                  </a:cubicBezTo>
                  <a:cubicBezTo>
                    <a:pt x="109538" y="295829"/>
                    <a:pt x="76518" y="345359"/>
                    <a:pt x="63818" y="375839"/>
                  </a:cubicBezTo>
                  <a:cubicBezTo>
                    <a:pt x="52388" y="399969"/>
                    <a:pt x="51118" y="424099"/>
                    <a:pt x="47308" y="449499"/>
                  </a:cubicBezTo>
                  <a:cubicBezTo>
                    <a:pt x="43498" y="476169"/>
                    <a:pt x="37148" y="505379"/>
                    <a:pt x="40958" y="532049"/>
                  </a:cubicBezTo>
                  <a:cubicBezTo>
                    <a:pt x="43498" y="557449"/>
                    <a:pt x="52388" y="584119"/>
                    <a:pt x="62548" y="604439"/>
                  </a:cubicBezTo>
                  <a:cubicBezTo>
                    <a:pt x="71438" y="622219"/>
                    <a:pt x="81598" y="637459"/>
                    <a:pt x="95568" y="647619"/>
                  </a:cubicBezTo>
                  <a:cubicBezTo>
                    <a:pt x="110808" y="657779"/>
                    <a:pt x="129858" y="664129"/>
                    <a:pt x="147638" y="665399"/>
                  </a:cubicBezTo>
                  <a:cubicBezTo>
                    <a:pt x="165418" y="665399"/>
                    <a:pt x="188278" y="657779"/>
                    <a:pt x="206058" y="647619"/>
                  </a:cubicBezTo>
                  <a:cubicBezTo>
                    <a:pt x="225108" y="637459"/>
                    <a:pt x="241618" y="623489"/>
                    <a:pt x="256858" y="603169"/>
                  </a:cubicBezTo>
                  <a:cubicBezTo>
                    <a:pt x="280988" y="571419"/>
                    <a:pt x="306388" y="504109"/>
                    <a:pt x="319088" y="468549"/>
                  </a:cubicBezTo>
                  <a:cubicBezTo>
                    <a:pt x="325438" y="445689"/>
                    <a:pt x="330518" y="430449"/>
                    <a:pt x="330518" y="411399"/>
                  </a:cubicBezTo>
                  <a:cubicBezTo>
                    <a:pt x="329248" y="388539"/>
                    <a:pt x="320358" y="347899"/>
                    <a:pt x="311468" y="342819"/>
                  </a:cubicBezTo>
                  <a:cubicBezTo>
                    <a:pt x="306388" y="340279"/>
                    <a:pt x="300038" y="342819"/>
                    <a:pt x="296228" y="345359"/>
                  </a:cubicBezTo>
                  <a:cubicBezTo>
                    <a:pt x="291148" y="350439"/>
                    <a:pt x="291148" y="360599"/>
                    <a:pt x="289878" y="370759"/>
                  </a:cubicBezTo>
                  <a:cubicBezTo>
                    <a:pt x="287338" y="389809"/>
                    <a:pt x="282258" y="419019"/>
                    <a:pt x="286068" y="446959"/>
                  </a:cubicBezTo>
                  <a:cubicBezTo>
                    <a:pt x="292418" y="485059"/>
                    <a:pt x="310198" y="540939"/>
                    <a:pt x="333058" y="572689"/>
                  </a:cubicBezTo>
                  <a:cubicBezTo>
                    <a:pt x="353378" y="600629"/>
                    <a:pt x="386398" y="627299"/>
                    <a:pt x="409258" y="634919"/>
                  </a:cubicBezTo>
                  <a:cubicBezTo>
                    <a:pt x="423228" y="639999"/>
                    <a:pt x="434658" y="639999"/>
                    <a:pt x="448628" y="634919"/>
                  </a:cubicBezTo>
                  <a:cubicBezTo>
                    <a:pt x="466408" y="627299"/>
                    <a:pt x="484188" y="606979"/>
                    <a:pt x="503238" y="584119"/>
                  </a:cubicBezTo>
                  <a:cubicBezTo>
                    <a:pt x="531178" y="547289"/>
                    <a:pt x="566738" y="476169"/>
                    <a:pt x="585788" y="427909"/>
                  </a:cubicBezTo>
                  <a:cubicBezTo>
                    <a:pt x="601028" y="388539"/>
                    <a:pt x="611188" y="358059"/>
                    <a:pt x="613728" y="314879"/>
                  </a:cubicBezTo>
                  <a:cubicBezTo>
                    <a:pt x="618808" y="258999"/>
                    <a:pt x="613728" y="173909"/>
                    <a:pt x="598488" y="120569"/>
                  </a:cubicBezTo>
                  <a:cubicBezTo>
                    <a:pt x="585788" y="78659"/>
                    <a:pt x="559118" y="27859"/>
                    <a:pt x="541338" y="16429"/>
                  </a:cubicBezTo>
                  <a:cubicBezTo>
                    <a:pt x="534988" y="11349"/>
                    <a:pt x="528638" y="11349"/>
                    <a:pt x="522288" y="13889"/>
                  </a:cubicBezTo>
                  <a:cubicBezTo>
                    <a:pt x="513398" y="16429"/>
                    <a:pt x="499428" y="22779"/>
                    <a:pt x="494348" y="38019"/>
                  </a:cubicBezTo>
                  <a:cubicBezTo>
                    <a:pt x="481648" y="79929"/>
                    <a:pt x="541338" y="252649"/>
                    <a:pt x="562928" y="317419"/>
                  </a:cubicBezTo>
                  <a:cubicBezTo>
                    <a:pt x="575628" y="351709"/>
                    <a:pt x="583248" y="370759"/>
                    <a:pt x="597218" y="396159"/>
                  </a:cubicBezTo>
                  <a:cubicBezTo>
                    <a:pt x="612458" y="421559"/>
                    <a:pt x="631508" y="449499"/>
                    <a:pt x="650558" y="467279"/>
                  </a:cubicBezTo>
                  <a:cubicBezTo>
                    <a:pt x="665798" y="481249"/>
                    <a:pt x="677228" y="492679"/>
                    <a:pt x="697548" y="496489"/>
                  </a:cubicBezTo>
                  <a:cubicBezTo>
                    <a:pt x="725488" y="504109"/>
                    <a:pt x="780098" y="504109"/>
                    <a:pt x="810578" y="485059"/>
                  </a:cubicBezTo>
                  <a:cubicBezTo>
                    <a:pt x="841058" y="466009"/>
                    <a:pt x="861378" y="413939"/>
                    <a:pt x="876618" y="378379"/>
                  </a:cubicBezTo>
                  <a:cubicBezTo>
                    <a:pt x="891858" y="345359"/>
                    <a:pt x="904558" y="309799"/>
                    <a:pt x="905828" y="280589"/>
                  </a:cubicBezTo>
                  <a:cubicBezTo>
                    <a:pt x="907098" y="257729"/>
                    <a:pt x="903288" y="233599"/>
                    <a:pt x="893128" y="215819"/>
                  </a:cubicBezTo>
                  <a:cubicBezTo>
                    <a:pt x="884238" y="199309"/>
                    <a:pt x="868998" y="184069"/>
                    <a:pt x="851218" y="177719"/>
                  </a:cubicBezTo>
                  <a:cubicBezTo>
                    <a:pt x="832168" y="168829"/>
                    <a:pt x="806768" y="171369"/>
                    <a:pt x="782638" y="173909"/>
                  </a:cubicBezTo>
                  <a:cubicBezTo>
                    <a:pt x="757238" y="177719"/>
                    <a:pt x="733108" y="184069"/>
                    <a:pt x="703898" y="198039"/>
                  </a:cubicBezTo>
                  <a:cubicBezTo>
                    <a:pt x="659448" y="218359"/>
                    <a:pt x="588328" y="256459"/>
                    <a:pt x="550228" y="298369"/>
                  </a:cubicBezTo>
                  <a:cubicBezTo>
                    <a:pt x="514668" y="335199"/>
                    <a:pt x="471488" y="425369"/>
                    <a:pt x="474028" y="427909"/>
                  </a:cubicBezTo>
                  <a:cubicBezTo>
                    <a:pt x="477838" y="430449"/>
                    <a:pt x="684848" y="110409"/>
                    <a:pt x="707708" y="110409"/>
                  </a:cubicBezTo>
                  <a:cubicBezTo>
                    <a:pt x="711518" y="110409"/>
                    <a:pt x="715328" y="115489"/>
                    <a:pt x="715328" y="120569"/>
                  </a:cubicBezTo>
                  <a:cubicBezTo>
                    <a:pt x="715328" y="143429"/>
                    <a:pt x="626428" y="247569"/>
                    <a:pt x="583248" y="300909"/>
                  </a:cubicBezTo>
                  <a:cubicBezTo>
                    <a:pt x="546418" y="347899"/>
                    <a:pt x="485458" y="430449"/>
                    <a:pt x="472758" y="426639"/>
                  </a:cubicBezTo>
                  <a:cubicBezTo>
                    <a:pt x="467678" y="425369"/>
                    <a:pt x="466408" y="411399"/>
                    <a:pt x="467678" y="403779"/>
                  </a:cubicBezTo>
                  <a:cubicBezTo>
                    <a:pt x="468948" y="389809"/>
                    <a:pt x="480378" y="374569"/>
                    <a:pt x="490538" y="358059"/>
                  </a:cubicBezTo>
                  <a:cubicBezTo>
                    <a:pt x="503238" y="336469"/>
                    <a:pt x="522288" y="305989"/>
                    <a:pt x="542608" y="286939"/>
                  </a:cubicBezTo>
                  <a:cubicBezTo>
                    <a:pt x="559118" y="270429"/>
                    <a:pt x="575628" y="262809"/>
                    <a:pt x="597218" y="248839"/>
                  </a:cubicBezTo>
                  <a:cubicBezTo>
                    <a:pt x="626428" y="229789"/>
                    <a:pt x="667068" y="200579"/>
                    <a:pt x="700088" y="185339"/>
                  </a:cubicBezTo>
                  <a:cubicBezTo>
                    <a:pt x="728028" y="172639"/>
                    <a:pt x="755968" y="163749"/>
                    <a:pt x="783908" y="161209"/>
                  </a:cubicBezTo>
                  <a:cubicBezTo>
                    <a:pt x="809308" y="158669"/>
                    <a:pt x="837248" y="157399"/>
                    <a:pt x="858838" y="167559"/>
                  </a:cubicBezTo>
                  <a:cubicBezTo>
                    <a:pt x="877888" y="175179"/>
                    <a:pt x="895668" y="194229"/>
                    <a:pt x="905828" y="213279"/>
                  </a:cubicBezTo>
                  <a:cubicBezTo>
                    <a:pt x="915988" y="232329"/>
                    <a:pt x="919798" y="257729"/>
                    <a:pt x="918528" y="283129"/>
                  </a:cubicBezTo>
                  <a:cubicBezTo>
                    <a:pt x="917258" y="314879"/>
                    <a:pt x="903288" y="351709"/>
                    <a:pt x="888048" y="384729"/>
                  </a:cubicBezTo>
                  <a:cubicBezTo>
                    <a:pt x="870268" y="422829"/>
                    <a:pt x="848678" y="476169"/>
                    <a:pt x="815658" y="496489"/>
                  </a:cubicBezTo>
                  <a:cubicBezTo>
                    <a:pt x="782638" y="515539"/>
                    <a:pt x="722948" y="515539"/>
                    <a:pt x="691198" y="507919"/>
                  </a:cubicBezTo>
                  <a:cubicBezTo>
                    <a:pt x="669608" y="502839"/>
                    <a:pt x="656908" y="490139"/>
                    <a:pt x="640398" y="474899"/>
                  </a:cubicBezTo>
                  <a:cubicBezTo>
                    <a:pt x="621348" y="457119"/>
                    <a:pt x="601028" y="426639"/>
                    <a:pt x="585788" y="401239"/>
                  </a:cubicBezTo>
                  <a:cubicBezTo>
                    <a:pt x="571818" y="375839"/>
                    <a:pt x="562928" y="355519"/>
                    <a:pt x="550228" y="319959"/>
                  </a:cubicBezTo>
                  <a:cubicBezTo>
                    <a:pt x="528638" y="255189"/>
                    <a:pt x="467678" y="81199"/>
                    <a:pt x="482918" y="34209"/>
                  </a:cubicBezTo>
                  <a:cubicBezTo>
                    <a:pt x="489268" y="15159"/>
                    <a:pt x="510858" y="4999"/>
                    <a:pt x="523558" y="1189"/>
                  </a:cubicBezTo>
                  <a:cubicBezTo>
                    <a:pt x="532448" y="-1351"/>
                    <a:pt x="541338" y="-81"/>
                    <a:pt x="550228" y="7539"/>
                  </a:cubicBezTo>
                  <a:cubicBezTo>
                    <a:pt x="569278" y="21509"/>
                    <a:pt x="597218" y="74849"/>
                    <a:pt x="611188" y="118029"/>
                  </a:cubicBezTo>
                  <a:cubicBezTo>
                    <a:pt x="627698" y="173909"/>
                    <a:pt x="631508" y="261539"/>
                    <a:pt x="626428" y="317419"/>
                  </a:cubicBezTo>
                  <a:cubicBezTo>
                    <a:pt x="622618" y="361869"/>
                    <a:pt x="613728" y="392349"/>
                    <a:pt x="597218" y="432989"/>
                  </a:cubicBezTo>
                  <a:cubicBezTo>
                    <a:pt x="578168" y="482519"/>
                    <a:pt x="541338" y="554909"/>
                    <a:pt x="510858" y="593009"/>
                  </a:cubicBezTo>
                  <a:cubicBezTo>
                    <a:pt x="491808" y="618409"/>
                    <a:pt x="471488" y="638729"/>
                    <a:pt x="451168" y="646349"/>
                  </a:cubicBezTo>
                  <a:cubicBezTo>
                    <a:pt x="434658" y="652699"/>
                    <a:pt x="419418" y="652699"/>
                    <a:pt x="402908" y="646349"/>
                  </a:cubicBezTo>
                  <a:cubicBezTo>
                    <a:pt x="377508" y="637459"/>
                    <a:pt x="343218" y="608249"/>
                    <a:pt x="321628" y="577769"/>
                  </a:cubicBezTo>
                  <a:cubicBezTo>
                    <a:pt x="297498" y="543479"/>
                    <a:pt x="279718" y="486329"/>
                    <a:pt x="273368" y="446959"/>
                  </a:cubicBezTo>
                  <a:cubicBezTo>
                    <a:pt x="269558" y="417749"/>
                    <a:pt x="273368" y="387269"/>
                    <a:pt x="277178" y="366949"/>
                  </a:cubicBezTo>
                  <a:cubicBezTo>
                    <a:pt x="279718" y="354249"/>
                    <a:pt x="282258" y="344089"/>
                    <a:pt x="288608" y="337739"/>
                  </a:cubicBezTo>
                  <a:cubicBezTo>
                    <a:pt x="294958" y="332659"/>
                    <a:pt x="306388" y="330119"/>
                    <a:pt x="314008" y="332659"/>
                  </a:cubicBezTo>
                  <a:cubicBezTo>
                    <a:pt x="321628" y="335199"/>
                    <a:pt x="329248" y="347899"/>
                    <a:pt x="334328" y="358059"/>
                  </a:cubicBezTo>
                  <a:cubicBezTo>
                    <a:pt x="340678" y="373299"/>
                    <a:pt x="344488" y="391079"/>
                    <a:pt x="343218" y="412669"/>
                  </a:cubicBezTo>
                  <a:cubicBezTo>
                    <a:pt x="340678" y="449499"/>
                    <a:pt x="317818" y="515539"/>
                    <a:pt x="301308" y="551099"/>
                  </a:cubicBezTo>
                  <a:cubicBezTo>
                    <a:pt x="291148" y="576499"/>
                    <a:pt x="280988" y="594279"/>
                    <a:pt x="265748" y="612059"/>
                  </a:cubicBezTo>
                  <a:cubicBezTo>
                    <a:pt x="250508" y="629839"/>
                    <a:pt x="230188" y="648889"/>
                    <a:pt x="209868" y="660319"/>
                  </a:cubicBezTo>
                  <a:cubicBezTo>
                    <a:pt x="189548" y="670479"/>
                    <a:pt x="165418" y="678099"/>
                    <a:pt x="143828" y="676829"/>
                  </a:cubicBezTo>
                  <a:cubicBezTo>
                    <a:pt x="124778" y="675559"/>
                    <a:pt x="103188" y="667939"/>
                    <a:pt x="86678" y="656509"/>
                  </a:cubicBezTo>
                  <a:cubicBezTo>
                    <a:pt x="71438" y="645079"/>
                    <a:pt x="60008" y="627299"/>
                    <a:pt x="51118" y="608249"/>
                  </a:cubicBezTo>
                  <a:cubicBezTo>
                    <a:pt x="39688" y="586659"/>
                    <a:pt x="30798" y="557449"/>
                    <a:pt x="28258" y="532049"/>
                  </a:cubicBezTo>
                  <a:cubicBezTo>
                    <a:pt x="25718" y="504109"/>
                    <a:pt x="30798" y="474899"/>
                    <a:pt x="34608" y="446959"/>
                  </a:cubicBezTo>
                  <a:cubicBezTo>
                    <a:pt x="39688" y="420289"/>
                    <a:pt x="40958" y="394889"/>
                    <a:pt x="52388" y="369489"/>
                  </a:cubicBezTo>
                  <a:cubicBezTo>
                    <a:pt x="67628" y="337739"/>
                    <a:pt x="103188" y="285669"/>
                    <a:pt x="128588" y="274239"/>
                  </a:cubicBezTo>
                  <a:cubicBezTo>
                    <a:pt x="145098" y="267889"/>
                    <a:pt x="162878" y="272969"/>
                    <a:pt x="178118" y="279319"/>
                  </a:cubicBezTo>
                  <a:cubicBezTo>
                    <a:pt x="195898" y="288209"/>
                    <a:pt x="214948" y="303449"/>
                    <a:pt x="226378" y="326309"/>
                  </a:cubicBezTo>
                  <a:cubicBezTo>
                    <a:pt x="244158" y="364409"/>
                    <a:pt x="247968" y="444419"/>
                    <a:pt x="242888" y="501569"/>
                  </a:cubicBezTo>
                  <a:cubicBezTo>
                    <a:pt x="236538" y="558719"/>
                    <a:pt x="208598" y="624759"/>
                    <a:pt x="192088" y="667939"/>
                  </a:cubicBezTo>
                  <a:cubicBezTo>
                    <a:pt x="180658" y="695879"/>
                    <a:pt x="173038" y="718739"/>
                    <a:pt x="159068" y="735249"/>
                  </a:cubicBezTo>
                  <a:cubicBezTo>
                    <a:pt x="146368" y="749219"/>
                    <a:pt x="129858" y="759379"/>
                    <a:pt x="115888" y="765729"/>
                  </a:cubicBezTo>
                  <a:cubicBezTo>
                    <a:pt x="101918" y="770809"/>
                    <a:pt x="89218" y="775889"/>
                    <a:pt x="75248" y="772079"/>
                  </a:cubicBezTo>
                  <a:cubicBezTo>
                    <a:pt x="56198" y="766999"/>
                    <a:pt x="25718" y="740329"/>
                    <a:pt x="13018" y="721279"/>
                  </a:cubicBezTo>
                  <a:cubicBezTo>
                    <a:pt x="4128" y="706039"/>
                    <a:pt x="1588" y="690799"/>
                    <a:pt x="318" y="673019"/>
                  </a:cubicBezTo>
                  <a:cubicBezTo>
                    <a:pt x="-952" y="651429"/>
                    <a:pt x="1588" y="617139"/>
                    <a:pt x="7938" y="600629"/>
                  </a:cubicBezTo>
                  <a:cubicBezTo>
                    <a:pt x="10478" y="590469"/>
                    <a:pt x="14288" y="585389"/>
                    <a:pt x="20638" y="579039"/>
                  </a:cubicBezTo>
                  <a:cubicBezTo>
                    <a:pt x="28258" y="572689"/>
                    <a:pt x="44768" y="563799"/>
                    <a:pt x="49848" y="566339"/>
                  </a:cubicBezTo>
                  <a:cubicBezTo>
                    <a:pt x="52388" y="567609"/>
                    <a:pt x="52388" y="579039"/>
                    <a:pt x="52388" y="579039"/>
                  </a:cubicBezTo>
                </a:path>
              </a:pathLst>
            </a:custGeom>
            <a:solidFill>
              <a:srgbClr val="0571D3"/>
            </a:solidFill>
            <a:ln cap="sq">
              <a:noFill/>
              <a:prstDash val="solid"/>
              <a:miter/>
            </a:ln>
          </p:spPr>
        </p:sp>
      </p:grpSp>
      <p:grpSp>
        <p:nvGrpSpPr>
          <p:cNvPr name="Group 68" id="68"/>
          <p:cNvGrpSpPr/>
          <p:nvPr/>
        </p:nvGrpSpPr>
        <p:grpSpPr>
          <a:xfrm rot="0">
            <a:off x="8594407" y="8173403"/>
            <a:ext cx="472440" cy="397192"/>
            <a:chOff x="0" y="0"/>
            <a:chExt cx="629920" cy="529590"/>
          </a:xfrm>
        </p:grpSpPr>
        <p:sp>
          <p:nvSpPr>
            <p:cNvPr name="Freeform 69" id="69"/>
            <p:cNvSpPr/>
            <p:nvPr/>
          </p:nvSpPr>
          <p:spPr>
            <a:xfrm flipH="false" flipV="false" rot="0">
              <a:off x="49351" y="49787"/>
              <a:ext cx="530015" cy="434299"/>
            </a:xfrm>
            <a:custGeom>
              <a:avLst/>
              <a:gdLst/>
              <a:ahLst/>
              <a:cxnLst/>
              <a:rect r="r" b="b" t="t" l="l"/>
              <a:pathLst>
                <a:path h="434299" w="530015">
                  <a:moveTo>
                    <a:pt x="133529" y="272793"/>
                  </a:moveTo>
                  <a:cubicBezTo>
                    <a:pt x="216079" y="187703"/>
                    <a:pt x="232589" y="162303"/>
                    <a:pt x="238939" y="143253"/>
                  </a:cubicBezTo>
                  <a:cubicBezTo>
                    <a:pt x="244019" y="129283"/>
                    <a:pt x="247829" y="117853"/>
                    <a:pt x="244019" y="105153"/>
                  </a:cubicBezTo>
                  <a:cubicBezTo>
                    <a:pt x="238939" y="87373"/>
                    <a:pt x="217349" y="65783"/>
                    <a:pt x="198299" y="51813"/>
                  </a:cubicBezTo>
                  <a:cubicBezTo>
                    <a:pt x="176709" y="37843"/>
                    <a:pt x="148769" y="30223"/>
                    <a:pt x="122099" y="23873"/>
                  </a:cubicBezTo>
                  <a:cubicBezTo>
                    <a:pt x="94159" y="17523"/>
                    <a:pt x="52249" y="9903"/>
                    <a:pt x="35739" y="13713"/>
                  </a:cubicBezTo>
                  <a:cubicBezTo>
                    <a:pt x="28119" y="14983"/>
                    <a:pt x="24309" y="16253"/>
                    <a:pt x="20499" y="22603"/>
                  </a:cubicBezTo>
                  <a:cubicBezTo>
                    <a:pt x="12879" y="36573"/>
                    <a:pt x="9069" y="72133"/>
                    <a:pt x="14149" y="103883"/>
                  </a:cubicBezTo>
                  <a:cubicBezTo>
                    <a:pt x="23039" y="150873"/>
                    <a:pt x="66219" y="229613"/>
                    <a:pt x="91619" y="276603"/>
                  </a:cubicBezTo>
                  <a:cubicBezTo>
                    <a:pt x="110669" y="312163"/>
                    <a:pt x="124639" y="342643"/>
                    <a:pt x="148769" y="366773"/>
                  </a:cubicBezTo>
                  <a:cubicBezTo>
                    <a:pt x="171629" y="389633"/>
                    <a:pt x="203379" y="408683"/>
                    <a:pt x="235129" y="416303"/>
                  </a:cubicBezTo>
                  <a:cubicBezTo>
                    <a:pt x="269419" y="425193"/>
                    <a:pt x="308789" y="425193"/>
                    <a:pt x="346889" y="411223"/>
                  </a:cubicBezTo>
                  <a:cubicBezTo>
                    <a:pt x="402769" y="389633"/>
                    <a:pt x="501829" y="270253"/>
                    <a:pt x="522149" y="271523"/>
                  </a:cubicBezTo>
                  <a:cubicBezTo>
                    <a:pt x="527229" y="272793"/>
                    <a:pt x="531039" y="276603"/>
                    <a:pt x="529769" y="281683"/>
                  </a:cubicBezTo>
                  <a:cubicBezTo>
                    <a:pt x="527229" y="302003"/>
                    <a:pt x="406579" y="402333"/>
                    <a:pt x="349429" y="422653"/>
                  </a:cubicBezTo>
                  <a:cubicBezTo>
                    <a:pt x="307519" y="437893"/>
                    <a:pt x="265609" y="436623"/>
                    <a:pt x="230049" y="427733"/>
                  </a:cubicBezTo>
                  <a:cubicBezTo>
                    <a:pt x="195759" y="418843"/>
                    <a:pt x="166549" y="402333"/>
                    <a:pt x="138609" y="374393"/>
                  </a:cubicBezTo>
                  <a:cubicBezTo>
                    <a:pt x="99239" y="333753"/>
                    <a:pt x="62409" y="244853"/>
                    <a:pt x="38279" y="194053"/>
                  </a:cubicBezTo>
                  <a:cubicBezTo>
                    <a:pt x="21769" y="158493"/>
                    <a:pt x="5259" y="133093"/>
                    <a:pt x="1449" y="102613"/>
                  </a:cubicBezTo>
                  <a:cubicBezTo>
                    <a:pt x="-2361" y="73403"/>
                    <a:pt x="1449" y="31493"/>
                    <a:pt x="11609" y="16253"/>
                  </a:cubicBezTo>
                  <a:cubicBezTo>
                    <a:pt x="17959" y="7363"/>
                    <a:pt x="24309" y="3553"/>
                    <a:pt x="35739" y="1013"/>
                  </a:cubicBezTo>
                  <a:cubicBezTo>
                    <a:pt x="56059" y="-2797"/>
                    <a:pt x="97969" y="4823"/>
                    <a:pt x="127179" y="12443"/>
                  </a:cubicBezTo>
                  <a:cubicBezTo>
                    <a:pt x="155119" y="20063"/>
                    <a:pt x="184329" y="27683"/>
                    <a:pt x="207189" y="42923"/>
                  </a:cubicBezTo>
                  <a:cubicBezTo>
                    <a:pt x="227509" y="58163"/>
                    <a:pt x="250369" y="83563"/>
                    <a:pt x="255449" y="102613"/>
                  </a:cubicBezTo>
                  <a:cubicBezTo>
                    <a:pt x="260529" y="117853"/>
                    <a:pt x="255449" y="133093"/>
                    <a:pt x="250369" y="148333"/>
                  </a:cubicBezTo>
                  <a:cubicBezTo>
                    <a:pt x="242749" y="169923"/>
                    <a:pt x="226239" y="195323"/>
                    <a:pt x="209729" y="216913"/>
                  </a:cubicBezTo>
                  <a:cubicBezTo>
                    <a:pt x="190679" y="239773"/>
                    <a:pt x="152579" y="282953"/>
                    <a:pt x="141149" y="282953"/>
                  </a:cubicBezTo>
                  <a:cubicBezTo>
                    <a:pt x="137339" y="281683"/>
                    <a:pt x="133529" y="272793"/>
                    <a:pt x="133529" y="272793"/>
                  </a:cubicBezTo>
                </a:path>
              </a:pathLst>
            </a:custGeom>
            <a:solidFill>
              <a:srgbClr val="0571D3"/>
            </a:solidFill>
            <a:ln cap="sq">
              <a:noFill/>
              <a:prstDash val="solid"/>
              <a:miter/>
            </a:ln>
          </p:spPr>
        </p:sp>
      </p:grpSp>
      <p:grpSp>
        <p:nvGrpSpPr>
          <p:cNvPr name="Group 70" id="70"/>
          <p:cNvGrpSpPr/>
          <p:nvPr/>
        </p:nvGrpSpPr>
        <p:grpSpPr>
          <a:xfrm rot="0">
            <a:off x="10558462" y="8721090"/>
            <a:ext cx="500062" cy="575310"/>
            <a:chOff x="0" y="0"/>
            <a:chExt cx="666750" cy="767080"/>
          </a:xfrm>
        </p:grpSpPr>
        <p:sp>
          <p:nvSpPr>
            <p:cNvPr name="Freeform 71" id="71"/>
            <p:cNvSpPr/>
            <p:nvPr/>
          </p:nvSpPr>
          <p:spPr>
            <a:xfrm flipH="false" flipV="false" rot="0">
              <a:off x="50357" y="50712"/>
              <a:ext cx="565621" cy="668473"/>
            </a:xfrm>
            <a:custGeom>
              <a:avLst/>
              <a:gdLst/>
              <a:ahLst/>
              <a:cxnLst/>
              <a:rect r="r" b="b" t="t" l="l"/>
              <a:pathLst>
                <a:path h="668473" w="565621">
                  <a:moveTo>
                    <a:pt x="486853" y="69938"/>
                  </a:moveTo>
                  <a:cubicBezTo>
                    <a:pt x="450023" y="19138"/>
                    <a:pt x="434783" y="12788"/>
                    <a:pt x="417003" y="12788"/>
                  </a:cubicBezTo>
                  <a:cubicBezTo>
                    <a:pt x="394143" y="11518"/>
                    <a:pt x="364933" y="22948"/>
                    <a:pt x="330643" y="39458"/>
                  </a:cubicBezTo>
                  <a:cubicBezTo>
                    <a:pt x="274763" y="66128"/>
                    <a:pt x="168083" y="147408"/>
                    <a:pt x="123633" y="181698"/>
                  </a:cubicBezTo>
                  <a:cubicBezTo>
                    <a:pt x="102043" y="198208"/>
                    <a:pt x="90613" y="207098"/>
                    <a:pt x="76643" y="223608"/>
                  </a:cubicBezTo>
                  <a:cubicBezTo>
                    <a:pt x="60133" y="242658"/>
                    <a:pt x="42353" y="266788"/>
                    <a:pt x="32193" y="293458"/>
                  </a:cubicBezTo>
                  <a:cubicBezTo>
                    <a:pt x="19493" y="323938"/>
                    <a:pt x="15683" y="364578"/>
                    <a:pt x="13143" y="398868"/>
                  </a:cubicBezTo>
                  <a:cubicBezTo>
                    <a:pt x="11873" y="431888"/>
                    <a:pt x="13143" y="464908"/>
                    <a:pt x="18223" y="495388"/>
                  </a:cubicBezTo>
                  <a:cubicBezTo>
                    <a:pt x="24573" y="522058"/>
                    <a:pt x="28383" y="549998"/>
                    <a:pt x="46163" y="572858"/>
                  </a:cubicBezTo>
                  <a:cubicBezTo>
                    <a:pt x="69023" y="603338"/>
                    <a:pt x="122363" y="641438"/>
                    <a:pt x="154113" y="651598"/>
                  </a:cubicBezTo>
                  <a:cubicBezTo>
                    <a:pt x="176973" y="659218"/>
                    <a:pt x="196023" y="657948"/>
                    <a:pt x="216343" y="651598"/>
                  </a:cubicBezTo>
                  <a:cubicBezTo>
                    <a:pt x="241743" y="643978"/>
                    <a:pt x="265873" y="624928"/>
                    <a:pt x="293813" y="600798"/>
                  </a:cubicBezTo>
                  <a:cubicBezTo>
                    <a:pt x="335723" y="563968"/>
                    <a:pt x="401763" y="490308"/>
                    <a:pt x="436053" y="444588"/>
                  </a:cubicBezTo>
                  <a:cubicBezTo>
                    <a:pt x="460183" y="412838"/>
                    <a:pt x="472883" y="392518"/>
                    <a:pt x="490663" y="356958"/>
                  </a:cubicBezTo>
                  <a:cubicBezTo>
                    <a:pt x="516063" y="308698"/>
                    <a:pt x="563053" y="176618"/>
                    <a:pt x="565593" y="177888"/>
                  </a:cubicBezTo>
                  <a:cubicBezTo>
                    <a:pt x="566863" y="177888"/>
                    <a:pt x="524953" y="313778"/>
                    <a:pt x="502093" y="363308"/>
                  </a:cubicBezTo>
                  <a:cubicBezTo>
                    <a:pt x="484313" y="400138"/>
                    <a:pt x="470343" y="420458"/>
                    <a:pt x="446213" y="452208"/>
                  </a:cubicBezTo>
                  <a:cubicBezTo>
                    <a:pt x="410653" y="499198"/>
                    <a:pt x="344613" y="574128"/>
                    <a:pt x="301433" y="610958"/>
                  </a:cubicBezTo>
                  <a:cubicBezTo>
                    <a:pt x="270953" y="636358"/>
                    <a:pt x="245553" y="656678"/>
                    <a:pt x="217613" y="664298"/>
                  </a:cubicBezTo>
                  <a:cubicBezTo>
                    <a:pt x="194753" y="670648"/>
                    <a:pt x="170623" y="669378"/>
                    <a:pt x="149033" y="663028"/>
                  </a:cubicBezTo>
                  <a:cubicBezTo>
                    <a:pt x="127443" y="656678"/>
                    <a:pt x="105853" y="642708"/>
                    <a:pt x="86803" y="627468"/>
                  </a:cubicBezTo>
                  <a:cubicBezTo>
                    <a:pt x="67753" y="613498"/>
                    <a:pt x="47433" y="598258"/>
                    <a:pt x="34733" y="577938"/>
                  </a:cubicBezTo>
                  <a:cubicBezTo>
                    <a:pt x="19493" y="555078"/>
                    <a:pt x="11873" y="524598"/>
                    <a:pt x="6793" y="495388"/>
                  </a:cubicBezTo>
                  <a:cubicBezTo>
                    <a:pt x="443" y="464908"/>
                    <a:pt x="-827" y="430618"/>
                    <a:pt x="443" y="397598"/>
                  </a:cubicBezTo>
                  <a:cubicBezTo>
                    <a:pt x="2983" y="360768"/>
                    <a:pt x="8063" y="318858"/>
                    <a:pt x="20763" y="287108"/>
                  </a:cubicBezTo>
                  <a:cubicBezTo>
                    <a:pt x="32193" y="259168"/>
                    <a:pt x="47433" y="237578"/>
                    <a:pt x="67753" y="214718"/>
                  </a:cubicBezTo>
                  <a:cubicBezTo>
                    <a:pt x="93153" y="185508"/>
                    <a:pt x="126173" y="158838"/>
                    <a:pt x="163003" y="130898"/>
                  </a:cubicBezTo>
                  <a:cubicBezTo>
                    <a:pt x="209993" y="96608"/>
                    <a:pt x="278573" y="48348"/>
                    <a:pt x="326833" y="26758"/>
                  </a:cubicBezTo>
                  <a:cubicBezTo>
                    <a:pt x="361123" y="11518"/>
                    <a:pt x="394143" y="-1182"/>
                    <a:pt x="419543" y="88"/>
                  </a:cubicBezTo>
                  <a:cubicBezTo>
                    <a:pt x="439863" y="1358"/>
                    <a:pt x="456373" y="10248"/>
                    <a:pt x="470343" y="20408"/>
                  </a:cubicBezTo>
                  <a:cubicBezTo>
                    <a:pt x="483043" y="29298"/>
                    <a:pt x="495743" y="44538"/>
                    <a:pt x="499553" y="54698"/>
                  </a:cubicBezTo>
                  <a:cubicBezTo>
                    <a:pt x="500823" y="62318"/>
                    <a:pt x="500823" y="72478"/>
                    <a:pt x="498283" y="73748"/>
                  </a:cubicBezTo>
                  <a:cubicBezTo>
                    <a:pt x="495743" y="75018"/>
                    <a:pt x="486853" y="69938"/>
                    <a:pt x="486853" y="69938"/>
                  </a:cubicBezTo>
                </a:path>
              </a:pathLst>
            </a:custGeom>
            <a:solidFill>
              <a:srgbClr val="0571D3"/>
            </a:solidFill>
            <a:ln cap="sq">
              <a:noFill/>
              <a:prstDash val="solid"/>
              <a:miter/>
            </a:ln>
          </p:spPr>
        </p:sp>
      </p:grpSp>
      <p:grpSp>
        <p:nvGrpSpPr>
          <p:cNvPr name="Group 72" id="72"/>
          <p:cNvGrpSpPr/>
          <p:nvPr/>
        </p:nvGrpSpPr>
        <p:grpSpPr>
          <a:xfrm rot="0">
            <a:off x="10752772" y="8503920"/>
            <a:ext cx="409575" cy="603885"/>
            <a:chOff x="0" y="0"/>
            <a:chExt cx="546100" cy="805180"/>
          </a:xfrm>
        </p:grpSpPr>
        <p:sp>
          <p:nvSpPr>
            <p:cNvPr name="Freeform 73" id="73"/>
            <p:cNvSpPr/>
            <p:nvPr/>
          </p:nvSpPr>
          <p:spPr>
            <a:xfrm flipH="false" flipV="false" rot="0">
              <a:off x="50800" y="50525"/>
              <a:ext cx="444515" cy="704052"/>
            </a:xfrm>
            <a:custGeom>
              <a:avLst/>
              <a:gdLst/>
              <a:ahLst/>
              <a:cxnLst/>
              <a:rect r="r" b="b" t="t" l="l"/>
              <a:pathLst>
                <a:path h="704052" w="444515">
                  <a:moveTo>
                    <a:pt x="0" y="152675"/>
                  </a:moveTo>
                  <a:cubicBezTo>
                    <a:pt x="45720" y="6625"/>
                    <a:pt x="50800" y="275"/>
                    <a:pt x="60960" y="275"/>
                  </a:cubicBezTo>
                  <a:cubicBezTo>
                    <a:pt x="77470" y="-2265"/>
                    <a:pt x="107950" y="12975"/>
                    <a:pt x="133350" y="37105"/>
                  </a:cubicBezTo>
                  <a:cubicBezTo>
                    <a:pt x="184150" y="84095"/>
                    <a:pt x="250190" y="226335"/>
                    <a:pt x="295910" y="315235"/>
                  </a:cubicBezTo>
                  <a:cubicBezTo>
                    <a:pt x="334010" y="391435"/>
                    <a:pt x="365760" y="467635"/>
                    <a:pt x="391160" y="536215"/>
                  </a:cubicBezTo>
                  <a:cubicBezTo>
                    <a:pt x="412750" y="595905"/>
                    <a:pt x="452120" y="691155"/>
                    <a:pt x="443230" y="702585"/>
                  </a:cubicBezTo>
                  <a:cubicBezTo>
                    <a:pt x="441960" y="705125"/>
                    <a:pt x="431800" y="703855"/>
                    <a:pt x="431800" y="702585"/>
                  </a:cubicBezTo>
                  <a:cubicBezTo>
                    <a:pt x="431800" y="702585"/>
                    <a:pt x="443230" y="697505"/>
                    <a:pt x="443230" y="697505"/>
                  </a:cubicBezTo>
                  <a:cubicBezTo>
                    <a:pt x="443230" y="697505"/>
                    <a:pt x="436880" y="703855"/>
                    <a:pt x="431800" y="701315"/>
                  </a:cubicBezTo>
                  <a:cubicBezTo>
                    <a:pt x="405130" y="688615"/>
                    <a:pt x="339090" y="435885"/>
                    <a:pt x="284480" y="320315"/>
                  </a:cubicBezTo>
                  <a:cubicBezTo>
                    <a:pt x="236220" y="219985"/>
                    <a:pt x="173990" y="94255"/>
                    <a:pt x="127000" y="47265"/>
                  </a:cubicBezTo>
                  <a:cubicBezTo>
                    <a:pt x="104140" y="24405"/>
                    <a:pt x="78740" y="4085"/>
                    <a:pt x="62230" y="10435"/>
                  </a:cubicBezTo>
                  <a:cubicBezTo>
                    <a:pt x="40640" y="19325"/>
                    <a:pt x="35560" y="104415"/>
                    <a:pt x="25400" y="131085"/>
                  </a:cubicBezTo>
                  <a:cubicBezTo>
                    <a:pt x="19050" y="145055"/>
                    <a:pt x="13970" y="159025"/>
                    <a:pt x="8890" y="160295"/>
                  </a:cubicBezTo>
                  <a:cubicBezTo>
                    <a:pt x="6350" y="161565"/>
                    <a:pt x="0" y="152675"/>
                    <a:pt x="0" y="152675"/>
                  </a:cubicBezTo>
                </a:path>
              </a:pathLst>
            </a:custGeom>
            <a:solidFill>
              <a:srgbClr val="0571D3"/>
            </a:solidFill>
            <a:ln cap="sq">
              <a:noFill/>
              <a:prstDash val="solid"/>
              <a:miter/>
            </a:ln>
          </p:spPr>
        </p:sp>
      </p:grpSp>
      <p:grpSp>
        <p:nvGrpSpPr>
          <p:cNvPr name="Group 74" id="74"/>
          <p:cNvGrpSpPr/>
          <p:nvPr/>
        </p:nvGrpSpPr>
        <p:grpSpPr>
          <a:xfrm rot="0">
            <a:off x="11236643" y="8605838"/>
            <a:ext cx="502920" cy="400050"/>
            <a:chOff x="0" y="0"/>
            <a:chExt cx="670560" cy="533400"/>
          </a:xfrm>
        </p:grpSpPr>
        <p:sp>
          <p:nvSpPr>
            <p:cNvPr name="Freeform 75" id="75"/>
            <p:cNvSpPr/>
            <p:nvPr/>
          </p:nvSpPr>
          <p:spPr>
            <a:xfrm flipH="false" flipV="false" rot="0">
              <a:off x="50357" y="50371"/>
              <a:ext cx="568531" cy="431670"/>
            </a:xfrm>
            <a:custGeom>
              <a:avLst/>
              <a:gdLst/>
              <a:ahLst/>
              <a:cxnLst/>
              <a:rect r="r" b="b" t="t" l="l"/>
              <a:pathLst>
                <a:path h="431670" w="568531">
                  <a:moveTo>
                    <a:pt x="79183" y="428419"/>
                  </a:moveTo>
                  <a:cubicBezTo>
                    <a:pt x="86803" y="377619"/>
                    <a:pt x="118553" y="348409"/>
                    <a:pt x="138873" y="310309"/>
                  </a:cubicBezTo>
                  <a:cubicBezTo>
                    <a:pt x="169353" y="255699"/>
                    <a:pt x="229043" y="150289"/>
                    <a:pt x="231583" y="96949"/>
                  </a:cubicBezTo>
                  <a:cubicBezTo>
                    <a:pt x="232853" y="66469"/>
                    <a:pt x="220153" y="37259"/>
                    <a:pt x="208723" y="23289"/>
                  </a:cubicBezTo>
                  <a:cubicBezTo>
                    <a:pt x="199833" y="15669"/>
                    <a:pt x="188403" y="13129"/>
                    <a:pt x="176973" y="11859"/>
                  </a:cubicBezTo>
                  <a:cubicBezTo>
                    <a:pt x="165543" y="11859"/>
                    <a:pt x="154113" y="13129"/>
                    <a:pt x="141413" y="19479"/>
                  </a:cubicBezTo>
                  <a:cubicBezTo>
                    <a:pt x="117283" y="33449"/>
                    <a:pt x="76643" y="71549"/>
                    <a:pt x="55053" y="104569"/>
                  </a:cubicBezTo>
                  <a:cubicBezTo>
                    <a:pt x="33463" y="138859"/>
                    <a:pt x="16953" y="188389"/>
                    <a:pt x="13143" y="222679"/>
                  </a:cubicBezTo>
                  <a:cubicBezTo>
                    <a:pt x="10603" y="246809"/>
                    <a:pt x="13143" y="267129"/>
                    <a:pt x="19493" y="286179"/>
                  </a:cubicBezTo>
                  <a:cubicBezTo>
                    <a:pt x="25843" y="305229"/>
                    <a:pt x="33463" y="323009"/>
                    <a:pt x="48703" y="336979"/>
                  </a:cubicBezTo>
                  <a:cubicBezTo>
                    <a:pt x="67753" y="357299"/>
                    <a:pt x="102043" y="376349"/>
                    <a:pt x="136333" y="385239"/>
                  </a:cubicBezTo>
                  <a:cubicBezTo>
                    <a:pt x="182053" y="396669"/>
                    <a:pt x="246823" y="401749"/>
                    <a:pt x="300163" y="382699"/>
                  </a:cubicBezTo>
                  <a:cubicBezTo>
                    <a:pt x="363663" y="358569"/>
                    <a:pt x="438593" y="282369"/>
                    <a:pt x="481773" y="226489"/>
                  </a:cubicBezTo>
                  <a:cubicBezTo>
                    <a:pt x="518603" y="182039"/>
                    <a:pt x="540193" y="93139"/>
                    <a:pt x="556703" y="84249"/>
                  </a:cubicBezTo>
                  <a:cubicBezTo>
                    <a:pt x="561783" y="82979"/>
                    <a:pt x="568133" y="86789"/>
                    <a:pt x="568133" y="88059"/>
                  </a:cubicBezTo>
                  <a:cubicBezTo>
                    <a:pt x="568133" y="88059"/>
                    <a:pt x="556703" y="85519"/>
                    <a:pt x="556703" y="85519"/>
                  </a:cubicBezTo>
                  <a:cubicBezTo>
                    <a:pt x="556703" y="85519"/>
                    <a:pt x="566863" y="86789"/>
                    <a:pt x="568133" y="90599"/>
                  </a:cubicBezTo>
                  <a:cubicBezTo>
                    <a:pt x="573213" y="105839"/>
                    <a:pt x="528763" y="189659"/>
                    <a:pt x="490663" y="235379"/>
                  </a:cubicBezTo>
                  <a:cubicBezTo>
                    <a:pt x="444943" y="292529"/>
                    <a:pt x="354773" y="371269"/>
                    <a:pt x="302703" y="394129"/>
                  </a:cubicBezTo>
                  <a:cubicBezTo>
                    <a:pt x="272223" y="408099"/>
                    <a:pt x="250633" y="404289"/>
                    <a:pt x="222693" y="405559"/>
                  </a:cubicBezTo>
                  <a:cubicBezTo>
                    <a:pt x="193483" y="405559"/>
                    <a:pt x="160463" y="405559"/>
                    <a:pt x="131253" y="396669"/>
                  </a:cubicBezTo>
                  <a:cubicBezTo>
                    <a:pt x="99503" y="386509"/>
                    <a:pt x="58863" y="366189"/>
                    <a:pt x="38543" y="344599"/>
                  </a:cubicBezTo>
                  <a:cubicBezTo>
                    <a:pt x="22033" y="328089"/>
                    <a:pt x="13143" y="309039"/>
                    <a:pt x="6793" y="288719"/>
                  </a:cubicBezTo>
                  <a:cubicBezTo>
                    <a:pt x="443" y="267129"/>
                    <a:pt x="-827" y="242999"/>
                    <a:pt x="443" y="220139"/>
                  </a:cubicBezTo>
                  <a:cubicBezTo>
                    <a:pt x="1713" y="197279"/>
                    <a:pt x="6793" y="175689"/>
                    <a:pt x="14413" y="154099"/>
                  </a:cubicBezTo>
                  <a:cubicBezTo>
                    <a:pt x="22033" y="133779"/>
                    <a:pt x="30923" y="115999"/>
                    <a:pt x="46163" y="95679"/>
                  </a:cubicBezTo>
                  <a:cubicBezTo>
                    <a:pt x="67753" y="67739"/>
                    <a:pt x="110933" y="22019"/>
                    <a:pt x="137603" y="8049"/>
                  </a:cubicBezTo>
                  <a:cubicBezTo>
                    <a:pt x="152843" y="429"/>
                    <a:pt x="166813" y="-841"/>
                    <a:pt x="180783" y="429"/>
                  </a:cubicBezTo>
                  <a:cubicBezTo>
                    <a:pt x="193483" y="1699"/>
                    <a:pt x="207453" y="5509"/>
                    <a:pt x="217613" y="16939"/>
                  </a:cubicBezTo>
                  <a:cubicBezTo>
                    <a:pt x="231583" y="32179"/>
                    <a:pt x="245553" y="66469"/>
                    <a:pt x="244283" y="99489"/>
                  </a:cubicBezTo>
                  <a:cubicBezTo>
                    <a:pt x="241743" y="155369"/>
                    <a:pt x="179513" y="263319"/>
                    <a:pt x="149033" y="317929"/>
                  </a:cubicBezTo>
                  <a:cubicBezTo>
                    <a:pt x="129983" y="353489"/>
                    <a:pt x="99503" y="380159"/>
                    <a:pt x="91883" y="401749"/>
                  </a:cubicBezTo>
                  <a:cubicBezTo>
                    <a:pt x="88073" y="413179"/>
                    <a:pt x="95693" y="428419"/>
                    <a:pt x="91883" y="430959"/>
                  </a:cubicBezTo>
                  <a:cubicBezTo>
                    <a:pt x="89343" y="433499"/>
                    <a:pt x="79183" y="428419"/>
                    <a:pt x="79183" y="428419"/>
                  </a:cubicBezTo>
                </a:path>
              </a:pathLst>
            </a:custGeom>
            <a:solidFill>
              <a:srgbClr val="0571D3"/>
            </a:solidFill>
            <a:ln cap="sq">
              <a:noFill/>
              <a:prstDash val="solid"/>
              <a:miter/>
            </a:ln>
          </p:spPr>
        </p:sp>
      </p:grpSp>
      <p:grpSp>
        <p:nvGrpSpPr>
          <p:cNvPr name="Group 76" id="76"/>
          <p:cNvGrpSpPr/>
          <p:nvPr/>
        </p:nvGrpSpPr>
        <p:grpSpPr>
          <a:xfrm rot="0">
            <a:off x="11603355" y="8495348"/>
            <a:ext cx="352425" cy="461010"/>
            <a:chOff x="0" y="0"/>
            <a:chExt cx="469900" cy="614680"/>
          </a:xfrm>
        </p:grpSpPr>
        <p:sp>
          <p:nvSpPr>
            <p:cNvPr name="Freeform 77" id="77"/>
            <p:cNvSpPr/>
            <p:nvPr/>
          </p:nvSpPr>
          <p:spPr>
            <a:xfrm flipH="false" flipV="false" rot="0">
              <a:off x="50632" y="50800"/>
              <a:ext cx="368578" cy="513086"/>
            </a:xfrm>
            <a:custGeom>
              <a:avLst/>
              <a:gdLst/>
              <a:ahLst/>
              <a:cxnLst/>
              <a:rect r="r" b="b" t="t" l="l"/>
              <a:pathLst>
                <a:path h="513086" w="368578">
                  <a:moveTo>
                    <a:pt x="5248" y="0"/>
                  </a:moveTo>
                  <a:cubicBezTo>
                    <a:pt x="68748" y="16510"/>
                    <a:pt x="155108" y="111760"/>
                    <a:pt x="200828" y="170180"/>
                  </a:cubicBezTo>
                  <a:cubicBezTo>
                    <a:pt x="242738" y="222250"/>
                    <a:pt x="273218" y="275590"/>
                    <a:pt x="301158" y="332740"/>
                  </a:cubicBezTo>
                  <a:cubicBezTo>
                    <a:pt x="329098" y="389890"/>
                    <a:pt x="371008" y="511810"/>
                    <a:pt x="368468" y="513080"/>
                  </a:cubicBezTo>
                  <a:cubicBezTo>
                    <a:pt x="365928" y="514350"/>
                    <a:pt x="285918" y="323850"/>
                    <a:pt x="251628" y="264160"/>
                  </a:cubicBezTo>
                  <a:cubicBezTo>
                    <a:pt x="230038" y="227330"/>
                    <a:pt x="218608" y="210820"/>
                    <a:pt x="191938" y="179070"/>
                  </a:cubicBezTo>
                  <a:cubicBezTo>
                    <a:pt x="152568" y="132080"/>
                    <a:pt x="64938" y="27940"/>
                    <a:pt x="30648" y="12700"/>
                  </a:cubicBezTo>
                  <a:cubicBezTo>
                    <a:pt x="17948" y="6350"/>
                    <a:pt x="2708" y="15240"/>
                    <a:pt x="168" y="11430"/>
                  </a:cubicBezTo>
                  <a:cubicBezTo>
                    <a:pt x="-1102" y="8890"/>
                    <a:pt x="5248" y="0"/>
                    <a:pt x="5248" y="0"/>
                  </a:cubicBezTo>
                </a:path>
              </a:pathLst>
            </a:custGeom>
            <a:solidFill>
              <a:srgbClr val="0571D3"/>
            </a:solidFill>
            <a:ln cap="sq">
              <a:noFill/>
              <a:prstDash val="solid"/>
              <a:miter/>
            </a:ln>
          </p:spPr>
        </p:sp>
      </p:grpSp>
      <p:grpSp>
        <p:nvGrpSpPr>
          <p:cNvPr name="Group 78" id="78"/>
          <p:cNvGrpSpPr/>
          <p:nvPr/>
        </p:nvGrpSpPr>
        <p:grpSpPr>
          <a:xfrm rot="0">
            <a:off x="11620500" y="8288655"/>
            <a:ext cx="460057" cy="445770"/>
            <a:chOff x="0" y="0"/>
            <a:chExt cx="613410" cy="594360"/>
          </a:xfrm>
        </p:grpSpPr>
        <p:sp>
          <p:nvSpPr>
            <p:cNvPr name="Freeform 79" id="79"/>
            <p:cNvSpPr/>
            <p:nvPr/>
          </p:nvSpPr>
          <p:spPr>
            <a:xfrm flipH="false" flipV="false" rot="0">
              <a:off x="50800" y="48719"/>
              <a:ext cx="513891" cy="495241"/>
            </a:xfrm>
            <a:custGeom>
              <a:avLst/>
              <a:gdLst/>
              <a:ahLst/>
              <a:cxnLst/>
              <a:rect r="r" b="b" t="t" l="l"/>
              <a:pathLst>
                <a:path h="495241" w="513891">
                  <a:moveTo>
                    <a:pt x="162560" y="290371"/>
                  </a:moveTo>
                  <a:cubicBezTo>
                    <a:pt x="39370" y="197661"/>
                    <a:pt x="45720" y="184961"/>
                    <a:pt x="58420" y="170991"/>
                  </a:cubicBezTo>
                  <a:cubicBezTo>
                    <a:pt x="93980" y="131621"/>
                    <a:pt x="290830" y="56691"/>
                    <a:pt x="356870" y="28751"/>
                  </a:cubicBezTo>
                  <a:cubicBezTo>
                    <a:pt x="388620" y="14781"/>
                    <a:pt x="406400" y="4621"/>
                    <a:pt x="427990" y="2081"/>
                  </a:cubicBezTo>
                  <a:cubicBezTo>
                    <a:pt x="444500" y="-459"/>
                    <a:pt x="461010" y="-1729"/>
                    <a:pt x="474980" y="4621"/>
                  </a:cubicBezTo>
                  <a:cubicBezTo>
                    <a:pt x="487680" y="9701"/>
                    <a:pt x="502920" y="21131"/>
                    <a:pt x="509270" y="33831"/>
                  </a:cubicBezTo>
                  <a:cubicBezTo>
                    <a:pt x="515620" y="47801"/>
                    <a:pt x="514350" y="68121"/>
                    <a:pt x="511810" y="87171"/>
                  </a:cubicBezTo>
                  <a:cubicBezTo>
                    <a:pt x="508000" y="111301"/>
                    <a:pt x="500380" y="135431"/>
                    <a:pt x="483870" y="163371"/>
                  </a:cubicBezTo>
                  <a:cubicBezTo>
                    <a:pt x="457200" y="210361"/>
                    <a:pt x="402590" y="284021"/>
                    <a:pt x="346710" y="331011"/>
                  </a:cubicBezTo>
                  <a:cubicBezTo>
                    <a:pt x="287020" y="381811"/>
                    <a:pt x="196850" y="426261"/>
                    <a:pt x="133350" y="454201"/>
                  </a:cubicBezTo>
                  <a:cubicBezTo>
                    <a:pt x="87630" y="474521"/>
                    <a:pt x="24130" y="498651"/>
                    <a:pt x="7620" y="494841"/>
                  </a:cubicBezTo>
                  <a:cubicBezTo>
                    <a:pt x="2540" y="493571"/>
                    <a:pt x="0" y="485951"/>
                    <a:pt x="0" y="485951"/>
                  </a:cubicBezTo>
                  <a:cubicBezTo>
                    <a:pt x="0" y="485951"/>
                    <a:pt x="7620" y="494841"/>
                    <a:pt x="7620" y="494841"/>
                  </a:cubicBezTo>
                  <a:cubicBezTo>
                    <a:pt x="8890" y="493571"/>
                    <a:pt x="1270" y="485951"/>
                    <a:pt x="3810" y="482141"/>
                  </a:cubicBezTo>
                  <a:cubicBezTo>
                    <a:pt x="10160" y="469441"/>
                    <a:pt x="82550" y="463091"/>
                    <a:pt x="128270" y="442771"/>
                  </a:cubicBezTo>
                  <a:cubicBezTo>
                    <a:pt x="190500" y="414831"/>
                    <a:pt x="278130" y="371651"/>
                    <a:pt x="336550" y="322121"/>
                  </a:cubicBezTo>
                  <a:cubicBezTo>
                    <a:pt x="392430" y="276401"/>
                    <a:pt x="445770" y="204011"/>
                    <a:pt x="472440" y="159561"/>
                  </a:cubicBezTo>
                  <a:cubicBezTo>
                    <a:pt x="487680" y="131621"/>
                    <a:pt x="495300" y="108761"/>
                    <a:pt x="499110" y="87171"/>
                  </a:cubicBezTo>
                  <a:cubicBezTo>
                    <a:pt x="501650" y="70661"/>
                    <a:pt x="504190" y="51611"/>
                    <a:pt x="499110" y="40181"/>
                  </a:cubicBezTo>
                  <a:cubicBezTo>
                    <a:pt x="494030" y="30021"/>
                    <a:pt x="482600" y="21131"/>
                    <a:pt x="472440" y="16051"/>
                  </a:cubicBezTo>
                  <a:cubicBezTo>
                    <a:pt x="461010" y="10971"/>
                    <a:pt x="447040" y="10971"/>
                    <a:pt x="431800" y="13511"/>
                  </a:cubicBezTo>
                  <a:cubicBezTo>
                    <a:pt x="411480" y="17321"/>
                    <a:pt x="392430" y="27481"/>
                    <a:pt x="361950" y="40181"/>
                  </a:cubicBezTo>
                  <a:cubicBezTo>
                    <a:pt x="297180" y="66851"/>
                    <a:pt x="104140" y="141781"/>
                    <a:pt x="68580" y="177341"/>
                  </a:cubicBezTo>
                  <a:cubicBezTo>
                    <a:pt x="57150" y="190041"/>
                    <a:pt x="50800" y="198931"/>
                    <a:pt x="54610" y="210361"/>
                  </a:cubicBezTo>
                  <a:cubicBezTo>
                    <a:pt x="62230" y="231951"/>
                    <a:pt x="166370" y="264971"/>
                    <a:pt x="170180" y="278941"/>
                  </a:cubicBezTo>
                  <a:cubicBezTo>
                    <a:pt x="170180" y="284021"/>
                    <a:pt x="162560" y="290371"/>
                    <a:pt x="162560" y="290371"/>
                  </a:cubicBezTo>
                </a:path>
              </a:pathLst>
            </a:custGeom>
            <a:solidFill>
              <a:srgbClr val="0571D3"/>
            </a:solidFill>
            <a:ln cap="sq">
              <a:noFill/>
              <a:prstDash val="solid"/>
              <a:miter/>
            </a:ln>
          </p:spPr>
        </p:sp>
      </p:grpSp>
      <p:grpSp>
        <p:nvGrpSpPr>
          <p:cNvPr name="Group 80" id="80"/>
          <p:cNvGrpSpPr/>
          <p:nvPr/>
        </p:nvGrpSpPr>
        <p:grpSpPr>
          <a:xfrm rot="0">
            <a:off x="12017693" y="8261985"/>
            <a:ext cx="300038" cy="350520"/>
            <a:chOff x="0" y="0"/>
            <a:chExt cx="400050" cy="467360"/>
          </a:xfrm>
        </p:grpSpPr>
        <p:sp>
          <p:nvSpPr>
            <p:cNvPr name="Freeform 81" id="81"/>
            <p:cNvSpPr/>
            <p:nvPr/>
          </p:nvSpPr>
          <p:spPr>
            <a:xfrm flipH="false" flipV="false" rot="0">
              <a:off x="50608" y="50062"/>
              <a:ext cx="297372" cy="366623"/>
            </a:xfrm>
            <a:custGeom>
              <a:avLst/>
              <a:gdLst/>
              <a:ahLst/>
              <a:cxnLst/>
              <a:rect r="r" b="b" t="t" l="l"/>
              <a:pathLst>
                <a:path h="366623" w="297372">
                  <a:moveTo>
                    <a:pt x="15432" y="358878"/>
                  </a:moveTo>
                  <a:cubicBezTo>
                    <a:pt x="122112" y="222988"/>
                    <a:pt x="138622" y="197588"/>
                    <a:pt x="144972" y="163298"/>
                  </a:cubicBezTo>
                  <a:cubicBezTo>
                    <a:pt x="151322" y="123928"/>
                    <a:pt x="150052" y="52808"/>
                    <a:pt x="132272" y="29948"/>
                  </a:cubicBezTo>
                  <a:cubicBezTo>
                    <a:pt x="120842" y="15978"/>
                    <a:pt x="100522" y="8358"/>
                    <a:pt x="85282" y="12168"/>
                  </a:cubicBezTo>
                  <a:cubicBezTo>
                    <a:pt x="64962" y="15978"/>
                    <a:pt x="34482" y="52808"/>
                    <a:pt x="23052" y="74398"/>
                  </a:cubicBezTo>
                  <a:cubicBezTo>
                    <a:pt x="14162" y="90908"/>
                    <a:pt x="11622" y="103608"/>
                    <a:pt x="12892" y="122658"/>
                  </a:cubicBezTo>
                  <a:cubicBezTo>
                    <a:pt x="14162" y="150598"/>
                    <a:pt x="26862" y="196318"/>
                    <a:pt x="49722" y="226798"/>
                  </a:cubicBezTo>
                  <a:cubicBezTo>
                    <a:pt x="73852" y="261088"/>
                    <a:pt x="118302" y="296648"/>
                    <a:pt x="158942" y="310618"/>
                  </a:cubicBezTo>
                  <a:cubicBezTo>
                    <a:pt x="199582" y="324588"/>
                    <a:pt x="278322" y="302998"/>
                    <a:pt x="293562" y="311888"/>
                  </a:cubicBezTo>
                  <a:cubicBezTo>
                    <a:pt x="297372" y="314428"/>
                    <a:pt x="297372" y="323318"/>
                    <a:pt x="297372" y="323318"/>
                  </a:cubicBezTo>
                  <a:cubicBezTo>
                    <a:pt x="297372" y="323318"/>
                    <a:pt x="293562" y="311888"/>
                    <a:pt x="292292" y="311888"/>
                  </a:cubicBezTo>
                  <a:cubicBezTo>
                    <a:pt x="291022" y="311888"/>
                    <a:pt x="296102" y="322048"/>
                    <a:pt x="293562" y="324588"/>
                  </a:cubicBezTo>
                  <a:cubicBezTo>
                    <a:pt x="282132" y="336018"/>
                    <a:pt x="195772" y="337288"/>
                    <a:pt x="153862" y="322048"/>
                  </a:cubicBezTo>
                  <a:cubicBezTo>
                    <a:pt x="110682" y="306808"/>
                    <a:pt x="63692" y="268708"/>
                    <a:pt x="38292" y="233148"/>
                  </a:cubicBezTo>
                  <a:cubicBezTo>
                    <a:pt x="15432" y="200128"/>
                    <a:pt x="1462" y="150598"/>
                    <a:pt x="192" y="120118"/>
                  </a:cubicBezTo>
                  <a:cubicBezTo>
                    <a:pt x="-1078" y="98528"/>
                    <a:pt x="4002" y="83288"/>
                    <a:pt x="14162" y="66778"/>
                  </a:cubicBezTo>
                  <a:cubicBezTo>
                    <a:pt x="26862" y="43918"/>
                    <a:pt x="58612" y="5818"/>
                    <a:pt x="82742" y="738"/>
                  </a:cubicBezTo>
                  <a:cubicBezTo>
                    <a:pt x="101792" y="-3072"/>
                    <a:pt x="128462" y="8358"/>
                    <a:pt x="142432" y="23598"/>
                  </a:cubicBezTo>
                  <a:cubicBezTo>
                    <a:pt x="157672" y="41378"/>
                    <a:pt x="158942" y="84558"/>
                    <a:pt x="160212" y="111228"/>
                  </a:cubicBezTo>
                  <a:cubicBezTo>
                    <a:pt x="162752" y="131548"/>
                    <a:pt x="162752" y="145518"/>
                    <a:pt x="156402" y="167108"/>
                  </a:cubicBezTo>
                  <a:cubicBezTo>
                    <a:pt x="150052" y="195048"/>
                    <a:pt x="132272" y="229338"/>
                    <a:pt x="113222" y="261088"/>
                  </a:cubicBezTo>
                  <a:cubicBezTo>
                    <a:pt x="90362" y="296648"/>
                    <a:pt x="40832" y="365228"/>
                    <a:pt x="25592" y="366498"/>
                  </a:cubicBezTo>
                  <a:cubicBezTo>
                    <a:pt x="21782" y="367768"/>
                    <a:pt x="15432" y="358878"/>
                    <a:pt x="15432" y="358878"/>
                  </a:cubicBezTo>
                </a:path>
              </a:pathLst>
            </a:custGeom>
            <a:solidFill>
              <a:srgbClr val="0571D3"/>
            </a:solidFill>
            <a:ln cap="sq">
              <a:noFill/>
              <a:prstDash val="solid"/>
              <a:miter/>
            </a:ln>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SE Investigation: Examples</a:t>
            </a:r>
          </a:p>
        </p:txBody>
      </p:sp>
      <p:sp>
        <p:nvSpPr>
          <p:cNvPr name="TextBox 7" id="7"/>
          <p:cNvSpPr txBox="true"/>
          <p:nvPr/>
        </p:nvSpPr>
        <p:spPr>
          <a:xfrm rot="0">
            <a:off x="1387507" y="5353926"/>
            <a:ext cx="12352763" cy="3337687"/>
          </a:xfrm>
          <a:prstGeom prst="rect">
            <a:avLst/>
          </a:prstGeom>
        </p:spPr>
        <p:txBody>
          <a:bodyPr anchor="t" rtlCol="false" tIns="0" lIns="0" bIns="0" rIns="0">
            <a:spAutoFit/>
          </a:bodyPr>
          <a:lstStyle/>
          <a:p>
            <a:pPr algn="l">
              <a:lnSpc>
                <a:spcPts val="2930"/>
              </a:lnSpc>
            </a:pPr>
            <a:r>
              <a:rPr lang="en-US" sz="2093">
                <a:solidFill>
                  <a:srgbClr val="58C94E"/>
                </a:solidFill>
                <a:latin typeface="Open Sauce"/>
                <a:ea typeface="Open Sauce"/>
                <a:cs typeface="Open Sauce"/>
                <a:sym typeface="Open Sauce"/>
              </a:rPr>
              <a:t>Exp</a:t>
            </a:r>
            <a:r>
              <a:rPr lang="en-US" sz="2093">
                <a:solidFill>
                  <a:srgbClr val="58C94E"/>
                </a:solidFill>
                <a:latin typeface="Open Sauce"/>
                <a:ea typeface="Open Sauce"/>
                <a:cs typeface="Open Sauce"/>
                <a:sym typeface="Open Sauce"/>
              </a:rPr>
              <a:t>eriment to confirm rules-of-thumb </a:t>
            </a:r>
          </a:p>
          <a:p>
            <a:pPr algn="l">
              <a:lnSpc>
                <a:spcPts val="2930"/>
              </a:lnSpc>
            </a:pPr>
            <a:r>
              <a:rPr lang="en-US" sz="2093">
                <a:solidFill>
                  <a:srgbClr val="38B6FF"/>
                </a:solidFill>
                <a:latin typeface="Open Sauce"/>
                <a:ea typeface="Open Sauce"/>
                <a:cs typeface="Open Sauce"/>
                <a:sym typeface="Open Sauce"/>
              </a:rPr>
              <a:t> Should the LOC in a module be less than 200?</a:t>
            </a:r>
          </a:p>
          <a:p>
            <a:pPr algn="l">
              <a:lnSpc>
                <a:spcPts val="2930"/>
              </a:lnSpc>
            </a:pPr>
            <a:r>
              <a:rPr lang="en-US" sz="2093">
                <a:solidFill>
                  <a:srgbClr val="58C94E"/>
                </a:solidFill>
                <a:latin typeface="Open Sauce"/>
                <a:ea typeface="Open Sauce"/>
                <a:cs typeface="Open Sauce"/>
                <a:sym typeface="Open Sauce"/>
              </a:rPr>
              <a:t> Experiment to explore relationships </a:t>
            </a:r>
          </a:p>
          <a:p>
            <a:pPr algn="l">
              <a:lnSpc>
                <a:spcPts val="2930"/>
              </a:lnSpc>
            </a:pPr>
            <a:r>
              <a:rPr lang="en-US" sz="2093">
                <a:solidFill>
                  <a:srgbClr val="38B6FF"/>
                </a:solidFill>
                <a:latin typeface="Open Sauce"/>
                <a:ea typeface="Open Sauce"/>
                <a:cs typeface="Open Sauce"/>
                <a:sym typeface="Open Sauce"/>
              </a:rPr>
              <a:t> How does the project team experience with the application affect the quality of the code?</a:t>
            </a:r>
          </a:p>
          <a:p>
            <a:pPr algn="l">
              <a:lnSpc>
                <a:spcPts val="2930"/>
              </a:lnSpc>
            </a:pPr>
            <a:r>
              <a:rPr lang="en-US" sz="2093">
                <a:solidFill>
                  <a:srgbClr val="38B6FF"/>
                </a:solidFill>
                <a:latin typeface="Open Sauce"/>
                <a:ea typeface="Open Sauce"/>
                <a:cs typeface="Open Sauce"/>
                <a:sym typeface="Open Sauce"/>
              </a:rPr>
              <a:t> How does the requirements quality affect the productivity of the designer? </a:t>
            </a:r>
          </a:p>
          <a:p>
            <a:pPr algn="l">
              <a:lnSpc>
                <a:spcPts val="2930"/>
              </a:lnSpc>
            </a:pPr>
            <a:r>
              <a:rPr lang="en-US" sz="2093">
                <a:solidFill>
                  <a:srgbClr val="38B6FF"/>
                </a:solidFill>
                <a:latin typeface="Open Sauce"/>
                <a:ea typeface="Open Sauce"/>
                <a:cs typeface="Open Sauce"/>
                <a:sym typeface="Open Sauce"/>
              </a:rPr>
              <a:t> </a:t>
            </a:r>
            <a:r>
              <a:rPr lang="en-US" sz="2093">
                <a:solidFill>
                  <a:srgbClr val="38B6FF"/>
                </a:solidFill>
                <a:latin typeface="Open Sauce"/>
                <a:ea typeface="Open Sauce"/>
                <a:cs typeface="Open Sauce"/>
                <a:sym typeface="Open Sauce"/>
              </a:rPr>
              <a:t>How does the design structure affect maintainability of the code?</a:t>
            </a:r>
          </a:p>
          <a:p>
            <a:pPr algn="l">
              <a:lnSpc>
                <a:spcPts val="2930"/>
              </a:lnSpc>
            </a:pPr>
            <a:r>
              <a:rPr lang="en-US" sz="2093">
                <a:solidFill>
                  <a:srgbClr val="58C94E"/>
                </a:solidFill>
                <a:latin typeface="Open Sauce"/>
                <a:ea typeface="Open Sauce"/>
                <a:cs typeface="Open Sauce"/>
                <a:sym typeface="Open Sauce"/>
              </a:rPr>
              <a:t> Experiment to initiate novel practices.</a:t>
            </a:r>
          </a:p>
          <a:p>
            <a:pPr algn="l">
              <a:lnSpc>
                <a:spcPts val="2930"/>
              </a:lnSpc>
            </a:pPr>
            <a:r>
              <a:rPr lang="en-US" sz="2093">
                <a:solidFill>
                  <a:srgbClr val="38B6FF"/>
                </a:solidFill>
                <a:latin typeface="Open Sauce"/>
                <a:ea typeface="Open Sauce"/>
                <a:cs typeface="Open Sauce"/>
                <a:sym typeface="Open Sauce"/>
              </a:rPr>
              <a:t>Would it be better to start OO design with UML? </a:t>
            </a:r>
          </a:p>
          <a:p>
            <a:pPr algn="l">
              <a:lnSpc>
                <a:spcPts val="2931"/>
              </a:lnSpc>
            </a:pPr>
            <a:r>
              <a:rPr lang="en-US" sz="2093">
                <a:solidFill>
                  <a:srgbClr val="38B6FF"/>
                </a:solidFill>
                <a:latin typeface="Open Sauce"/>
                <a:ea typeface="Open Sauce"/>
                <a:cs typeface="Open Sauce"/>
                <a:sym typeface="Open Sauce"/>
              </a:rPr>
              <a:t>Would the use of SRE improve software quality? </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SE Investigation: Why?</a:t>
            </a:r>
          </a:p>
        </p:txBody>
      </p:sp>
      <p:sp>
        <p:nvSpPr>
          <p:cNvPr name="TextBox 7" id="7"/>
          <p:cNvSpPr txBox="true"/>
          <p:nvPr/>
        </p:nvSpPr>
        <p:spPr>
          <a:xfrm rot="0">
            <a:off x="1387507" y="5353926"/>
            <a:ext cx="12352763" cy="3337687"/>
          </a:xfrm>
          <a:prstGeom prst="rect">
            <a:avLst/>
          </a:prstGeom>
        </p:spPr>
        <p:txBody>
          <a:bodyPr anchor="t" rtlCol="false" tIns="0" lIns="0" bIns="0" rIns="0">
            <a:spAutoFit/>
          </a:bodyPr>
          <a:lstStyle/>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To improve (process and/or product)</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 To evaluate (process and/or product)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To prove a theory or hypothesis</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 To disprove a theory or hypothesis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To understand (a scenario, a situation)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To compare (entities, properties, etc.)</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For better processes, tools, and languages to gather and analyze requirements, model designs, develop, test, and evolve applications.</a:t>
            </a:r>
          </a:p>
          <a:p>
            <a:pPr algn="l">
              <a:lnSpc>
                <a:spcPts val="2931"/>
              </a:lnSpc>
            </a:pP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SE Investigation: What?</a:t>
            </a:r>
          </a:p>
        </p:txBody>
      </p:sp>
      <p:sp>
        <p:nvSpPr>
          <p:cNvPr name="TextBox 7" id="7"/>
          <p:cNvSpPr txBox="true"/>
          <p:nvPr/>
        </p:nvSpPr>
        <p:spPr>
          <a:xfrm rot="0">
            <a:off x="1387507" y="5353926"/>
            <a:ext cx="12352763" cy="2223262"/>
          </a:xfrm>
          <a:prstGeom prst="rect">
            <a:avLst/>
          </a:prstGeom>
        </p:spPr>
        <p:txBody>
          <a:bodyPr anchor="t" rtlCol="false" tIns="0" lIns="0" bIns="0" rIns="0">
            <a:spAutoFit/>
          </a:bodyPr>
          <a:lstStyle/>
          <a:p>
            <a:pPr algn="l" marL="451879" indent="-225940" lvl="1">
              <a:lnSpc>
                <a:spcPts val="2930"/>
              </a:lnSpc>
              <a:buFont typeface="Arial"/>
              <a:buChar char="•"/>
            </a:pPr>
            <a:r>
              <a:rPr lang="en-US" sz="2093">
                <a:solidFill>
                  <a:srgbClr val="FF66C4"/>
                </a:solidFill>
                <a:latin typeface="Open Sauce"/>
                <a:ea typeface="Open Sauce"/>
                <a:cs typeface="Open Sauce"/>
                <a:sym typeface="Open Sauce"/>
              </a:rPr>
              <a:t> </a:t>
            </a:r>
            <a:r>
              <a:rPr lang="en-US" sz="2093">
                <a:solidFill>
                  <a:srgbClr val="38B6FF"/>
                </a:solidFill>
                <a:latin typeface="Open Sauce"/>
                <a:ea typeface="Open Sauce"/>
                <a:cs typeface="Open Sauce"/>
                <a:sym typeface="Open Sauce"/>
              </a:rPr>
              <a:t> developers performance</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 Tool’s performance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 Person’s perceptions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 Tool’s usability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 Document’s understandability </a:t>
            </a:r>
          </a:p>
          <a:p>
            <a:pPr algn="l" marL="451879" indent="-225939" lvl="1">
              <a:lnSpc>
                <a:spcPts val="2931"/>
              </a:lnSpc>
              <a:buFont typeface="Arial"/>
              <a:buChar char="•"/>
            </a:pPr>
            <a:r>
              <a:rPr lang="en-US" sz="2093">
                <a:solidFill>
                  <a:srgbClr val="38B6FF"/>
                </a:solidFill>
                <a:latin typeface="Open Sauce"/>
                <a:ea typeface="Open Sauce"/>
                <a:cs typeface="Open Sauce"/>
                <a:sym typeface="Open Sauce"/>
              </a:rPr>
              <a:t>Program’s complexity etc.</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SE Investigation: How?</a:t>
            </a:r>
          </a:p>
        </p:txBody>
      </p:sp>
      <p:sp>
        <p:nvSpPr>
          <p:cNvPr name="TextBox 7" id="7"/>
          <p:cNvSpPr txBox="true"/>
          <p:nvPr/>
        </p:nvSpPr>
        <p:spPr>
          <a:xfrm rot="0">
            <a:off x="1387507" y="5353926"/>
            <a:ext cx="12352763" cy="1851787"/>
          </a:xfrm>
          <a:prstGeom prst="rect">
            <a:avLst/>
          </a:prstGeom>
        </p:spPr>
        <p:txBody>
          <a:bodyPr anchor="t" rtlCol="false" tIns="0" lIns="0" bIns="0" rIns="0">
            <a:spAutoFit/>
          </a:bodyPr>
          <a:lstStyle/>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Hypot</a:t>
            </a:r>
            <a:r>
              <a:rPr lang="en-US" sz="2093">
                <a:solidFill>
                  <a:srgbClr val="38B6FF"/>
                </a:solidFill>
                <a:latin typeface="Open Sauce"/>
                <a:ea typeface="Open Sauce"/>
                <a:cs typeface="Open Sauce"/>
                <a:sym typeface="Open Sauce"/>
              </a:rPr>
              <a:t>hesis/question generation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Data collection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Data evaluation</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 Data interpretation </a:t>
            </a:r>
          </a:p>
          <a:p>
            <a:pPr algn="l" marL="451879" indent="-225939" lvl="1">
              <a:lnSpc>
                <a:spcPts val="2931"/>
              </a:lnSpc>
              <a:buFont typeface="Arial"/>
              <a:buChar char="•"/>
            </a:pPr>
            <a:r>
              <a:rPr lang="en-US" sz="2093">
                <a:solidFill>
                  <a:srgbClr val="38B6FF"/>
                </a:solidFill>
                <a:latin typeface="Open Sauce"/>
                <a:ea typeface="Open Sauce"/>
                <a:cs typeface="Open Sauce"/>
                <a:sym typeface="Open Sauce"/>
              </a:rPr>
              <a:t>Feed back into iterative proces</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SE Investigation Principles</a:t>
            </a:r>
          </a:p>
        </p:txBody>
      </p:sp>
      <p:sp>
        <p:nvSpPr>
          <p:cNvPr name="TextBox 7" id="7"/>
          <p:cNvSpPr txBox="true"/>
          <p:nvPr/>
        </p:nvSpPr>
        <p:spPr>
          <a:xfrm rot="0">
            <a:off x="1387507" y="5353926"/>
            <a:ext cx="12352763" cy="2966212"/>
          </a:xfrm>
          <a:prstGeom prst="rect">
            <a:avLst/>
          </a:prstGeom>
        </p:spPr>
        <p:txBody>
          <a:bodyPr anchor="t" rtlCol="false" tIns="0" lIns="0" bIns="0" rIns="0">
            <a:spAutoFit/>
          </a:bodyPr>
          <a:lstStyle/>
          <a:p>
            <a:pPr algn="l">
              <a:lnSpc>
                <a:spcPts val="2930"/>
              </a:lnSpc>
            </a:pPr>
            <a:r>
              <a:rPr lang="en-US" sz="2093">
                <a:solidFill>
                  <a:srgbClr val="38B6FF"/>
                </a:solidFill>
                <a:latin typeface="Open Sauce"/>
                <a:ea typeface="Open Sauce"/>
                <a:cs typeface="Open Sauce"/>
                <a:sym typeface="Open Sauce"/>
              </a:rPr>
              <a:t>There are key principles of investigation:</a:t>
            </a:r>
          </a:p>
          <a:p>
            <a:pPr algn="l">
              <a:lnSpc>
                <a:spcPts val="2930"/>
              </a:lnSpc>
            </a:pPr>
            <a:r>
              <a:rPr lang="en-US" sz="2093">
                <a:solidFill>
                  <a:srgbClr val="38B6FF"/>
                </a:solidFill>
                <a:latin typeface="Open Sauce"/>
                <a:ea typeface="Open Sauce"/>
                <a:cs typeface="Open Sauce"/>
                <a:sym typeface="Open Sauce"/>
              </a:rPr>
              <a:t> 1. Selecting investigation technique: conducting surveys, case studies, formal experiments </a:t>
            </a:r>
          </a:p>
          <a:p>
            <a:pPr algn="l">
              <a:lnSpc>
                <a:spcPts val="2930"/>
              </a:lnSpc>
            </a:pPr>
            <a:r>
              <a:rPr lang="en-US" sz="2093">
                <a:solidFill>
                  <a:srgbClr val="38B6FF"/>
                </a:solidFill>
                <a:latin typeface="Open Sauce"/>
                <a:ea typeface="Open Sauce"/>
                <a:cs typeface="Open Sauce"/>
                <a:sym typeface="Open Sauce"/>
              </a:rPr>
              <a:t>2. Stating Goal &amp; hypothesis: What should be investigated? </a:t>
            </a:r>
          </a:p>
          <a:p>
            <a:pPr algn="l">
              <a:lnSpc>
                <a:spcPts val="2930"/>
              </a:lnSpc>
            </a:pPr>
            <a:r>
              <a:rPr lang="en-US" sz="2093">
                <a:solidFill>
                  <a:srgbClr val="38B6FF"/>
                </a:solidFill>
                <a:latin typeface="Open Sauce"/>
                <a:ea typeface="Open Sauce"/>
                <a:cs typeface="Open Sauce"/>
                <a:sym typeface="Open Sauce"/>
              </a:rPr>
              <a:t>3. Maintaining control over variables: dependent and independent variables</a:t>
            </a:r>
          </a:p>
          <a:p>
            <a:pPr algn="l">
              <a:lnSpc>
                <a:spcPts val="2930"/>
              </a:lnSpc>
            </a:pPr>
            <a:r>
              <a:rPr lang="en-US" sz="2093">
                <a:solidFill>
                  <a:srgbClr val="38B6FF"/>
                </a:solidFill>
                <a:latin typeface="Open Sauce"/>
                <a:ea typeface="Open Sauce"/>
                <a:cs typeface="Open Sauce"/>
                <a:sym typeface="Open Sauce"/>
              </a:rPr>
              <a:t> 4. Treats to validity: No study is perfect; there are many ways that a study can provide misleading results.</a:t>
            </a:r>
          </a:p>
          <a:p>
            <a:pPr algn="l">
              <a:lnSpc>
                <a:spcPts val="2931"/>
              </a:lnSpc>
            </a:pPr>
            <a:r>
              <a:rPr lang="en-US" sz="2093">
                <a:solidFill>
                  <a:srgbClr val="38B6FF"/>
                </a:solidFill>
                <a:latin typeface="Open Sauce"/>
                <a:ea typeface="Open Sauce"/>
                <a:cs typeface="Open Sauce"/>
                <a:sym typeface="Open Sauce"/>
              </a:rPr>
              <a:t> 5. Human subjects: government and university regulations require that research involving human subjects meet specified standards.</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1. Selecting investigation technique</a:t>
            </a:r>
          </a:p>
        </p:txBody>
      </p:sp>
      <p:sp>
        <p:nvSpPr>
          <p:cNvPr name="TextBox 7" id="7"/>
          <p:cNvSpPr txBox="true"/>
          <p:nvPr/>
        </p:nvSpPr>
        <p:spPr>
          <a:xfrm rot="0">
            <a:off x="1387507" y="5353926"/>
            <a:ext cx="12352763" cy="2223262"/>
          </a:xfrm>
          <a:prstGeom prst="rect">
            <a:avLst/>
          </a:prstGeom>
        </p:spPr>
        <p:txBody>
          <a:bodyPr anchor="t" rtlCol="false" tIns="0" lIns="0" bIns="0" rIns="0">
            <a:spAutoFit/>
          </a:bodyPr>
          <a:lstStyle/>
          <a:p>
            <a:pPr algn="l">
              <a:lnSpc>
                <a:spcPts val="2930"/>
              </a:lnSpc>
            </a:pPr>
            <a:r>
              <a:rPr lang="en-US" sz="2093">
                <a:solidFill>
                  <a:srgbClr val="38B6FF"/>
                </a:solidFill>
                <a:latin typeface="Open Sauce"/>
                <a:ea typeface="Open Sauce"/>
                <a:cs typeface="Open Sauce"/>
                <a:sym typeface="Open Sauce"/>
              </a:rPr>
              <a:t>Three ways to investigate: </a:t>
            </a:r>
          </a:p>
          <a:p>
            <a:pPr algn="l">
              <a:lnSpc>
                <a:spcPts val="2930"/>
              </a:lnSpc>
            </a:pPr>
            <a:r>
              <a:rPr lang="en-US" sz="2093">
                <a:solidFill>
                  <a:srgbClr val="38B6FF"/>
                </a:solidFill>
                <a:latin typeface="Open Sauce"/>
                <a:ea typeface="Open Sauce"/>
                <a:cs typeface="Open Sauce"/>
                <a:sym typeface="Open Sauce"/>
              </a:rPr>
              <a:t> Formal experiment: A controlled investigation of an activity, by identifying, manipulating and documenting key factors of that activity. </a:t>
            </a:r>
          </a:p>
          <a:p>
            <a:pPr algn="l">
              <a:lnSpc>
                <a:spcPts val="2930"/>
              </a:lnSpc>
            </a:pPr>
            <a:r>
              <a:rPr lang="en-US" sz="2093">
                <a:solidFill>
                  <a:srgbClr val="38B6FF"/>
                </a:solidFill>
                <a:latin typeface="Open Sauce"/>
                <a:ea typeface="Open Sauce"/>
                <a:cs typeface="Open Sauce"/>
                <a:sym typeface="Open Sauce"/>
              </a:rPr>
              <a:t>Case study: Document an activity by identifying key factors (inputs, constraints and resources) that may affect the outcomes of that activity. </a:t>
            </a:r>
          </a:p>
          <a:p>
            <a:pPr algn="l">
              <a:lnSpc>
                <a:spcPts val="2931"/>
              </a:lnSpc>
            </a:pPr>
            <a:r>
              <a:rPr lang="en-US" sz="2093">
                <a:solidFill>
                  <a:srgbClr val="38B6FF"/>
                </a:solidFill>
                <a:latin typeface="Open Sauce"/>
                <a:ea typeface="Open Sauce"/>
                <a:cs typeface="Open Sauce"/>
                <a:sym typeface="Open Sauce"/>
              </a:rPr>
              <a:t>Survey: A retrospective study of a situation to try to document relationships and outcomes.</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Selecting investigation technique(cont.)</a:t>
            </a:r>
          </a:p>
        </p:txBody>
      </p:sp>
      <p:sp>
        <p:nvSpPr>
          <p:cNvPr name="TextBox 7" id="7"/>
          <p:cNvSpPr txBox="true"/>
          <p:nvPr/>
        </p:nvSpPr>
        <p:spPr>
          <a:xfrm rot="0">
            <a:off x="1387507" y="5353926"/>
            <a:ext cx="12352763" cy="2594737"/>
          </a:xfrm>
          <a:prstGeom prst="rect">
            <a:avLst/>
          </a:prstGeom>
        </p:spPr>
        <p:txBody>
          <a:bodyPr anchor="t" rtlCol="false" tIns="0" lIns="0" bIns="0" rIns="0">
            <a:spAutoFit/>
          </a:bodyPr>
          <a:lstStyle/>
          <a:p>
            <a:pPr algn="l">
              <a:lnSpc>
                <a:spcPts val="2930"/>
              </a:lnSpc>
            </a:pPr>
            <a:r>
              <a:rPr lang="en-US" sz="2093">
                <a:solidFill>
                  <a:srgbClr val="58C94E"/>
                </a:solidFill>
                <a:latin typeface="Open Sauce"/>
                <a:ea typeface="Open Sauce"/>
                <a:cs typeface="Open Sauce"/>
                <a:sym typeface="Open Sauce"/>
              </a:rPr>
              <a:t>Software Engineering investigation </a:t>
            </a:r>
          </a:p>
          <a:p>
            <a:pPr algn="l">
              <a:lnSpc>
                <a:spcPts val="2930"/>
              </a:lnSpc>
            </a:pPr>
            <a:r>
              <a:rPr lang="en-US" sz="2093">
                <a:solidFill>
                  <a:srgbClr val="38B6FF"/>
                </a:solidFill>
                <a:latin typeface="Open Sauce"/>
                <a:ea typeface="Open Sauce"/>
                <a:cs typeface="Open Sauce"/>
                <a:sym typeface="Open Sauce"/>
              </a:rPr>
              <a:t>experiment research in the small</a:t>
            </a:r>
          </a:p>
          <a:p>
            <a:pPr algn="l">
              <a:lnSpc>
                <a:spcPts val="2930"/>
              </a:lnSpc>
            </a:pPr>
            <a:r>
              <a:rPr lang="en-US" sz="2093">
                <a:solidFill>
                  <a:srgbClr val="38B6FF"/>
                </a:solidFill>
                <a:latin typeface="Open Sauce"/>
                <a:ea typeface="Open Sauce"/>
                <a:cs typeface="Open Sauce"/>
                <a:sym typeface="Open Sauce"/>
              </a:rPr>
              <a:t>case studies research in the typical</a:t>
            </a:r>
          </a:p>
          <a:p>
            <a:pPr algn="l">
              <a:lnSpc>
                <a:spcPts val="2931"/>
              </a:lnSpc>
            </a:pPr>
            <a:r>
              <a:rPr lang="en-US" sz="2093">
                <a:solidFill>
                  <a:srgbClr val="38B6FF"/>
                </a:solidFill>
                <a:latin typeface="Open Sauce"/>
                <a:ea typeface="Open Sauce"/>
                <a:cs typeface="Open Sauce"/>
                <a:sym typeface="Open Sauce"/>
              </a:rPr>
              <a:t>surveys research in the large</a:t>
            </a:r>
          </a:p>
          <a:p>
            <a:pPr algn="l">
              <a:lnSpc>
                <a:spcPts val="2931"/>
              </a:lnSpc>
            </a:pPr>
          </a:p>
          <a:p>
            <a:pPr algn="l">
              <a:lnSpc>
                <a:spcPts val="2931"/>
              </a:lnSpc>
            </a:pPr>
          </a:p>
          <a:p>
            <a:pPr algn="l">
              <a:lnSpc>
                <a:spcPts val="2931"/>
              </a:lnSpc>
            </a:pP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7"/>
            <a:ext cx="11403587" cy="1207321"/>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4567"/>
              </a:lnSpc>
            </a:pPr>
            <a:r>
              <a:rPr lang="en-US" sz="3262" b="true">
                <a:solidFill>
                  <a:srgbClr val="5E17EB"/>
                </a:solidFill>
                <a:latin typeface="Open Sauce Bold"/>
                <a:ea typeface="Open Sauce Bold"/>
                <a:cs typeface="Open Sauce Bold"/>
                <a:sym typeface="Open Sauce Bold"/>
              </a:rPr>
              <a:t>Guidelines to choose A particular investigation method</a:t>
            </a:r>
          </a:p>
        </p:txBody>
      </p:sp>
      <p:sp>
        <p:nvSpPr>
          <p:cNvPr name="TextBox 7" id="7"/>
          <p:cNvSpPr txBox="true"/>
          <p:nvPr/>
        </p:nvSpPr>
        <p:spPr>
          <a:xfrm rot="0">
            <a:off x="1387507" y="5353926"/>
            <a:ext cx="12352763" cy="2594737"/>
          </a:xfrm>
          <a:prstGeom prst="rect">
            <a:avLst/>
          </a:prstGeom>
        </p:spPr>
        <p:txBody>
          <a:bodyPr anchor="t" rtlCol="false" tIns="0" lIns="0" bIns="0" rIns="0">
            <a:spAutoFit/>
          </a:bodyPr>
          <a:lstStyle/>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 If t</a:t>
            </a:r>
            <a:r>
              <a:rPr lang="en-US" sz="2093">
                <a:solidFill>
                  <a:srgbClr val="38B6FF"/>
                </a:solidFill>
                <a:latin typeface="Open Sauce"/>
                <a:ea typeface="Open Sauce"/>
                <a:cs typeface="Open Sauce"/>
                <a:sym typeface="Open Sauce"/>
              </a:rPr>
              <a:t>he activity has already occurred, we can perform survey or case study.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If it is yet to occur, then case study or formal experiment may be chosen.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If we have a high level of control over the variables that can affect the outcome, then we can use an experiment.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If we have no control over the variable, then case study will be a preferred technique.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 If replication is not possible at higher levels, then experiment is not possible. </a:t>
            </a:r>
          </a:p>
          <a:p>
            <a:pPr algn="l" marL="451879" indent="-225939" lvl="1">
              <a:lnSpc>
                <a:spcPts val="2931"/>
              </a:lnSpc>
              <a:buFont typeface="Arial"/>
              <a:buChar char="•"/>
            </a:pPr>
            <a:r>
              <a:rPr lang="en-US" sz="2093">
                <a:solidFill>
                  <a:srgbClr val="38B6FF"/>
                </a:solidFill>
                <a:latin typeface="Open Sauce"/>
                <a:ea typeface="Open Sauce"/>
                <a:cs typeface="Open Sauce"/>
                <a:sym typeface="Open Sauce"/>
              </a:rPr>
              <a:t> If the cost of replication is low, then we can consider experiment.</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 Stating Goal &amp; hypothesis: </a:t>
            </a:r>
          </a:p>
        </p:txBody>
      </p:sp>
      <p:sp>
        <p:nvSpPr>
          <p:cNvPr name="TextBox 7" id="7"/>
          <p:cNvSpPr txBox="true"/>
          <p:nvPr/>
        </p:nvSpPr>
        <p:spPr>
          <a:xfrm rot="0">
            <a:off x="1387507" y="5353926"/>
            <a:ext cx="12352763" cy="2223262"/>
          </a:xfrm>
          <a:prstGeom prst="rect">
            <a:avLst/>
          </a:prstGeom>
        </p:spPr>
        <p:txBody>
          <a:bodyPr anchor="t" rtlCol="false" tIns="0" lIns="0" bIns="0" rIns="0">
            <a:spAutoFit/>
          </a:bodyPr>
          <a:lstStyle/>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The first step is deciding what to investigate.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The goal for the research can be expressed as a hypothesis in quantifiable terms that is to be tested.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The test result (the collected data) will confirm or refute the hypothesis.</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 The goal for your research can be expressed as a hypothesis that you want to test. </a:t>
            </a:r>
          </a:p>
          <a:p>
            <a:pPr algn="l" marL="451879" indent="-225939" lvl="1">
              <a:lnSpc>
                <a:spcPts val="2931"/>
              </a:lnSpc>
              <a:buFont typeface="Arial"/>
              <a:buChar char="•"/>
            </a:pPr>
            <a:r>
              <a:rPr lang="en-US" sz="2093">
                <a:solidFill>
                  <a:srgbClr val="38B6FF"/>
                </a:solidFill>
                <a:latin typeface="Open Sauce"/>
                <a:ea typeface="Open Sauce"/>
                <a:cs typeface="Open Sauce"/>
                <a:sym typeface="Open Sauce"/>
              </a:rPr>
              <a:t>The hypothesis is the tentative idea that you think explains the behavior you want to explore</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Stating Goal &amp; hypothesis(cont.)</a:t>
            </a:r>
          </a:p>
        </p:txBody>
      </p:sp>
      <p:sp>
        <p:nvSpPr>
          <p:cNvPr name="TextBox 7" id="7"/>
          <p:cNvSpPr txBox="true"/>
          <p:nvPr/>
        </p:nvSpPr>
        <p:spPr>
          <a:xfrm rot="0">
            <a:off x="1387507" y="5353926"/>
            <a:ext cx="12352763" cy="2966212"/>
          </a:xfrm>
          <a:prstGeom prst="rect">
            <a:avLst/>
          </a:prstGeom>
        </p:spPr>
        <p:txBody>
          <a:bodyPr anchor="t" rtlCol="false" tIns="0" lIns="0" bIns="0" rIns="0">
            <a:spAutoFit/>
          </a:bodyPr>
          <a:lstStyle/>
          <a:p>
            <a:pPr algn="l">
              <a:lnSpc>
                <a:spcPts val="2930"/>
              </a:lnSpc>
            </a:pPr>
            <a:r>
              <a:rPr lang="en-US" sz="2093">
                <a:solidFill>
                  <a:srgbClr val="38B6FF"/>
                </a:solidFill>
                <a:latin typeface="Open Sauce"/>
                <a:ea typeface="Open Sauce"/>
                <a:cs typeface="Open Sauce"/>
                <a:sym typeface="Open Sauce"/>
              </a:rPr>
              <a:t>Exampl</a:t>
            </a:r>
            <a:r>
              <a:rPr lang="en-US" sz="2093">
                <a:solidFill>
                  <a:srgbClr val="38B6FF"/>
                </a:solidFill>
                <a:latin typeface="Open Sauce"/>
                <a:ea typeface="Open Sauce"/>
                <a:cs typeface="Open Sauce"/>
                <a:sym typeface="Open Sauce"/>
              </a:rPr>
              <a:t>es:</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 Eg1. Can integrated development and testing tools improve our productivity?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Eg2. Does Cleanroom software development produce better-quality software than using the conventional development methods?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Eg3. Does code produced using Agile software development have a lower number of defects per KLOC than code produced using the conventional methods?</a:t>
            </a:r>
          </a:p>
          <a:p>
            <a:pPr algn="l" marL="451879" indent="-225939" lvl="1">
              <a:lnSpc>
                <a:spcPts val="2931"/>
              </a:lnSpc>
              <a:buFont typeface="Arial"/>
              <a:buChar char="•"/>
            </a:pPr>
            <a:r>
              <a:rPr lang="en-US" sz="2093">
                <a:solidFill>
                  <a:srgbClr val="38B6FF"/>
                </a:solidFill>
                <a:latin typeface="Open Sauce"/>
                <a:ea typeface="Open Sauce"/>
                <a:cs typeface="Open Sauce"/>
                <a:sym typeface="Open Sauce"/>
              </a:rPr>
              <a:t> Eg4.“Using Scrum produces better quality software than using the Extreme Programming method.”</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Stating Goal &amp; hypothesis(cont.) </a:t>
            </a:r>
          </a:p>
        </p:txBody>
      </p:sp>
      <p:sp>
        <p:nvSpPr>
          <p:cNvPr name="TextBox 7" id="7"/>
          <p:cNvSpPr txBox="true"/>
          <p:nvPr/>
        </p:nvSpPr>
        <p:spPr>
          <a:xfrm rot="0">
            <a:off x="1387507" y="5353926"/>
            <a:ext cx="12352763" cy="3337687"/>
          </a:xfrm>
          <a:prstGeom prst="rect">
            <a:avLst/>
          </a:prstGeom>
        </p:spPr>
        <p:txBody>
          <a:bodyPr anchor="t" rtlCol="false" tIns="0" lIns="0" bIns="0" rIns="0">
            <a:spAutoFit/>
          </a:bodyPr>
          <a:lstStyle/>
          <a:p>
            <a:pPr algn="l">
              <a:lnSpc>
                <a:spcPts val="2930"/>
              </a:lnSpc>
            </a:pPr>
            <a:r>
              <a:rPr lang="en-US" sz="2093">
                <a:solidFill>
                  <a:srgbClr val="58C94E"/>
                </a:solidFill>
                <a:latin typeface="Open Sauce"/>
                <a:ea typeface="Open Sauce"/>
                <a:cs typeface="Open Sauce"/>
                <a:sym typeface="Open Sauce"/>
              </a:rPr>
              <a:t>The method used is to first evaluate a null hypothesis, which states that the proposed relationship does not hold.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 The null hypothesis relevant to Example 4</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Hyp0: “There is no difference between the quality of software produced by the Scrum method and the quality of the software produced by using the XP method as indicated by defects per thousand lines of code”.</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Reject the null hypothesis only if there is less than a 5% chance that there is no di erence between the two groups.</a:t>
            </a:r>
          </a:p>
          <a:p>
            <a:pPr algn="l">
              <a:lnSpc>
                <a:spcPts val="2931"/>
              </a:lnSpc>
            </a:pPr>
            <a:r>
              <a:rPr lang="en-US" sz="2093">
                <a:solidFill>
                  <a:srgbClr val="FF66C4"/>
                </a:solidFill>
                <a:latin typeface="Open Sauce"/>
                <a:ea typeface="Open Sauce"/>
                <a:cs typeface="Open Sauce"/>
                <a:sym typeface="Open Sauce"/>
              </a:rPr>
              <a:t> </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Stating Goal &amp; hypothesis(cont.)</a:t>
            </a:r>
          </a:p>
        </p:txBody>
      </p:sp>
      <p:sp>
        <p:nvSpPr>
          <p:cNvPr name="TextBox 7" id="7"/>
          <p:cNvSpPr txBox="true"/>
          <p:nvPr/>
        </p:nvSpPr>
        <p:spPr>
          <a:xfrm rot="0">
            <a:off x="1387507" y="5353926"/>
            <a:ext cx="12352763" cy="2594737"/>
          </a:xfrm>
          <a:prstGeom prst="rect">
            <a:avLst/>
          </a:prstGeom>
        </p:spPr>
        <p:txBody>
          <a:bodyPr anchor="t" rtlCol="false" tIns="0" lIns="0" bIns="0" rIns="0">
            <a:spAutoFit/>
          </a:bodyPr>
          <a:lstStyle/>
          <a:p>
            <a:pPr algn="l">
              <a:lnSpc>
                <a:spcPts val="2930"/>
              </a:lnSpc>
            </a:pPr>
            <a:r>
              <a:rPr lang="en-US" sz="2093">
                <a:solidFill>
                  <a:srgbClr val="58C94E"/>
                </a:solidFill>
                <a:latin typeface="Open Sauce"/>
                <a:ea typeface="Open Sauce"/>
                <a:cs typeface="Open Sauce"/>
                <a:sym typeface="Open Sauce"/>
              </a:rPr>
              <a:t> Only after your analysis shows conclusively that you can reject the null hypothesis, you can evaluate alternative hypotheses:</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  HypA1: “The code produced using Scrum will have fewer defects per thousand lines of code than the code produced using the XP method.</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 HypA2: “The code produced using XP will have fewer defects per thousand lines of code than the code produced using the Scrum method.”</a:t>
            </a:r>
          </a:p>
          <a:p>
            <a:pPr algn="l">
              <a:lnSpc>
                <a:spcPts val="2931"/>
              </a:lnSpc>
            </a:pP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3. Maintaining Control over Variables </a:t>
            </a:r>
          </a:p>
        </p:txBody>
      </p:sp>
      <p:sp>
        <p:nvSpPr>
          <p:cNvPr name="TextBox 7" id="7"/>
          <p:cNvSpPr txBox="true"/>
          <p:nvPr/>
        </p:nvSpPr>
        <p:spPr>
          <a:xfrm rot="0">
            <a:off x="1387507" y="5353926"/>
            <a:ext cx="12352763" cy="2223262"/>
          </a:xfrm>
          <a:prstGeom prst="rect">
            <a:avLst/>
          </a:prstGeom>
        </p:spPr>
        <p:txBody>
          <a:bodyPr anchor="t" rtlCol="false" tIns="0" lIns="0" bIns="0" rIns="0">
            <a:spAutoFit/>
          </a:bodyPr>
          <a:lstStyle/>
          <a:p>
            <a:pPr algn="l">
              <a:lnSpc>
                <a:spcPts val="2930"/>
              </a:lnSpc>
            </a:pPr>
            <a:r>
              <a:rPr lang="en-US" sz="2093">
                <a:solidFill>
                  <a:srgbClr val="38B6FF"/>
                </a:solidFill>
                <a:latin typeface="Open Sauce"/>
                <a:ea typeface="Open Sauce"/>
                <a:cs typeface="Open Sauce"/>
                <a:sym typeface="Open Sauce"/>
              </a:rPr>
              <a:t> W</a:t>
            </a:r>
            <a:r>
              <a:rPr lang="en-US" sz="2093">
                <a:solidFill>
                  <a:srgbClr val="38B6FF"/>
                </a:solidFill>
                <a:latin typeface="Open Sauce"/>
                <a:ea typeface="Open Sauce"/>
                <a:cs typeface="Open Sauce"/>
                <a:sym typeface="Open Sauce"/>
              </a:rPr>
              <a:t>hat variables may affect truth of a hypothesis? How do they affect it? </a:t>
            </a:r>
          </a:p>
          <a:p>
            <a:pPr algn="l">
              <a:lnSpc>
                <a:spcPts val="2930"/>
              </a:lnSpc>
            </a:pPr>
            <a:r>
              <a:rPr lang="en-US" sz="2093">
                <a:solidFill>
                  <a:srgbClr val="38B6FF"/>
                </a:solidFill>
                <a:latin typeface="Open Sauce"/>
                <a:ea typeface="Open Sauce"/>
                <a:cs typeface="Open Sauce"/>
                <a:sym typeface="Open Sauce"/>
              </a:rPr>
              <a:t> Variable: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Independent/ State variables (values are set by the experiment or initial conditions)</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Dependent (values are affected by change of other variables)</a:t>
            </a:r>
          </a:p>
          <a:p>
            <a:pPr algn="l">
              <a:lnSpc>
                <a:spcPts val="2930"/>
              </a:lnSpc>
            </a:pPr>
            <a:r>
              <a:rPr lang="en-US" sz="2093">
                <a:solidFill>
                  <a:srgbClr val="38B6FF"/>
                </a:solidFill>
                <a:latin typeface="Open Sauce"/>
                <a:ea typeface="Open Sauce"/>
                <a:cs typeface="Open Sauce"/>
                <a:sym typeface="Open Sauce"/>
              </a:rPr>
              <a:t> Example: Effect of “programming language” on the “quality” of resulting code. </a:t>
            </a:r>
          </a:p>
          <a:p>
            <a:pPr algn="l">
              <a:lnSpc>
                <a:spcPts val="2931"/>
              </a:lnSpc>
            </a:pPr>
            <a:r>
              <a:rPr lang="en-US" sz="2093">
                <a:solidFill>
                  <a:srgbClr val="38B6FF"/>
                </a:solidFill>
                <a:latin typeface="Open Sauce"/>
                <a:ea typeface="Open Sauce"/>
                <a:cs typeface="Open Sauce"/>
                <a:sym typeface="Open Sauce"/>
              </a:rPr>
              <a:t> Programming language is an independent, and quality is a dependent variable.</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3. Maintaining Control over Variables(cont.) </a:t>
            </a:r>
          </a:p>
        </p:txBody>
      </p:sp>
      <p:sp>
        <p:nvSpPr>
          <p:cNvPr name="TextBox 7" id="7"/>
          <p:cNvSpPr txBox="true"/>
          <p:nvPr/>
        </p:nvSpPr>
        <p:spPr>
          <a:xfrm rot="0">
            <a:off x="1387507" y="5353926"/>
            <a:ext cx="12352763" cy="1480312"/>
          </a:xfrm>
          <a:prstGeom prst="rect">
            <a:avLst/>
          </a:prstGeom>
        </p:spPr>
        <p:txBody>
          <a:bodyPr anchor="t" rtlCol="false" tIns="0" lIns="0" bIns="0" rIns="0">
            <a:spAutoFit/>
          </a:bodyPr>
          <a:lstStyle/>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A state variable is used to distinguish the control situation from the treatment in a controlled experiment. </a:t>
            </a:r>
          </a:p>
          <a:p>
            <a:pPr algn="l" marL="451879" indent="-225940" lvl="1">
              <a:lnSpc>
                <a:spcPts val="2931"/>
              </a:lnSpc>
              <a:buFont typeface="Arial"/>
              <a:buChar char="•"/>
            </a:pPr>
            <a:r>
              <a:rPr lang="en-US" sz="2093">
                <a:solidFill>
                  <a:srgbClr val="38B6FF"/>
                </a:solidFill>
                <a:latin typeface="Open Sauce"/>
                <a:ea typeface="Open Sauce"/>
                <a:cs typeface="Open Sauce"/>
                <a:sym typeface="Open Sauce"/>
              </a:rPr>
              <a:t>W</a:t>
            </a:r>
            <a:r>
              <a:rPr lang="en-US" sz="2093">
                <a:solidFill>
                  <a:srgbClr val="38B6FF"/>
                </a:solidFill>
                <a:latin typeface="Open Sauce"/>
                <a:ea typeface="Open Sauce"/>
                <a:cs typeface="Open Sauce"/>
                <a:sym typeface="Open Sauce"/>
              </a:rPr>
              <a:t>hen you cannot differentiate control from treatment, you must do a case study instead of a controlled experiment.</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4. Threats to Validity </a:t>
            </a:r>
          </a:p>
        </p:txBody>
      </p:sp>
      <p:sp>
        <p:nvSpPr>
          <p:cNvPr name="TextBox 7" id="7"/>
          <p:cNvSpPr txBox="true"/>
          <p:nvPr/>
        </p:nvSpPr>
        <p:spPr>
          <a:xfrm rot="0">
            <a:off x="1387507" y="5353926"/>
            <a:ext cx="12352763" cy="2223262"/>
          </a:xfrm>
          <a:prstGeom prst="rect">
            <a:avLst/>
          </a:prstGeom>
        </p:spPr>
        <p:txBody>
          <a:bodyPr anchor="t" rtlCol="false" tIns="0" lIns="0" bIns="0" rIns="0">
            <a:spAutoFit/>
          </a:bodyPr>
          <a:lstStyle/>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There are many ways that a study can provide misleading results.</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Potential problems with empirical studies are classified as categories of threats to validity.</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There are four categories of threats to validity:</a:t>
            </a:r>
          </a:p>
          <a:p>
            <a:pPr algn="l">
              <a:lnSpc>
                <a:spcPts val="2930"/>
              </a:lnSpc>
            </a:pPr>
            <a:r>
              <a:rPr lang="en-US" sz="2093">
                <a:solidFill>
                  <a:srgbClr val="38B6FF"/>
                </a:solidFill>
                <a:latin typeface="Open Sauce"/>
                <a:ea typeface="Open Sauce"/>
                <a:cs typeface="Open Sauce"/>
                <a:sym typeface="Open Sauce"/>
              </a:rPr>
              <a:t> I. Conclusion validity- Using the wrong statistical tests, having too small a sample, Searching for relationships between too many variables</a:t>
            </a:r>
          </a:p>
          <a:p>
            <a:pPr algn="l">
              <a:lnSpc>
                <a:spcPts val="2931"/>
              </a:lnSpc>
            </a:pPr>
            <a:r>
              <a:rPr lang="en-US" sz="2093">
                <a:solidFill>
                  <a:srgbClr val="38B6FF"/>
                </a:solidFill>
                <a:latin typeface="Open Sauce"/>
                <a:ea typeface="Open Sauce"/>
                <a:cs typeface="Open Sauce"/>
                <a:sym typeface="Open Sauce"/>
              </a:rPr>
              <a:t> ii. Construct validity- use meaningful measures that have been validated in the narrow sense</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71074" y="759232"/>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4. Threats to Validity(cont.)</a:t>
            </a:r>
          </a:p>
        </p:txBody>
      </p:sp>
      <p:sp>
        <p:nvSpPr>
          <p:cNvPr name="TextBox 7" id="7"/>
          <p:cNvSpPr txBox="true"/>
          <p:nvPr/>
        </p:nvSpPr>
        <p:spPr>
          <a:xfrm rot="0">
            <a:off x="983785" y="5325224"/>
            <a:ext cx="12352763" cy="3337687"/>
          </a:xfrm>
          <a:prstGeom prst="rect">
            <a:avLst/>
          </a:prstGeom>
        </p:spPr>
        <p:txBody>
          <a:bodyPr anchor="t" rtlCol="false" tIns="0" lIns="0" bIns="0" rIns="0">
            <a:spAutoFit/>
          </a:bodyPr>
          <a:lstStyle/>
          <a:p>
            <a:pPr algn="l">
              <a:lnSpc>
                <a:spcPts val="2930"/>
              </a:lnSpc>
            </a:pPr>
            <a:r>
              <a:rPr lang="en-US" sz="2093">
                <a:solidFill>
                  <a:srgbClr val="38B6FF"/>
                </a:solidFill>
                <a:latin typeface="Open Sauce"/>
                <a:ea typeface="Open Sauce"/>
                <a:cs typeface="Open Sauce"/>
                <a:sym typeface="Open Sauce"/>
              </a:rPr>
              <a:t>iii. Int</a:t>
            </a:r>
            <a:r>
              <a:rPr lang="en-US" sz="2093">
                <a:solidFill>
                  <a:srgbClr val="38B6FF"/>
                </a:solidFill>
                <a:latin typeface="Open Sauce"/>
                <a:ea typeface="Open Sauce"/>
                <a:cs typeface="Open Sauce"/>
                <a:sym typeface="Open Sauce"/>
              </a:rPr>
              <a:t>ernal validity- Internal validity refers to the cause–effect relationship between independent and dependent variables.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  A study has internal validity if the treatment actually caused the effect shown in the dependent variables.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Specific threats include the effect of other, possibly unidentified, variables.</a:t>
            </a:r>
          </a:p>
          <a:p>
            <a:pPr algn="l">
              <a:lnSpc>
                <a:spcPts val="2930"/>
              </a:lnSpc>
            </a:pPr>
            <a:r>
              <a:rPr lang="en-US" sz="2093">
                <a:solidFill>
                  <a:srgbClr val="38B6FF"/>
                </a:solidFill>
                <a:latin typeface="Open Sauce"/>
                <a:ea typeface="Open Sauce"/>
                <a:cs typeface="Open Sauce"/>
                <a:sym typeface="Open Sauce"/>
              </a:rPr>
              <a:t> iv. External validity- External validity refers to how well you can generalize from the results of one study to the wider world. </a:t>
            </a:r>
          </a:p>
          <a:p>
            <a:pPr algn="l" marL="451879" indent="-225939" lvl="1">
              <a:lnSpc>
                <a:spcPts val="2931"/>
              </a:lnSpc>
              <a:buFont typeface="Arial"/>
              <a:buChar char="•"/>
            </a:pPr>
            <a:r>
              <a:rPr lang="en-US" sz="2093">
                <a:solidFill>
                  <a:srgbClr val="38B6FF"/>
                </a:solidFill>
                <a:latin typeface="Open Sauce"/>
                <a:ea typeface="Open Sauce"/>
                <a:cs typeface="Open Sauce"/>
                <a:sym typeface="Open Sauce"/>
              </a:rPr>
              <a:t> The ability to generalize depends on how similar the study environment is to the environment used in actual practice.</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5. Human Subjects</a:t>
            </a:r>
          </a:p>
        </p:txBody>
      </p:sp>
      <p:sp>
        <p:nvSpPr>
          <p:cNvPr name="TextBox 7" id="7"/>
          <p:cNvSpPr txBox="true"/>
          <p:nvPr/>
        </p:nvSpPr>
        <p:spPr>
          <a:xfrm rot="0">
            <a:off x="1458373" y="5325224"/>
            <a:ext cx="12352763" cy="2223262"/>
          </a:xfrm>
          <a:prstGeom prst="rect">
            <a:avLst/>
          </a:prstGeom>
        </p:spPr>
        <p:txBody>
          <a:bodyPr anchor="t" rtlCol="false" tIns="0" lIns="0" bIns="0" rIns="0">
            <a:spAutoFit/>
          </a:bodyPr>
          <a:lstStyle/>
          <a:p>
            <a:pPr algn="l">
              <a:lnSpc>
                <a:spcPts val="2930"/>
              </a:lnSpc>
            </a:pPr>
            <a:r>
              <a:rPr lang="en-US" sz="2093">
                <a:solidFill>
                  <a:srgbClr val="38B6FF"/>
                </a:solidFill>
                <a:latin typeface="Open Sauce"/>
                <a:ea typeface="Open Sauce"/>
                <a:cs typeface="Open Sauce"/>
                <a:sym typeface="Open Sauce"/>
              </a:rPr>
              <a:t>Hu</a:t>
            </a:r>
            <a:r>
              <a:rPr lang="en-US" sz="2093">
                <a:solidFill>
                  <a:srgbClr val="38B6FF"/>
                </a:solidFill>
                <a:latin typeface="Open Sauce"/>
                <a:ea typeface="Open Sauce"/>
                <a:cs typeface="Open Sauce"/>
                <a:sym typeface="Open Sauce"/>
              </a:rPr>
              <a:t>man subject means a living i</a:t>
            </a:r>
            <a:r>
              <a:rPr lang="en-US" sz="2093">
                <a:solidFill>
                  <a:srgbClr val="38B6FF"/>
                </a:solidFill>
                <a:latin typeface="Open Sauce"/>
                <a:ea typeface="Open Sauce"/>
                <a:cs typeface="Open Sauce"/>
                <a:sym typeface="Open Sauce"/>
              </a:rPr>
              <a:t>ndividual about whom an investigator (whether professional or student) conducting research obtains</a:t>
            </a:r>
          </a:p>
          <a:p>
            <a:pPr algn="l">
              <a:lnSpc>
                <a:spcPts val="2930"/>
              </a:lnSpc>
            </a:pPr>
            <a:r>
              <a:rPr lang="en-US" sz="2093">
                <a:solidFill>
                  <a:srgbClr val="38B6FF"/>
                </a:solidFill>
                <a:latin typeface="Open Sauce"/>
                <a:ea typeface="Open Sauce"/>
                <a:cs typeface="Open Sauce"/>
                <a:sym typeface="Open Sauce"/>
              </a:rPr>
              <a:t> I. Data through intervention or interaction with the individual</a:t>
            </a:r>
          </a:p>
          <a:p>
            <a:pPr algn="l">
              <a:lnSpc>
                <a:spcPts val="2930"/>
              </a:lnSpc>
            </a:pPr>
            <a:r>
              <a:rPr lang="en-US" sz="2093">
                <a:solidFill>
                  <a:srgbClr val="38B6FF"/>
                </a:solidFill>
                <a:latin typeface="Open Sauce"/>
                <a:ea typeface="Open Sauce"/>
                <a:cs typeface="Open Sauce"/>
                <a:sym typeface="Open Sauce"/>
              </a:rPr>
              <a:t> ii. Identifiable private information.</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Software engineering studies rarely involve risks of physical harm to human subjects.</a:t>
            </a:r>
          </a:p>
          <a:p>
            <a:pPr algn="l" marL="451879" indent="-225939" lvl="1">
              <a:lnSpc>
                <a:spcPts val="2931"/>
              </a:lnSpc>
              <a:buFont typeface="Arial"/>
              <a:buChar char="•"/>
            </a:pPr>
            <a:r>
              <a:rPr lang="en-US" sz="2093">
                <a:solidFill>
                  <a:srgbClr val="38B6FF"/>
                </a:solidFill>
                <a:latin typeface="Open Sauce"/>
                <a:ea typeface="Open Sauce"/>
                <a:cs typeface="Open Sauce"/>
                <a:sym typeface="Open Sauce"/>
              </a:rPr>
              <a:t>The major risks are due to privacy issues.</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Planning Experiments</a:t>
            </a:r>
          </a:p>
        </p:txBody>
      </p:sp>
      <p:sp>
        <p:nvSpPr>
          <p:cNvPr name="TextBox 7" id="7"/>
          <p:cNvSpPr txBox="true"/>
          <p:nvPr/>
        </p:nvSpPr>
        <p:spPr>
          <a:xfrm rot="0">
            <a:off x="1387507" y="5353926"/>
            <a:ext cx="12352763" cy="3337687"/>
          </a:xfrm>
          <a:prstGeom prst="rect">
            <a:avLst/>
          </a:prstGeom>
        </p:spPr>
        <p:txBody>
          <a:bodyPr anchor="t" rtlCol="false" tIns="0" lIns="0" bIns="0" rIns="0">
            <a:spAutoFit/>
          </a:bodyPr>
          <a:lstStyle/>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 A Process Model for Performing Experiments: six-phase process</a:t>
            </a:r>
          </a:p>
          <a:p>
            <a:pPr algn="l" marL="451879" indent="-225940" lvl="1">
              <a:lnSpc>
                <a:spcPts val="2930"/>
              </a:lnSpc>
              <a:buAutoNum type="arabicPeriod" startAt="1"/>
            </a:pPr>
            <a:r>
              <a:rPr lang="en-US" sz="2093">
                <a:solidFill>
                  <a:srgbClr val="38B6FF"/>
                </a:solidFill>
                <a:latin typeface="Open Sauce"/>
                <a:ea typeface="Open Sauce"/>
                <a:cs typeface="Open Sauce"/>
                <a:sym typeface="Open Sauce"/>
              </a:rPr>
              <a:t> Conception</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 Defining the goal of experiment</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 to ensure that a controlled experiment, case study, and/or survey are appropriate.</a:t>
            </a:r>
          </a:p>
          <a:p>
            <a:pPr algn="l" marL="451879" indent="-225940" lvl="1">
              <a:lnSpc>
                <a:spcPts val="2930"/>
              </a:lnSpc>
              <a:buAutoNum type="arabicPeriod" startAt="1"/>
            </a:pPr>
            <a:r>
              <a:rPr lang="en-US" sz="2093">
                <a:solidFill>
                  <a:srgbClr val="38B6FF"/>
                </a:solidFill>
                <a:latin typeface="Open Sauce"/>
                <a:ea typeface="Open Sauce"/>
                <a:cs typeface="Open Sauce"/>
                <a:sym typeface="Open Sauce"/>
              </a:rPr>
              <a:t> Design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Generating quantifiable (and manageable) hypotheses to be tested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Defining experimental objects or units.</a:t>
            </a:r>
          </a:p>
          <a:p>
            <a:pPr algn="l" marL="451879" indent="-225940" lvl="1">
              <a:lnSpc>
                <a:spcPts val="2931"/>
              </a:lnSpc>
              <a:buFont typeface="Arial"/>
              <a:buChar char="•"/>
            </a:pPr>
            <a:r>
              <a:rPr lang="en-US" sz="2093">
                <a:solidFill>
                  <a:srgbClr val="38B6FF"/>
                </a:solidFill>
                <a:latin typeface="Open Sauce"/>
                <a:ea typeface="Open Sauce"/>
                <a:cs typeface="Open Sauce"/>
                <a:sym typeface="Open Sauce"/>
              </a:rPr>
              <a:t> To plan how the application of these conditions test your hypothesis and answer your objective question</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Planning Experiments(cont.)</a:t>
            </a:r>
          </a:p>
        </p:txBody>
      </p:sp>
      <p:sp>
        <p:nvSpPr>
          <p:cNvPr name="TextBox 7" id="7"/>
          <p:cNvSpPr txBox="true"/>
          <p:nvPr/>
        </p:nvSpPr>
        <p:spPr>
          <a:xfrm rot="0">
            <a:off x="1387507" y="5353926"/>
            <a:ext cx="12352763" cy="2966212"/>
          </a:xfrm>
          <a:prstGeom prst="rect">
            <a:avLst/>
          </a:prstGeom>
        </p:spPr>
        <p:txBody>
          <a:bodyPr anchor="t" rtlCol="false" tIns="0" lIns="0" bIns="0" rIns="0">
            <a:spAutoFit/>
          </a:bodyPr>
          <a:lstStyle/>
          <a:p>
            <a:pPr algn="l">
              <a:lnSpc>
                <a:spcPts val="2930"/>
              </a:lnSpc>
            </a:pPr>
            <a:r>
              <a:rPr lang="en-US" sz="2093">
                <a:solidFill>
                  <a:srgbClr val="38B6FF"/>
                </a:solidFill>
                <a:latin typeface="Open Sauce"/>
                <a:ea typeface="Open Sauce"/>
                <a:cs typeface="Open Sauce"/>
                <a:sym typeface="Open Sauce"/>
              </a:rPr>
              <a:t>3. P</a:t>
            </a:r>
            <a:r>
              <a:rPr lang="en-US" sz="2093">
                <a:solidFill>
                  <a:srgbClr val="38B6FF"/>
                </a:solidFill>
                <a:latin typeface="Open Sauce"/>
                <a:ea typeface="Open Sauce"/>
                <a:cs typeface="Open Sauce"/>
                <a:sym typeface="Open Sauce"/>
              </a:rPr>
              <a:t>reparation</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Getting ready to start, e.g., purchasing tools, configuring hardware, training personnel, etc.</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Instructions must be written out or recorded properly.</a:t>
            </a:r>
          </a:p>
          <a:p>
            <a:pPr algn="l">
              <a:lnSpc>
                <a:spcPts val="2930"/>
              </a:lnSpc>
            </a:pPr>
            <a:r>
              <a:rPr lang="en-US" sz="2093">
                <a:solidFill>
                  <a:srgbClr val="38B6FF"/>
                </a:solidFill>
                <a:latin typeface="Open Sauce"/>
                <a:ea typeface="Open Sauce"/>
                <a:cs typeface="Open Sauce"/>
                <a:sym typeface="Open Sauce"/>
              </a:rPr>
              <a:t> 4. Execution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Conduct the experiment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Following the steps laid out in the plan </a:t>
            </a:r>
          </a:p>
          <a:p>
            <a:pPr algn="l" marL="451879" indent="-225939" lvl="1">
              <a:lnSpc>
                <a:spcPts val="2931"/>
              </a:lnSpc>
              <a:buFont typeface="Arial"/>
              <a:buChar char="•"/>
            </a:pPr>
            <a:r>
              <a:rPr lang="en-US" sz="2093">
                <a:solidFill>
                  <a:srgbClr val="38B6FF"/>
                </a:solidFill>
                <a:latin typeface="Open Sauce"/>
                <a:ea typeface="Open Sauce"/>
                <a:cs typeface="Open Sauce"/>
                <a:sym typeface="Open Sauce"/>
              </a:rPr>
              <a:t> Measuring attributes as prescribed by the plan, you apply the treatment to the experimental objects. </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Planning Experiments(cont.)</a:t>
            </a:r>
          </a:p>
        </p:txBody>
      </p:sp>
      <p:sp>
        <p:nvSpPr>
          <p:cNvPr name="TextBox 7" id="7"/>
          <p:cNvSpPr txBox="true"/>
          <p:nvPr/>
        </p:nvSpPr>
        <p:spPr>
          <a:xfrm rot="0">
            <a:off x="1387507" y="5353926"/>
            <a:ext cx="12352763" cy="2594737"/>
          </a:xfrm>
          <a:prstGeom prst="rect">
            <a:avLst/>
          </a:prstGeom>
        </p:spPr>
        <p:txBody>
          <a:bodyPr anchor="t" rtlCol="false" tIns="0" lIns="0" bIns="0" rIns="0">
            <a:spAutoFit/>
          </a:bodyPr>
          <a:lstStyle/>
          <a:p>
            <a:pPr algn="l">
              <a:lnSpc>
                <a:spcPts val="2930"/>
              </a:lnSpc>
            </a:pPr>
            <a:r>
              <a:rPr lang="en-US" sz="2093">
                <a:solidFill>
                  <a:srgbClr val="38B6FF"/>
                </a:solidFill>
                <a:latin typeface="Open Sauce"/>
                <a:ea typeface="Open Sauce"/>
                <a:cs typeface="Open Sauce"/>
                <a:sym typeface="Open Sauce"/>
              </a:rPr>
              <a:t>5.</a:t>
            </a:r>
            <a:r>
              <a:rPr lang="en-US" sz="2093">
                <a:solidFill>
                  <a:srgbClr val="38B6FF"/>
                </a:solidFill>
                <a:latin typeface="Open Sauce"/>
                <a:ea typeface="Open Sauce"/>
                <a:cs typeface="Open Sauce"/>
                <a:sym typeface="Open Sauce"/>
              </a:rPr>
              <a:t> Analysis </a:t>
            </a:r>
          </a:p>
          <a:p>
            <a:pPr algn="l">
              <a:lnSpc>
                <a:spcPts val="2930"/>
              </a:lnSpc>
            </a:pPr>
            <a:r>
              <a:rPr lang="en-US" sz="2093">
                <a:solidFill>
                  <a:srgbClr val="38B6FF"/>
                </a:solidFill>
                <a:latin typeface="Open Sauce"/>
                <a:ea typeface="Open Sauce"/>
                <a:cs typeface="Open Sauce"/>
                <a:sym typeface="Open Sauce"/>
              </a:rPr>
              <a:t> I. The analysis phase has two parts Review all the measurements </a:t>
            </a:r>
            <a:r>
              <a:rPr lang="en-US" sz="2093">
                <a:solidFill>
                  <a:srgbClr val="38B6FF"/>
                </a:solidFill>
                <a:latin typeface="Open Sauce"/>
                <a:ea typeface="Open Sauce"/>
                <a:cs typeface="Open Sauce"/>
                <a:sym typeface="Open Sauce"/>
              </a:rPr>
              <a:t>taken to make sure that they are valid and useful.</a:t>
            </a:r>
          </a:p>
          <a:p>
            <a:pPr algn="l">
              <a:lnSpc>
                <a:spcPts val="2930"/>
              </a:lnSpc>
            </a:pPr>
            <a:r>
              <a:rPr lang="en-US" sz="2093">
                <a:solidFill>
                  <a:srgbClr val="38B6FF"/>
                </a:solidFill>
                <a:latin typeface="Open Sauce"/>
                <a:ea typeface="Open Sauce"/>
                <a:cs typeface="Open Sauce"/>
                <a:sym typeface="Open Sauce"/>
              </a:rPr>
              <a:t> ii. Analyze the sets of data according to the statistical principles </a:t>
            </a:r>
          </a:p>
          <a:p>
            <a:pPr algn="l">
              <a:lnSpc>
                <a:spcPts val="2930"/>
              </a:lnSpc>
            </a:pPr>
            <a:r>
              <a:rPr lang="en-US" sz="2093">
                <a:solidFill>
                  <a:srgbClr val="38B6FF"/>
                </a:solidFill>
                <a:latin typeface="Open Sauce"/>
                <a:ea typeface="Open Sauce"/>
                <a:cs typeface="Open Sauce"/>
                <a:sym typeface="Open Sauce"/>
              </a:rPr>
              <a:t>6. Dissemination &amp; decision making</a:t>
            </a:r>
          </a:p>
          <a:p>
            <a:pPr algn="l">
              <a:lnSpc>
                <a:spcPts val="2931"/>
              </a:lnSpc>
            </a:pPr>
            <a:r>
              <a:rPr lang="en-US" sz="2093">
                <a:solidFill>
                  <a:srgbClr val="38B6FF"/>
                </a:solidFill>
                <a:latin typeface="Open Sauce"/>
                <a:ea typeface="Open Sauce"/>
                <a:cs typeface="Open Sauce"/>
                <a:sym typeface="Open Sauce"/>
              </a:rPr>
              <a:t> i. Documenting conclusions to duplicate experiments &amp; confirm conclusions in a similar setting. ii. To support decisions how to develop or maintain software in the future</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Key Experimental Design Concepts</a:t>
            </a:r>
          </a:p>
        </p:txBody>
      </p:sp>
      <p:sp>
        <p:nvSpPr>
          <p:cNvPr name="TextBox 7" id="7"/>
          <p:cNvSpPr txBox="true"/>
          <p:nvPr/>
        </p:nvSpPr>
        <p:spPr>
          <a:xfrm rot="0">
            <a:off x="1387507" y="5353926"/>
            <a:ext cx="12352763" cy="2966212"/>
          </a:xfrm>
          <a:prstGeom prst="rect">
            <a:avLst/>
          </a:prstGeom>
        </p:spPr>
        <p:txBody>
          <a:bodyPr anchor="t" rtlCol="false" tIns="0" lIns="0" bIns="0" rIns="0">
            <a:spAutoFit/>
          </a:bodyPr>
          <a:lstStyle/>
          <a:p>
            <a:pPr algn="l">
              <a:lnSpc>
                <a:spcPts val="2930"/>
              </a:lnSpc>
            </a:pPr>
            <a:r>
              <a:rPr lang="en-US" sz="2093">
                <a:solidFill>
                  <a:srgbClr val="38B6FF"/>
                </a:solidFill>
                <a:latin typeface="Open Sauce"/>
                <a:ea typeface="Open Sauce"/>
                <a:cs typeface="Open Sauce"/>
                <a:sym typeface="Open Sauce"/>
              </a:rPr>
              <a:t> Simpl</a:t>
            </a:r>
            <a:r>
              <a:rPr lang="en-US" sz="2093">
                <a:solidFill>
                  <a:srgbClr val="38B6FF"/>
                </a:solidFill>
                <a:latin typeface="Open Sauce"/>
                <a:ea typeface="Open Sauce"/>
                <a:cs typeface="Open Sauce"/>
                <a:sym typeface="Open Sauce"/>
              </a:rPr>
              <a:t>e designs - make the experiment</a:t>
            </a:r>
            <a:r>
              <a:rPr lang="en-US" sz="2093">
                <a:solidFill>
                  <a:srgbClr val="38B6FF"/>
                </a:solidFill>
                <a:latin typeface="Open Sauce"/>
                <a:ea typeface="Open Sauce"/>
                <a:cs typeface="Open Sauce"/>
                <a:sym typeface="Open Sauce"/>
              </a:rPr>
              <a:t> practical, minimize time, money, personnel,easier to analyze &amp; experimental resources. </a:t>
            </a:r>
          </a:p>
          <a:p>
            <a:pPr algn="l">
              <a:lnSpc>
                <a:spcPts val="2930"/>
              </a:lnSpc>
            </a:pPr>
            <a:r>
              <a:rPr lang="en-US" sz="2093">
                <a:solidFill>
                  <a:srgbClr val="38B6FF"/>
                </a:solidFill>
                <a:latin typeface="Open Sauce"/>
                <a:ea typeface="Open Sauce"/>
                <a:cs typeface="Open Sauce"/>
                <a:sym typeface="Open Sauce"/>
              </a:rPr>
              <a:t>The three key experimental design concepts: Replication, Randomization, &amp; Local control. I.      I.     I.Replication: </a:t>
            </a:r>
          </a:p>
          <a:p>
            <a:pPr algn="l">
              <a:lnSpc>
                <a:spcPts val="2930"/>
              </a:lnSpc>
            </a:pPr>
            <a:r>
              <a:rPr lang="en-US" sz="2093">
                <a:solidFill>
                  <a:srgbClr val="38B6FF"/>
                </a:solidFill>
                <a:latin typeface="Open Sauce"/>
                <a:ea typeface="Open Sauce"/>
                <a:cs typeface="Open Sauce"/>
                <a:sym typeface="Open Sauce"/>
              </a:rPr>
              <a:t>Involves repeating an experiment under identical conditions, rather than repeating measurements on the same experimental unit</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 To know how much confidence we can place in the results of the experiment. </a:t>
            </a:r>
          </a:p>
          <a:p>
            <a:pPr algn="l" marL="451879" indent="-225939" lvl="1">
              <a:lnSpc>
                <a:spcPts val="2931"/>
              </a:lnSpc>
              <a:buFont typeface="Arial"/>
              <a:buChar char="•"/>
            </a:pPr>
            <a:r>
              <a:rPr lang="en-US" sz="2093">
                <a:solidFill>
                  <a:srgbClr val="38B6FF"/>
                </a:solidFill>
                <a:latin typeface="Open Sauce"/>
                <a:ea typeface="Open Sauce"/>
                <a:cs typeface="Open Sauce"/>
                <a:sym typeface="Open Sauce"/>
              </a:rPr>
              <a:t> Replication enables us to estimate the mean e ect of any experimental factor</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Key Experimental Design Concepts(cont.)</a:t>
            </a:r>
          </a:p>
        </p:txBody>
      </p:sp>
      <p:sp>
        <p:nvSpPr>
          <p:cNvPr name="TextBox 7" id="7"/>
          <p:cNvSpPr txBox="true"/>
          <p:nvPr/>
        </p:nvSpPr>
        <p:spPr>
          <a:xfrm rot="0">
            <a:off x="1387507" y="5353926"/>
            <a:ext cx="12352763" cy="3709162"/>
          </a:xfrm>
          <a:prstGeom prst="rect">
            <a:avLst/>
          </a:prstGeom>
        </p:spPr>
        <p:txBody>
          <a:bodyPr anchor="t" rtlCol="false" tIns="0" lIns="0" bIns="0" rIns="0">
            <a:spAutoFit/>
          </a:bodyPr>
          <a:lstStyle/>
          <a:p>
            <a:pPr algn="l">
              <a:lnSpc>
                <a:spcPts val="2930"/>
              </a:lnSpc>
            </a:pPr>
            <a:r>
              <a:rPr lang="en-US" sz="2093">
                <a:solidFill>
                  <a:srgbClr val="38B6FF"/>
                </a:solidFill>
                <a:latin typeface="Open Sauce"/>
                <a:ea typeface="Open Sauce"/>
                <a:cs typeface="Open Sauce"/>
                <a:sym typeface="Open Sauce"/>
              </a:rPr>
              <a:t>II.</a:t>
            </a:r>
            <a:r>
              <a:rPr lang="en-US" sz="2093">
                <a:solidFill>
                  <a:srgbClr val="38B6FF"/>
                </a:solidFill>
                <a:latin typeface="Open Sauce"/>
                <a:ea typeface="Open Sauce"/>
                <a:cs typeface="Open Sauce"/>
                <a:sym typeface="Open Sauce"/>
              </a:rPr>
              <a:t> Randomization: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 The random assignment of subjects to groups or of treatments to experimental units, so that we can assume independence (conclusion &amp; internal validity) of results.</a:t>
            </a:r>
          </a:p>
          <a:p>
            <a:pPr algn="l">
              <a:lnSpc>
                <a:spcPts val="2930"/>
              </a:lnSpc>
            </a:pPr>
            <a:r>
              <a:rPr lang="en-US" sz="2093">
                <a:solidFill>
                  <a:srgbClr val="38B6FF"/>
                </a:solidFill>
                <a:latin typeface="Open Sauce"/>
                <a:ea typeface="Open Sauce"/>
                <a:cs typeface="Open Sauce"/>
                <a:sym typeface="Open Sauce"/>
              </a:rPr>
              <a:t> III. Local control: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 Local control refers to the control that you have over the placement of subjects in experimental units and the organization of those units.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 Blocking means allocating experimental units to groups so that the units within a block are relatively homogeneous. </a:t>
            </a:r>
          </a:p>
          <a:p>
            <a:pPr algn="l" marL="451879" indent="-225939" lvl="1">
              <a:lnSpc>
                <a:spcPts val="2931"/>
              </a:lnSpc>
              <a:buFont typeface="Arial"/>
              <a:buChar char="•"/>
            </a:pPr>
            <a:r>
              <a:rPr lang="en-US" sz="2093">
                <a:solidFill>
                  <a:srgbClr val="38B6FF"/>
                </a:solidFill>
                <a:latin typeface="Open Sauce"/>
                <a:ea typeface="Open Sauce"/>
                <a:cs typeface="Open Sauce"/>
                <a:sym typeface="Open Sauce"/>
              </a:rPr>
              <a:t> Balancing is assignment of treatments – an equal number of subjects is assigned to each treatment. </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Types of Experimental Designs </a:t>
            </a:r>
          </a:p>
        </p:txBody>
      </p:sp>
      <p:sp>
        <p:nvSpPr>
          <p:cNvPr name="TextBox 7" id="7"/>
          <p:cNvSpPr txBox="true"/>
          <p:nvPr/>
        </p:nvSpPr>
        <p:spPr>
          <a:xfrm rot="0">
            <a:off x="1387507" y="5353926"/>
            <a:ext cx="12352763" cy="2966212"/>
          </a:xfrm>
          <a:prstGeom prst="rect">
            <a:avLst/>
          </a:prstGeom>
        </p:spPr>
        <p:txBody>
          <a:bodyPr anchor="t" rtlCol="false" tIns="0" lIns="0" bIns="0" rIns="0">
            <a:spAutoFit/>
          </a:bodyPr>
          <a:lstStyle/>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An ind</a:t>
            </a:r>
            <a:r>
              <a:rPr lang="en-US" sz="2093">
                <a:solidFill>
                  <a:srgbClr val="38B6FF"/>
                </a:solidFill>
                <a:latin typeface="Open Sauce"/>
                <a:ea typeface="Open Sauce"/>
                <a:cs typeface="Open Sauce"/>
                <a:sym typeface="Open Sauce"/>
              </a:rPr>
              <a:t>ependent variable is called a factor in the experimental design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Various values or classifications for each factor are called the levels of the factor. Levels can be continuous or discrete, quantitative or qualitative.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Eg. A study to determine the effect of experience and language on the productivity of programmers has two factors: experience and language. The dependent variable is productivity.</a:t>
            </a:r>
          </a:p>
          <a:p>
            <a:pPr algn="l" marL="451879" indent="-225939" lvl="1">
              <a:lnSpc>
                <a:spcPts val="2931"/>
              </a:lnSpc>
              <a:buFont typeface="Arial"/>
              <a:buChar char="•"/>
            </a:pPr>
            <a:r>
              <a:rPr lang="en-US" sz="2093">
                <a:solidFill>
                  <a:srgbClr val="38B6FF"/>
                </a:solidFill>
                <a:latin typeface="Open Sauce"/>
                <a:ea typeface="Open Sauce"/>
                <a:cs typeface="Open Sauce"/>
                <a:sym typeface="Open Sauce"/>
              </a:rPr>
              <a:t> Most designs in software engineering research are based on two simple relations between factors: Crossing and Nesting</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Types of Experimental Designs(cont.) </a:t>
            </a:r>
          </a:p>
        </p:txBody>
      </p:sp>
      <p:sp>
        <p:nvSpPr>
          <p:cNvPr name="TextBox 7" id="7"/>
          <p:cNvSpPr txBox="true"/>
          <p:nvPr/>
        </p:nvSpPr>
        <p:spPr>
          <a:xfrm rot="0">
            <a:off x="1387507" y="5353926"/>
            <a:ext cx="12352763" cy="1851787"/>
          </a:xfrm>
          <a:prstGeom prst="rect">
            <a:avLst/>
          </a:prstGeom>
        </p:spPr>
        <p:txBody>
          <a:bodyPr anchor="t" rtlCol="false" tIns="0" lIns="0" bIns="0" rIns="0">
            <a:spAutoFit/>
          </a:bodyPr>
          <a:lstStyle/>
          <a:p>
            <a:pPr algn="l">
              <a:lnSpc>
                <a:spcPts val="2930"/>
              </a:lnSpc>
            </a:pPr>
            <a:r>
              <a:rPr lang="en-US" sz="2093">
                <a:solidFill>
                  <a:srgbClr val="38B6FF"/>
                </a:solidFill>
                <a:latin typeface="Open Sauce"/>
                <a:ea typeface="Open Sauce"/>
                <a:cs typeface="Open Sauce"/>
                <a:sym typeface="Open Sauce"/>
              </a:rPr>
              <a:t>1.</a:t>
            </a:r>
            <a:r>
              <a:rPr lang="en-US" sz="2093">
                <a:solidFill>
                  <a:srgbClr val="38B6FF"/>
                </a:solidFill>
                <a:latin typeface="Open Sauce"/>
                <a:ea typeface="Open Sauce"/>
                <a:cs typeface="Open Sauce"/>
                <a:sym typeface="Open Sauce"/>
              </a:rPr>
              <a:t> Crossing: </a:t>
            </a:r>
          </a:p>
          <a:p>
            <a:pPr algn="l">
              <a:lnSpc>
                <a:spcPts val="2930"/>
              </a:lnSpc>
            </a:pPr>
            <a:r>
              <a:rPr lang="en-US" sz="2093">
                <a:solidFill>
                  <a:srgbClr val="38B6FF"/>
                </a:solidFill>
                <a:latin typeface="Open Sauce"/>
                <a:ea typeface="Open Sauce"/>
                <a:cs typeface="Open Sauce"/>
                <a:sym typeface="Open Sauce"/>
              </a:rPr>
              <a:t>2. Expressing th</a:t>
            </a:r>
            <a:r>
              <a:rPr lang="en-US" sz="2093">
                <a:solidFill>
                  <a:srgbClr val="38B6FF"/>
                </a:solidFill>
                <a:latin typeface="Open Sauce"/>
                <a:ea typeface="Open Sauce"/>
                <a:cs typeface="Open Sauce"/>
                <a:sym typeface="Open Sauce"/>
              </a:rPr>
              <a:t>e design in terms of factors, called the factorial design</a:t>
            </a:r>
          </a:p>
          <a:p>
            <a:pPr algn="l">
              <a:lnSpc>
                <a:spcPts val="2930"/>
              </a:lnSpc>
            </a:pPr>
            <a:r>
              <a:rPr lang="en-US" sz="2093">
                <a:solidFill>
                  <a:srgbClr val="38B6FF"/>
                </a:solidFill>
                <a:latin typeface="Open Sauce"/>
                <a:ea typeface="Open Sauce"/>
                <a:cs typeface="Open Sauce"/>
                <a:sym typeface="Open Sauce"/>
              </a:rPr>
              <a:t> 3. How many different treatment combinations are required. </a:t>
            </a:r>
          </a:p>
          <a:p>
            <a:pPr algn="l">
              <a:lnSpc>
                <a:spcPts val="2931"/>
              </a:lnSpc>
            </a:pPr>
            <a:r>
              <a:rPr lang="en-US" sz="2093">
                <a:solidFill>
                  <a:srgbClr val="38B6FF"/>
                </a:solidFill>
                <a:latin typeface="Open Sauce"/>
                <a:ea typeface="Open Sauce"/>
                <a:cs typeface="Open Sauce"/>
                <a:sym typeface="Open Sauce"/>
              </a:rPr>
              <a:t> 4. Two factors, A and B, in a design are crossed if each level of each factor appears with each level of the other factor. This relationship is denoted as A × B</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Types of Experimental Designs(cont.)</a:t>
            </a:r>
          </a:p>
        </p:txBody>
      </p:sp>
      <p:sp>
        <p:nvSpPr>
          <p:cNvPr name="TextBox 7" id="7"/>
          <p:cNvSpPr txBox="true"/>
          <p:nvPr/>
        </p:nvSpPr>
        <p:spPr>
          <a:xfrm rot="0">
            <a:off x="1387507" y="5353926"/>
            <a:ext cx="12352763" cy="1480312"/>
          </a:xfrm>
          <a:prstGeom prst="rect">
            <a:avLst/>
          </a:prstGeom>
        </p:spPr>
        <p:txBody>
          <a:bodyPr anchor="t" rtlCol="false" tIns="0" lIns="0" bIns="0" rIns="0">
            <a:spAutoFit/>
          </a:bodyPr>
          <a:lstStyle/>
          <a:p>
            <a:pPr algn="l">
              <a:lnSpc>
                <a:spcPts val="2930"/>
              </a:lnSpc>
            </a:pPr>
            <a:r>
              <a:rPr lang="en-US" sz="2093">
                <a:solidFill>
                  <a:srgbClr val="38B6FF"/>
                </a:solidFill>
                <a:latin typeface="Open Sauce"/>
                <a:ea typeface="Open Sauce"/>
                <a:cs typeface="Open Sauce"/>
                <a:sym typeface="Open Sauce"/>
              </a:rPr>
              <a:t>2.</a:t>
            </a:r>
            <a:r>
              <a:rPr lang="en-US" sz="2093">
                <a:solidFill>
                  <a:srgbClr val="38B6FF"/>
                </a:solidFill>
                <a:latin typeface="Open Sauce"/>
                <a:ea typeface="Open Sauce"/>
                <a:cs typeface="Open Sauce"/>
                <a:sym typeface="Open Sauce"/>
              </a:rPr>
              <a:t> Nesting: </a:t>
            </a:r>
          </a:p>
          <a:p>
            <a:pPr algn="l" marL="451879" indent="-225940" lvl="1">
              <a:lnSpc>
                <a:spcPts val="2930"/>
              </a:lnSpc>
              <a:buFont typeface="Arial"/>
              <a:buChar char="•"/>
            </a:pPr>
            <a:r>
              <a:rPr lang="en-US" sz="2093">
                <a:solidFill>
                  <a:srgbClr val="38B6FF"/>
                </a:solidFill>
                <a:latin typeface="Open Sauce"/>
                <a:ea typeface="Open Sauce"/>
                <a:cs typeface="Open Sauce"/>
                <a:sym typeface="Open Sauce"/>
              </a:rPr>
              <a:t> Factor</a:t>
            </a:r>
            <a:r>
              <a:rPr lang="en-US" sz="2093" i="true">
                <a:solidFill>
                  <a:srgbClr val="38B6FF"/>
                </a:solidFill>
                <a:latin typeface="Open Sauce Italics"/>
                <a:ea typeface="Open Sauce Italics"/>
                <a:cs typeface="Open Sauce Italics"/>
                <a:sym typeface="Open Sauce Italics"/>
              </a:rPr>
              <a:t> B</a:t>
            </a:r>
            <a:r>
              <a:rPr lang="en-US" sz="2093">
                <a:solidFill>
                  <a:srgbClr val="38B6FF"/>
                </a:solidFill>
                <a:latin typeface="Open Sauce"/>
                <a:ea typeface="Open Sauce"/>
                <a:cs typeface="Open Sauce"/>
                <a:sym typeface="Open Sauce"/>
              </a:rPr>
              <a:t> is nested within factor A if each meaningful level of B occurs in conjunction with only one level of factor A. </a:t>
            </a:r>
          </a:p>
          <a:p>
            <a:pPr algn="l" marL="451879" indent="-225939" lvl="1">
              <a:lnSpc>
                <a:spcPts val="2931"/>
              </a:lnSpc>
              <a:buFont typeface="Arial"/>
              <a:buChar char="•"/>
            </a:pPr>
            <a:r>
              <a:rPr lang="en-US" sz="2093">
                <a:solidFill>
                  <a:srgbClr val="38B6FF"/>
                </a:solidFill>
                <a:latin typeface="Open Sauce"/>
                <a:ea typeface="Open Sauce"/>
                <a:cs typeface="Open Sauce"/>
                <a:sym typeface="Open Sauce"/>
              </a:rPr>
              <a:t>The relationship is depicted as B( A), where B is the nested factor and A is the nest factor.</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Empirical Research Guidelines</a:t>
            </a:r>
          </a:p>
        </p:txBody>
      </p:sp>
      <p:sp>
        <p:nvSpPr>
          <p:cNvPr name="TextBox 7" id="7"/>
          <p:cNvSpPr txBox="true"/>
          <p:nvPr/>
        </p:nvSpPr>
        <p:spPr>
          <a:xfrm rot="0">
            <a:off x="1387507" y="5353926"/>
            <a:ext cx="12352763" cy="2594737"/>
          </a:xfrm>
          <a:prstGeom prst="rect">
            <a:avLst/>
          </a:prstGeom>
        </p:spPr>
        <p:txBody>
          <a:bodyPr anchor="t" rtlCol="false" tIns="0" lIns="0" bIns="0" rIns="0">
            <a:spAutoFit/>
          </a:bodyPr>
          <a:lstStyle/>
          <a:p>
            <a:pPr algn="l">
              <a:lnSpc>
                <a:spcPts val="2930"/>
              </a:lnSpc>
            </a:pPr>
            <a:r>
              <a:rPr lang="en-US" sz="2093">
                <a:solidFill>
                  <a:srgbClr val="38B6FF"/>
                </a:solidFill>
                <a:latin typeface="Open Sauce"/>
                <a:ea typeface="Open Sauce"/>
                <a:cs typeface="Open Sauce"/>
                <a:sym typeface="Open Sauce"/>
              </a:rPr>
              <a:t>Contents </a:t>
            </a:r>
          </a:p>
          <a:p>
            <a:pPr algn="l">
              <a:lnSpc>
                <a:spcPts val="2930"/>
              </a:lnSpc>
            </a:pPr>
            <a:r>
              <a:rPr lang="en-US" sz="2093">
                <a:solidFill>
                  <a:srgbClr val="38B6FF"/>
                </a:solidFill>
                <a:latin typeface="Open Sauce"/>
                <a:ea typeface="Open Sauce"/>
                <a:cs typeface="Open Sauce"/>
                <a:sym typeface="Open Sauce"/>
              </a:rPr>
              <a:t>1. Experimental context </a:t>
            </a:r>
          </a:p>
          <a:p>
            <a:pPr algn="l">
              <a:lnSpc>
                <a:spcPts val="2930"/>
              </a:lnSpc>
            </a:pPr>
            <a:r>
              <a:rPr lang="en-US" sz="2093">
                <a:solidFill>
                  <a:srgbClr val="38B6FF"/>
                </a:solidFill>
                <a:latin typeface="Open Sauce"/>
                <a:ea typeface="Open Sauce"/>
                <a:cs typeface="Open Sauce"/>
                <a:sym typeface="Open Sauce"/>
              </a:rPr>
              <a:t>2. Experimental design </a:t>
            </a:r>
          </a:p>
          <a:p>
            <a:pPr algn="l">
              <a:lnSpc>
                <a:spcPts val="2930"/>
              </a:lnSpc>
            </a:pPr>
            <a:r>
              <a:rPr lang="en-US" sz="2093">
                <a:solidFill>
                  <a:srgbClr val="38B6FF"/>
                </a:solidFill>
                <a:latin typeface="Open Sauce"/>
                <a:ea typeface="Open Sauce"/>
                <a:cs typeface="Open Sauce"/>
                <a:sym typeface="Open Sauce"/>
              </a:rPr>
              <a:t>3. Data collection </a:t>
            </a:r>
          </a:p>
          <a:p>
            <a:pPr algn="l">
              <a:lnSpc>
                <a:spcPts val="2930"/>
              </a:lnSpc>
            </a:pPr>
            <a:r>
              <a:rPr lang="en-US" sz="2093">
                <a:solidFill>
                  <a:srgbClr val="38B6FF"/>
                </a:solidFill>
                <a:latin typeface="Open Sauce"/>
                <a:ea typeface="Open Sauce"/>
                <a:cs typeface="Open Sauce"/>
                <a:sym typeface="Open Sauce"/>
              </a:rPr>
              <a:t>4. Analysis</a:t>
            </a:r>
          </a:p>
          <a:p>
            <a:pPr algn="l">
              <a:lnSpc>
                <a:spcPts val="2930"/>
              </a:lnSpc>
            </a:pPr>
            <a:r>
              <a:rPr lang="en-US" sz="2093">
                <a:solidFill>
                  <a:srgbClr val="38B6FF"/>
                </a:solidFill>
                <a:latin typeface="Open Sauce"/>
                <a:ea typeface="Open Sauce"/>
                <a:cs typeface="Open Sauce"/>
                <a:sym typeface="Open Sauce"/>
              </a:rPr>
              <a:t> 5. Presentation of results </a:t>
            </a:r>
          </a:p>
          <a:p>
            <a:pPr algn="l">
              <a:lnSpc>
                <a:spcPts val="2931"/>
              </a:lnSpc>
            </a:pPr>
            <a:r>
              <a:rPr lang="en-US" sz="2093">
                <a:solidFill>
                  <a:srgbClr val="38B6FF"/>
                </a:solidFill>
                <a:latin typeface="Open Sauce"/>
                <a:ea typeface="Open Sauce"/>
                <a:cs typeface="Open Sauce"/>
                <a:sym typeface="Open Sauce"/>
              </a:rPr>
              <a:t>6. Interpretation of results</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1. Experimental Context</a:t>
            </a:r>
          </a:p>
        </p:txBody>
      </p:sp>
      <p:sp>
        <p:nvSpPr>
          <p:cNvPr name="TextBox 7" id="7"/>
          <p:cNvSpPr txBox="true"/>
          <p:nvPr/>
        </p:nvSpPr>
        <p:spPr>
          <a:xfrm rot="0">
            <a:off x="1387507" y="5344401"/>
            <a:ext cx="12352763" cy="2600431"/>
          </a:xfrm>
          <a:prstGeom prst="rect">
            <a:avLst/>
          </a:prstGeom>
        </p:spPr>
        <p:txBody>
          <a:bodyPr anchor="t" rtlCol="false" tIns="0" lIns="0" bIns="0" rIns="0">
            <a:spAutoFit/>
          </a:bodyPr>
          <a:lstStyle/>
          <a:p>
            <a:pPr algn="l">
              <a:lnSpc>
                <a:spcPts val="4190"/>
              </a:lnSpc>
            </a:pPr>
            <a:r>
              <a:rPr lang="en-US" sz="2992">
                <a:solidFill>
                  <a:srgbClr val="38B6FF"/>
                </a:solidFill>
                <a:latin typeface="Open Sauce"/>
                <a:ea typeface="Open Sauce"/>
                <a:cs typeface="Open Sauce"/>
                <a:sym typeface="Open Sauce"/>
              </a:rPr>
              <a:t>  Go</a:t>
            </a:r>
            <a:r>
              <a:rPr lang="en-US" sz="2992">
                <a:solidFill>
                  <a:srgbClr val="38B6FF"/>
                </a:solidFill>
                <a:latin typeface="Open Sauce"/>
                <a:ea typeface="Open Sauce"/>
                <a:cs typeface="Open Sauce"/>
                <a:sym typeface="Open Sauce"/>
              </a:rPr>
              <a:t>als:  </a:t>
            </a:r>
          </a:p>
          <a:p>
            <a:pPr algn="l" marL="646184" indent="-323092" lvl="1">
              <a:lnSpc>
                <a:spcPts val="4190"/>
              </a:lnSpc>
              <a:buFont typeface="Arial"/>
              <a:buChar char="•"/>
            </a:pPr>
            <a:r>
              <a:rPr lang="en-US" sz="2992">
                <a:solidFill>
                  <a:srgbClr val="38B6FF"/>
                </a:solidFill>
                <a:latin typeface="Open Sauce"/>
                <a:ea typeface="Open Sauce"/>
                <a:cs typeface="Open Sauce"/>
                <a:sym typeface="Open Sauce"/>
              </a:rPr>
              <a:t>Ensure that the objectives of the experiment have been properly defined </a:t>
            </a:r>
          </a:p>
          <a:p>
            <a:pPr algn="l" marL="646184" indent="-323092" lvl="1">
              <a:lnSpc>
                <a:spcPts val="4191"/>
              </a:lnSpc>
              <a:buFont typeface="Arial"/>
              <a:buChar char="•"/>
            </a:pPr>
            <a:r>
              <a:rPr lang="en-US" sz="2992">
                <a:solidFill>
                  <a:srgbClr val="38B6FF"/>
                </a:solidFill>
                <a:latin typeface="Open Sauce"/>
                <a:ea typeface="Open Sauce"/>
                <a:cs typeface="Open Sauce"/>
                <a:sym typeface="Open Sauce"/>
              </a:rPr>
              <a:t>Ensure that the description of the experiment provides enough details for the practitioners</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1. Experimental Context</a:t>
            </a:r>
          </a:p>
        </p:txBody>
      </p:sp>
      <p:sp>
        <p:nvSpPr>
          <p:cNvPr name="TextBox 7" id="7"/>
          <p:cNvSpPr txBox="true"/>
          <p:nvPr/>
        </p:nvSpPr>
        <p:spPr>
          <a:xfrm rot="0">
            <a:off x="1387507" y="5353926"/>
            <a:ext cx="12352763" cy="2223211"/>
          </a:xfrm>
          <a:prstGeom prst="rect">
            <a:avLst/>
          </a:prstGeom>
        </p:spPr>
        <p:txBody>
          <a:bodyPr anchor="t" rtlCol="false" tIns="0" lIns="0" bIns="0" rIns="0">
            <a:spAutoFit/>
          </a:bodyPr>
          <a:lstStyle/>
          <a:p>
            <a:pPr algn="l">
              <a:lnSpc>
                <a:spcPts val="2930"/>
              </a:lnSpc>
            </a:pPr>
            <a:r>
              <a:rPr lang="en-US" sz="2093">
                <a:solidFill>
                  <a:srgbClr val="38B6FF"/>
                </a:solidFill>
                <a:latin typeface="Open Sauce"/>
                <a:ea typeface="Open Sauce"/>
                <a:cs typeface="Open Sauce"/>
                <a:sym typeface="Open Sauce"/>
              </a:rPr>
              <a:t>  C1: B</a:t>
            </a:r>
            <a:r>
              <a:rPr lang="en-US" sz="2093">
                <a:solidFill>
                  <a:srgbClr val="38B6FF"/>
                </a:solidFill>
                <a:latin typeface="Open Sauce"/>
                <a:ea typeface="Open Sauce"/>
                <a:cs typeface="Open Sauce"/>
                <a:sym typeface="Open Sauce"/>
              </a:rPr>
              <a:t>e sure to specify as much of the context as possible. In particular, clearly define </a:t>
            </a:r>
            <a:r>
              <a:rPr lang="en-US" sz="2093">
                <a:solidFill>
                  <a:srgbClr val="38B6FF"/>
                </a:solidFill>
                <a:latin typeface="Open Sauce"/>
                <a:ea typeface="Open Sauce"/>
                <a:cs typeface="Open Sauce"/>
                <a:sym typeface="Open Sauce"/>
              </a:rPr>
              <a:t>the entities, attributes and measures that are capturing the contextual information. </a:t>
            </a:r>
          </a:p>
          <a:p>
            <a:pPr algn="l">
              <a:lnSpc>
                <a:spcPts val="2930"/>
              </a:lnSpc>
            </a:pPr>
            <a:r>
              <a:rPr lang="en-US" sz="2093">
                <a:solidFill>
                  <a:srgbClr val="38B6FF"/>
                </a:solidFill>
                <a:latin typeface="Open Sauce"/>
                <a:ea typeface="Open Sauce"/>
                <a:cs typeface="Open Sauce"/>
                <a:sym typeface="Open Sauce"/>
              </a:rPr>
              <a:t>   </a:t>
            </a:r>
            <a:r>
              <a:rPr lang="en-US" sz="2093">
                <a:solidFill>
                  <a:srgbClr val="38B6FF"/>
                </a:solidFill>
                <a:latin typeface="Open Sauce"/>
                <a:ea typeface="Open Sauce"/>
                <a:cs typeface="Open Sauce"/>
                <a:sym typeface="Open Sauce"/>
              </a:rPr>
              <a:t>C2: If a specific hypothesis is being tested, state it clearly prior to performing the study, and discuss the theory from which it is derived, so that its implications are apparent. </a:t>
            </a:r>
          </a:p>
          <a:p>
            <a:pPr algn="l">
              <a:lnSpc>
                <a:spcPts val="2931"/>
              </a:lnSpc>
            </a:pPr>
            <a:r>
              <a:rPr lang="en-US" sz="2093">
                <a:solidFill>
                  <a:srgbClr val="38B6FF"/>
                </a:solidFill>
                <a:latin typeface="Open Sauce"/>
                <a:ea typeface="Open Sauce"/>
                <a:cs typeface="Open Sauce"/>
                <a:sym typeface="Open Sauce"/>
              </a:rPr>
              <a:t>    </a:t>
            </a:r>
            <a:r>
              <a:rPr lang="en-US" sz="2093">
                <a:solidFill>
                  <a:srgbClr val="38B6FF"/>
                </a:solidFill>
                <a:latin typeface="Open Sauce"/>
                <a:ea typeface="Open Sauce"/>
                <a:cs typeface="Open Sauce"/>
                <a:sym typeface="Open Sauce"/>
              </a:rPr>
              <a:t>C3: If the target is exploratory, state clearly and, prior to data analysis, what questions the investigation is intended to address, and how it will address them.</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2. Experimental Design </a:t>
            </a:r>
          </a:p>
        </p:txBody>
      </p:sp>
      <p:sp>
        <p:nvSpPr>
          <p:cNvPr name="TextBox 7" id="7"/>
          <p:cNvSpPr txBox="true"/>
          <p:nvPr/>
        </p:nvSpPr>
        <p:spPr>
          <a:xfrm rot="0">
            <a:off x="1458373" y="6030074"/>
            <a:ext cx="12352763" cy="1810500"/>
          </a:xfrm>
          <a:prstGeom prst="rect">
            <a:avLst/>
          </a:prstGeom>
        </p:spPr>
        <p:txBody>
          <a:bodyPr anchor="t" rtlCol="false" tIns="0" lIns="0" bIns="0" rIns="0">
            <a:spAutoFit/>
          </a:bodyPr>
          <a:lstStyle/>
          <a:p>
            <a:pPr algn="l">
              <a:lnSpc>
                <a:spcPts val="3630"/>
              </a:lnSpc>
            </a:pPr>
            <a:r>
              <a:rPr lang="en-US" sz="2592">
                <a:solidFill>
                  <a:srgbClr val="38B6FF"/>
                </a:solidFill>
                <a:latin typeface="Open Sauce"/>
                <a:ea typeface="Open Sauce"/>
                <a:cs typeface="Open Sauce"/>
                <a:sym typeface="Open Sauce"/>
              </a:rPr>
              <a:t>Goal:</a:t>
            </a:r>
            <a:r>
              <a:rPr lang="en-US" sz="2592">
                <a:solidFill>
                  <a:srgbClr val="38B6FF"/>
                </a:solidFill>
                <a:latin typeface="Open Sauce"/>
                <a:ea typeface="Open Sauce"/>
                <a:cs typeface="Open Sauce"/>
                <a:sym typeface="Open Sauce"/>
              </a:rPr>
              <a:t> </a:t>
            </a:r>
          </a:p>
          <a:p>
            <a:pPr algn="l" marL="559827" indent="-279913" lvl="1">
              <a:lnSpc>
                <a:spcPts val="3630"/>
              </a:lnSpc>
              <a:buFont typeface="Arial"/>
              <a:buChar char="•"/>
            </a:pPr>
            <a:r>
              <a:rPr lang="en-US" sz="2592">
                <a:solidFill>
                  <a:srgbClr val="38B6FF"/>
                </a:solidFill>
                <a:latin typeface="Open Sauce"/>
                <a:ea typeface="Open Sauce"/>
                <a:cs typeface="Open Sauce"/>
                <a:sym typeface="Open Sauce"/>
              </a:rPr>
              <a:t>Ensure that the design is appropriate for the objectives of the experiment </a:t>
            </a:r>
          </a:p>
          <a:p>
            <a:pPr algn="l" marL="559827" indent="-279913" lvl="1">
              <a:lnSpc>
                <a:spcPts val="3631"/>
              </a:lnSpc>
              <a:buFont typeface="Arial"/>
              <a:buChar char="•"/>
            </a:pPr>
            <a:r>
              <a:rPr lang="en-US" sz="2592">
                <a:solidFill>
                  <a:srgbClr val="38B6FF"/>
                </a:solidFill>
                <a:latin typeface="Open Sauce"/>
                <a:ea typeface="Open Sauce"/>
                <a:cs typeface="Open Sauce"/>
                <a:sym typeface="Open Sauce"/>
              </a:rPr>
              <a:t>Ensure that the objective of the experiment can be reached using the techniques specified in the design</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2. Experimental Design </a:t>
            </a:r>
          </a:p>
        </p:txBody>
      </p:sp>
      <p:sp>
        <p:nvSpPr>
          <p:cNvPr name="TextBox 7" id="7"/>
          <p:cNvSpPr txBox="true"/>
          <p:nvPr/>
        </p:nvSpPr>
        <p:spPr>
          <a:xfrm rot="0">
            <a:off x="1387507" y="5353926"/>
            <a:ext cx="12352763" cy="3489442"/>
          </a:xfrm>
          <a:prstGeom prst="rect">
            <a:avLst/>
          </a:prstGeom>
        </p:spPr>
        <p:txBody>
          <a:bodyPr anchor="t" rtlCol="false" tIns="0" lIns="0" bIns="0" rIns="0">
            <a:spAutoFit/>
          </a:bodyPr>
          <a:lstStyle/>
          <a:p>
            <a:pPr algn="l">
              <a:lnSpc>
                <a:spcPts val="3490"/>
              </a:lnSpc>
            </a:pPr>
            <a:r>
              <a:rPr lang="en-US" sz="2492">
                <a:solidFill>
                  <a:srgbClr val="38B6FF"/>
                </a:solidFill>
                <a:latin typeface="Open Sauce"/>
                <a:ea typeface="Open Sauce"/>
                <a:cs typeface="Open Sauce"/>
                <a:sym typeface="Open Sauce"/>
              </a:rPr>
              <a:t>  D1: Identify the populati</a:t>
            </a:r>
            <a:r>
              <a:rPr lang="en-US" sz="2492">
                <a:solidFill>
                  <a:srgbClr val="38B6FF"/>
                </a:solidFill>
                <a:latin typeface="Open Sauce"/>
                <a:ea typeface="Open Sauce"/>
                <a:cs typeface="Open Sauce"/>
                <a:sym typeface="Open Sauce"/>
              </a:rPr>
              <a:t>on from which the subjects and objects are drawn. </a:t>
            </a:r>
          </a:p>
          <a:p>
            <a:pPr algn="l">
              <a:lnSpc>
                <a:spcPts val="3490"/>
              </a:lnSpc>
            </a:pPr>
            <a:r>
              <a:rPr lang="en-US" sz="2492">
                <a:solidFill>
                  <a:srgbClr val="38B6FF"/>
                </a:solidFill>
                <a:latin typeface="Open Sauce"/>
                <a:ea typeface="Open Sauce"/>
                <a:cs typeface="Open Sauce"/>
                <a:sym typeface="Open Sauce"/>
              </a:rPr>
              <a:t>   D2: Define the process by which the subjects and objects were selected (inclusion/exclusion criteria). </a:t>
            </a:r>
          </a:p>
          <a:p>
            <a:pPr algn="l">
              <a:lnSpc>
                <a:spcPts val="3490"/>
              </a:lnSpc>
            </a:pPr>
            <a:r>
              <a:rPr lang="en-US" sz="2492">
                <a:solidFill>
                  <a:srgbClr val="38B6FF"/>
                </a:solidFill>
                <a:latin typeface="Open Sauce"/>
                <a:ea typeface="Open Sauce"/>
                <a:cs typeface="Open Sauce"/>
                <a:sym typeface="Open Sauce"/>
              </a:rPr>
              <a:t>   D3: Define the process by which subjects and objects are assigned to treatments. </a:t>
            </a:r>
          </a:p>
          <a:p>
            <a:pPr algn="l">
              <a:lnSpc>
                <a:spcPts val="3490"/>
              </a:lnSpc>
            </a:pPr>
            <a:r>
              <a:rPr lang="en-US" sz="2492">
                <a:solidFill>
                  <a:srgbClr val="38B6FF"/>
                </a:solidFill>
                <a:latin typeface="Open Sauce"/>
                <a:ea typeface="Open Sauce"/>
                <a:cs typeface="Open Sauce"/>
                <a:sym typeface="Open Sauce"/>
              </a:rPr>
              <a:t>   D4: Restrict yourself to simple study designs or, at least, to designs that are fully analyzed in the literature.</a:t>
            </a:r>
          </a:p>
          <a:p>
            <a:pPr algn="l">
              <a:lnSpc>
                <a:spcPts val="3491"/>
              </a:lnSpc>
            </a:pPr>
            <a:r>
              <a:rPr lang="en-US" sz="2492">
                <a:solidFill>
                  <a:srgbClr val="38B6FF"/>
                </a:solidFill>
                <a:latin typeface="Open Sauce"/>
                <a:ea typeface="Open Sauce"/>
                <a:cs typeface="Open Sauce"/>
                <a:sym typeface="Open Sauce"/>
              </a:rPr>
              <a:t>    D5: Define the experimental unit.</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3. Data Collection</a:t>
            </a:r>
          </a:p>
        </p:txBody>
      </p:sp>
      <p:sp>
        <p:nvSpPr>
          <p:cNvPr name="TextBox 7" id="7"/>
          <p:cNvSpPr txBox="true"/>
          <p:nvPr/>
        </p:nvSpPr>
        <p:spPr>
          <a:xfrm rot="0">
            <a:off x="1387507" y="5334876"/>
            <a:ext cx="12352763" cy="1976865"/>
          </a:xfrm>
          <a:prstGeom prst="rect">
            <a:avLst/>
          </a:prstGeom>
        </p:spPr>
        <p:txBody>
          <a:bodyPr anchor="t" rtlCol="false" tIns="0" lIns="0" bIns="0" rIns="0">
            <a:spAutoFit/>
          </a:bodyPr>
          <a:lstStyle/>
          <a:p>
            <a:pPr algn="l">
              <a:lnSpc>
                <a:spcPts val="3910"/>
              </a:lnSpc>
            </a:pPr>
            <a:r>
              <a:rPr lang="en-US" sz="2792">
                <a:solidFill>
                  <a:srgbClr val="38B6FF"/>
                </a:solidFill>
                <a:latin typeface="Open Sauce"/>
                <a:ea typeface="Open Sauce"/>
                <a:cs typeface="Open Sauce"/>
                <a:sym typeface="Open Sauce"/>
              </a:rPr>
              <a:t>Goal </a:t>
            </a:r>
          </a:p>
          <a:p>
            <a:pPr algn="l">
              <a:lnSpc>
                <a:spcPts val="3910"/>
              </a:lnSpc>
            </a:pPr>
            <a:r>
              <a:rPr lang="en-US" sz="2792">
                <a:solidFill>
                  <a:srgbClr val="38B6FF"/>
                </a:solidFill>
                <a:latin typeface="Open Sauce"/>
                <a:ea typeface="Open Sauce"/>
                <a:cs typeface="Open Sauce"/>
                <a:sym typeface="Open Sauce"/>
              </a:rPr>
              <a:t>Ensure that the data collecti</a:t>
            </a:r>
            <a:r>
              <a:rPr lang="en-US" sz="2792">
                <a:solidFill>
                  <a:srgbClr val="38B6FF"/>
                </a:solidFill>
                <a:latin typeface="Open Sauce"/>
                <a:ea typeface="Open Sauce"/>
                <a:cs typeface="Open Sauce"/>
                <a:sym typeface="Open Sauce"/>
              </a:rPr>
              <a:t>on process is well defined</a:t>
            </a:r>
          </a:p>
          <a:p>
            <a:pPr algn="l">
              <a:lnSpc>
                <a:spcPts val="3911"/>
              </a:lnSpc>
            </a:pPr>
            <a:r>
              <a:rPr lang="en-US" sz="2792">
                <a:solidFill>
                  <a:srgbClr val="38B6FF"/>
                </a:solidFill>
                <a:latin typeface="Open Sauce"/>
                <a:ea typeface="Open Sauce"/>
                <a:cs typeface="Open Sauce"/>
                <a:sym typeface="Open Sauce"/>
              </a:rPr>
              <a:t>Monitor the data collection and watch for deviations from the experiment design</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3. Data Collection</a:t>
            </a:r>
          </a:p>
        </p:txBody>
      </p:sp>
      <p:sp>
        <p:nvSpPr>
          <p:cNvPr name="TextBox 7" id="7"/>
          <p:cNvSpPr txBox="true"/>
          <p:nvPr/>
        </p:nvSpPr>
        <p:spPr>
          <a:xfrm rot="0">
            <a:off x="1387507" y="5353926"/>
            <a:ext cx="12352763" cy="3589777"/>
          </a:xfrm>
          <a:prstGeom prst="rect">
            <a:avLst/>
          </a:prstGeom>
        </p:spPr>
        <p:txBody>
          <a:bodyPr anchor="t" rtlCol="false" tIns="0" lIns="0" bIns="0" rIns="0">
            <a:spAutoFit/>
          </a:bodyPr>
          <a:lstStyle/>
          <a:p>
            <a:pPr algn="l">
              <a:lnSpc>
                <a:spcPts val="3210"/>
              </a:lnSpc>
            </a:pPr>
            <a:r>
              <a:rPr lang="en-US" sz="2292">
                <a:solidFill>
                  <a:srgbClr val="38B6FF"/>
                </a:solidFill>
                <a:latin typeface="Open Sauce"/>
                <a:ea typeface="Open Sauce"/>
                <a:cs typeface="Open Sauce"/>
                <a:sym typeface="Open Sauce"/>
              </a:rPr>
              <a:t>DC1: D</a:t>
            </a:r>
            <a:r>
              <a:rPr lang="en-US" sz="2292">
                <a:solidFill>
                  <a:srgbClr val="38B6FF"/>
                </a:solidFill>
                <a:latin typeface="Open Sauce"/>
                <a:ea typeface="Open Sauce"/>
                <a:cs typeface="Open Sauce"/>
                <a:sym typeface="Open Sauce"/>
              </a:rPr>
              <a:t>efine all software measures fully, including the </a:t>
            </a:r>
            <a:r>
              <a:rPr lang="en-US" sz="2292">
                <a:solidFill>
                  <a:srgbClr val="38B6FF"/>
                </a:solidFill>
                <a:latin typeface="Open Sauce"/>
                <a:ea typeface="Open Sauce"/>
                <a:cs typeface="Open Sauce"/>
                <a:sym typeface="Open Sauce"/>
              </a:rPr>
              <a:t>entity, attribute, unit and counting rules. </a:t>
            </a:r>
          </a:p>
          <a:p>
            <a:pPr algn="l">
              <a:lnSpc>
                <a:spcPts val="3210"/>
              </a:lnSpc>
            </a:pPr>
            <a:r>
              <a:rPr lang="en-US" sz="2292">
                <a:solidFill>
                  <a:srgbClr val="38B6FF"/>
                </a:solidFill>
                <a:latin typeface="Open Sauce"/>
                <a:ea typeface="Open Sauce"/>
                <a:cs typeface="Open Sauce"/>
                <a:sym typeface="Open Sauce"/>
              </a:rPr>
              <a:t>DC2: Describe any quality control method used to ensure completeness and accuracy of data collection. </a:t>
            </a:r>
          </a:p>
          <a:p>
            <a:pPr algn="l">
              <a:lnSpc>
                <a:spcPts val="3210"/>
              </a:lnSpc>
            </a:pPr>
            <a:r>
              <a:rPr lang="en-US" sz="2292">
                <a:solidFill>
                  <a:srgbClr val="38B6FF"/>
                </a:solidFill>
                <a:latin typeface="Open Sauce"/>
                <a:ea typeface="Open Sauce"/>
                <a:cs typeface="Open Sauce"/>
                <a:sym typeface="Open Sauce"/>
              </a:rPr>
              <a:t>DC3: For observational studies and experiments, record data about subjects who drop out from the studies. </a:t>
            </a:r>
          </a:p>
          <a:p>
            <a:pPr algn="l">
              <a:lnSpc>
                <a:spcPts val="3211"/>
              </a:lnSpc>
            </a:pPr>
            <a:r>
              <a:rPr lang="en-US" sz="2292">
                <a:solidFill>
                  <a:srgbClr val="38B6FF"/>
                </a:solidFill>
                <a:latin typeface="Open Sauce"/>
                <a:ea typeface="Open Sauce"/>
                <a:cs typeface="Open Sauce"/>
                <a:sym typeface="Open Sauce"/>
              </a:rPr>
              <a:t>DC4: For observational studies and experiments, record data about other performance measures that may be adversely affected by the treatment, even if they are not the main focus of the study</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4. Analysis</a:t>
            </a:r>
          </a:p>
        </p:txBody>
      </p:sp>
      <p:sp>
        <p:nvSpPr>
          <p:cNvPr name="TextBox 7" id="7"/>
          <p:cNvSpPr txBox="true"/>
          <p:nvPr/>
        </p:nvSpPr>
        <p:spPr>
          <a:xfrm rot="0">
            <a:off x="1387507" y="5353926"/>
            <a:ext cx="12352763" cy="1884158"/>
          </a:xfrm>
          <a:prstGeom prst="rect">
            <a:avLst/>
          </a:prstGeom>
        </p:spPr>
        <p:txBody>
          <a:bodyPr anchor="t" rtlCol="false" tIns="0" lIns="0" bIns="0" rIns="0">
            <a:spAutoFit/>
          </a:bodyPr>
          <a:lstStyle/>
          <a:p>
            <a:pPr algn="l">
              <a:lnSpc>
                <a:spcPts val="3770"/>
              </a:lnSpc>
            </a:pPr>
            <a:r>
              <a:rPr lang="en-US" sz="2692">
                <a:solidFill>
                  <a:srgbClr val="38B6FF"/>
                </a:solidFill>
                <a:latin typeface="Open Sauce"/>
                <a:ea typeface="Open Sauce"/>
                <a:cs typeface="Open Sauce"/>
                <a:sym typeface="Open Sauce"/>
              </a:rPr>
              <a:t>Goal</a:t>
            </a:r>
            <a:r>
              <a:rPr lang="en-US" sz="2692">
                <a:solidFill>
                  <a:srgbClr val="38B6FF"/>
                </a:solidFill>
                <a:latin typeface="Open Sauce"/>
                <a:ea typeface="Open Sauce"/>
                <a:cs typeface="Open Sauce"/>
                <a:sym typeface="Open Sauce"/>
              </a:rPr>
              <a:t> </a:t>
            </a:r>
          </a:p>
          <a:p>
            <a:pPr algn="l">
              <a:lnSpc>
                <a:spcPts val="3770"/>
              </a:lnSpc>
            </a:pPr>
            <a:r>
              <a:rPr lang="en-US" sz="2692">
                <a:solidFill>
                  <a:srgbClr val="38B6FF"/>
                </a:solidFill>
                <a:latin typeface="Open Sauce"/>
                <a:ea typeface="Open Sauce"/>
                <a:cs typeface="Open Sauce"/>
                <a:sym typeface="Open Sauce"/>
              </a:rPr>
              <a:t>   </a:t>
            </a:r>
            <a:r>
              <a:rPr lang="en-US" sz="2692">
                <a:solidFill>
                  <a:srgbClr val="38B6FF"/>
                </a:solidFill>
                <a:latin typeface="Open Sauce"/>
                <a:ea typeface="Open Sauce"/>
                <a:cs typeface="Open Sauce"/>
                <a:sym typeface="Open Sauce"/>
              </a:rPr>
              <a:t>Ensure that the collec</a:t>
            </a:r>
            <a:r>
              <a:rPr lang="en-US" sz="2692">
                <a:solidFill>
                  <a:srgbClr val="38B6FF"/>
                </a:solidFill>
                <a:latin typeface="Open Sauce"/>
                <a:ea typeface="Open Sauce"/>
                <a:cs typeface="Open Sauce"/>
                <a:sym typeface="Open Sauce"/>
              </a:rPr>
              <a:t>ted data from the experiment is analyzed correctly </a:t>
            </a:r>
          </a:p>
          <a:p>
            <a:pPr algn="l">
              <a:lnSpc>
                <a:spcPts val="3771"/>
              </a:lnSpc>
            </a:pPr>
            <a:r>
              <a:rPr lang="en-US" sz="2692">
                <a:solidFill>
                  <a:srgbClr val="38B6FF"/>
                </a:solidFill>
                <a:latin typeface="Open Sauce"/>
                <a:ea typeface="Open Sauce"/>
                <a:cs typeface="Open Sauce"/>
                <a:sym typeface="Open Sauce"/>
              </a:rPr>
              <a:t>   </a:t>
            </a:r>
            <a:r>
              <a:rPr lang="en-US" sz="2692">
                <a:solidFill>
                  <a:srgbClr val="38B6FF"/>
                </a:solidFill>
                <a:latin typeface="Open Sauce"/>
                <a:ea typeface="Open Sauce"/>
                <a:cs typeface="Open Sauce"/>
                <a:sym typeface="Open Sauce"/>
              </a:rPr>
              <a:t>Monitor the data analysis and watch for deviations from the experiment design</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4. Analysis </a:t>
            </a:r>
          </a:p>
        </p:txBody>
      </p:sp>
      <p:sp>
        <p:nvSpPr>
          <p:cNvPr name="TextBox 7" id="7"/>
          <p:cNvSpPr txBox="true"/>
          <p:nvPr/>
        </p:nvSpPr>
        <p:spPr>
          <a:xfrm rot="0">
            <a:off x="1387507" y="5353926"/>
            <a:ext cx="12352763" cy="2613142"/>
          </a:xfrm>
          <a:prstGeom prst="rect">
            <a:avLst/>
          </a:prstGeom>
        </p:spPr>
        <p:txBody>
          <a:bodyPr anchor="t" rtlCol="false" tIns="0" lIns="0" bIns="0" rIns="0">
            <a:spAutoFit/>
          </a:bodyPr>
          <a:lstStyle/>
          <a:p>
            <a:pPr algn="l">
              <a:lnSpc>
                <a:spcPts val="3490"/>
              </a:lnSpc>
            </a:pPr>
            <a:r>
              <a:rPr lang="en-US" sz="2492">
                <a:solidFill>
                  <a:srgbClr val="38B6FF"/>
                </a:solidFill>
                <a:latin typeface="Open Sauce"/>
                <a:ea typeface="Open Sauce"/>
                <a:cs typeface="Open Sauce"/>
                <a:sym typeface="Open Sauce"/>
              </a:rPr>
              <a:t>   A1: Specify any procedures used to c</a:t>
            </a:r>
            <a:r>
              <a:rPr lang="en-US" sz="2492">
                <a:solidFill>
                  <a:srgbClr val="38B6FF"/>
                </a:solidFill>
                <a:latin typeface="Open Sauce"/>
                <a:ea typeface="Open Sauce"/>
                <a:cs typeface="Open Sauce"/>
                <a:sym typeface="Open Sauce"/>
              </a:rPr>
              <a:t>ontrol for multiple testing. </a:t>
            </a:r>
          </a:p>
          <a:p>
            <a:pPr algn="l">
              <a:lnSpc>
                <a:spcPts val="3490"/>
              </a:lnSpc>
            </a:pPr>
            <a:r>
              <a:rPr lang="en-US" sz="2492">
                <a:solidFill>
                  <a:srgbClr val="38B6FF"/>
                </a:solidFill>
                <a:latin typeface="Open Sauce"/>
                <a:ea typeface="Open Sauce"/>
                <a:cs typeface="Open Sauce"/>
                <a:sym typeface="Open Sauce"/>
              </a:rPr>
              <a:t>   </a:t>
            </a:r>
            <a:r>
              <a:rPr lang="en-US" sz="2492">
                <a:solidFill>
                  <a:srgbClr val="38B6FF"/>
                </a:solidFill>
                <a:latin typeface="Open Sauce"/>
                <a:ea typeface="Open Sauce"/>
                <a:cs typeface="Open Sauce"/>
                <a:sym typeface="Open Sauce"/>
              </a:rPr>
              <a:t>A2: Consider using blind analysis (avoid “fishing for results”).</a:t>
            </a:r>
          </a:p>
          <a:p>
            <a:pPr algn="l">
              <a:lnSpc>
                <a:spcPts val="3490"/>
              </a:lnSpc>
            </a:pPr>
            <a:r>
              <a:rPr lang="en-US" sz="2492">
                <a:solidFill>
                  <a:srgbClr val="38B6FF"/>
                </a:solidFill>
                <a:latin typeface="Open Sauce"/>
                <a:ea typeface="Open Sauce"/>
                <a:cs typeface="Open Sauce"/>
                <a:sym typeface="Open Sauce"/>
              </a:rPr>
              <a:t>   A3: Perform sensitivity analysis. </a:t>
            </a:r>
          </a:p>
          <a:p>
            <a:pPr algn="l">
              <a:lnSpc>
                <a:spcPts val="3490"/>
              </a:lnSpc>
            </a:pPr>
            <a:r>
              <a:rPr lang="en-US" sz="2492">
                <a:solidFill>
                  <a:srgbClr val="38B6FF"/>
                </a:solidFill>
                <a:latin typeface="Open Sauce"/>
                <a:ea typeface="Open Sauce"/>
                <a:cs typeface="Open Sauce"/>
                <a:sym typeface="Open Sauce"/>
              </a:rPr>
              <a:t>   </a:t>
            </a:r>
            <a:r>
              <a:rPr lang="en-US" sz="2492">
                <a:solidFill>
                  <a:srgbClr val="38B6FF"/>
                </a:solidFill>
                <a:latin typeface="Open Sauce"/>
                <a:ea typeface="Open Sauce"/>
                <a:cs typeface="Open Sauce"/>
                <a:sym typeface="Open Sauce"/>
              </a:rPr>
              <a:t>A4: Ensure that the data do not violate the assumptions of the tests used on them. </a:t>
            </a:r>
          </a:p>
          <a:p>
            <a:pPr algn="l">
              <a:lnSpc>
                <a:spcPts val="3491"/>
              </a:lnSpc>
            </a:pPr>
            <a:r>
              <a:rPr lang="en-US" sz="2492">
                <a:solidFill>
                  <a:srgbClr val="38B6FF"/>
                </a:solidFill>
                <a:latin typeface="Open Sauce"/>
                <a:ea typeface="Open Sauce"/>
                <a:cs typeface="Open Sauce"/>
                <a:sym typeface="Open Sauce"/>
              </a:rPr>
              <a:t>   </a:t>
            </a:r>
            <a:r>
              <a:rPr lang="en-US" sz="2492">
                <a:solidFill>
                  <a:srgbClr val="38B6FF"/>
                </a:solidFill>
                <a:latin typeface="Open Sauce"/>
                <a:ea typeface="Open Sauce"/>
                <a:cs typeface="Open Sauce"/>
                <a:sym typeface="Open Sauce"/>
              </a:rPr>
              <a:t>A5: Apply appropriate quality control procedures to verify the results.</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5. Presentation of Results </a:t>
            </a:r>
          </a:p>
        </p:txBody>
      </p:sp>
      <p:sp>
        <p:nvSpPr>
          <p:cNvPr name="TextBox 7" id="7"/>
          <p:cNvSpPr txBox="true"/>
          <p:nvPr/>
        </p:nvSpPr>
        <p:spPr>
          <a:xfrm rot="0">
            <a:off x="1387507" y="5344401"/>
            <a:ext cx="12352763" cy="1552681"/>
          </a:xfrm>
          <a:prstGeom prst="rect">
            <a:avLst/>
          </a:prstGeom>
        </p:spPr>
        <p:txBody>
          <a:bodyPr anchor="t" rtlCol="false" tIns="0" lIns="0" bIns="0" rIns="0">
            <a:spAutoFit/>
          </a:bodyPr>
          <a:lstStyle/>
          <a:p>
            <a:pPr algn="l">
              <a:lnSpc>
                <a:spcPts val="4190"/>
              </a:lnSpc>
            </a:pPr>
            <a:r>
              <a:rPr lang="en-US" sz="2992">
                <a:solidFill>
                  <a:srgbClr val="38B6FF"/>
                </a:solidFill>
                <a:latin typeface="Open Sauce"/>
                <a:ea typeface="Open Sauce"/>
                <a:cs typeface="Open Sauce"/>
                <a:sym typeface="Open Sauce"/>
              </a:rPr>
              <a:t>Go</a:t>
            </a:r>
            <a:r>
              <a:rPr lang="en-US" sz="2992">
                <a:solidFill>
                  <a:srgbClr val="38B6FF"/>
                </a:solidFill>
                <a:latin typeface="Open Sauce"/>
                <a:ea typeface="Open Sauce"/>
                <a:cs typeface="Open Sauce"/>
                <a:sym typeface="Open Sauce"/>
              </a:rPr>
              <a:t>al </a:t>
            </a:r>
          </a:p>
          <a:p>
            <a:pPr algn="l">
              <a:lnSpc>
                <a:spcPts val="4191"/>
              </a:lnSpc>
            </a:pPr>
            <a:r>
              <a:rPr lang="en-US" sz="2992">
                <a:solidFill>
                  <a:srgbClr val="38B6FF"/>
                </a:solidFill>
                <a:latin typeface="Open Sauce"/>
                <a:ea typeface="Open Sauce"/>
                <a:cs typeface="Open Sauce"/>
                <a:sym typeface="Open Sauce"/>
              </a:rPr>
              <a:t>Ensu</a:t>
            </a:r>
            <a:r>
              <a:rPr lang="en-US" sz="2992">
                <a:solidFill>
                  <a:srgbClr val="38B6FF"/>
                </a:solidFill>
                <a:latin typeface="Open Sauce"/>
                <a:ea typeface="Open Sauce"/>
                <a:cs typeface="Open Sauce"/>
                <a:sym typeface="Open Sauce"/>
              </a:rPr>
              <a:t>re that the reader of the results can understand the objective, the process and the results of experiment</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5. Presentation of Results </a:t>
            </a:r>
          </a:p>
        </p:txBody>
      </p:sp>
      <p:sp>
        <p:nvSpPr>
          <p:cNvPr name="TextBox 7" id="7"/>
          <p:cNvSpPr txBox="true"/>
          <p:nvPr/>
        </p:nvSpPr>
        <p:spPr>
          <a:xfrm rot="0">
            <a:off x="1387507" y="5363451"/>
            <a:ext cx="12352763" cy="3030345"/>
          </a:xfrm>
          <a:prstGeom prst="rect">
            <a:avLst/>
          </a:prstGeom>
        </p:spPr>
        <p:txBody>
          <a:bodyPr anchor="t" rtlCol="false" tIns="0" lIns="0" bIns="0" rIns="0">
            <a:spAutoFit/>
          </a:bodyPr>
          <a:lstStyle/>
          <a:p>
            <a:pPr algn="l">
              <a:lnSpc>
                <a:spcPts val="3070"/>
              </a:lnSpc>
            </a:pPr>
            <a:r>
              <a:rPr lang="en-US" sz="2193">
                <a:solidFill>
                  <a:srgbClr val="38B6FF"/>
                </a:solidFill>
                <a:latin typeface="Open Sauce"/>
                <a:ea typeface="Open Sauce"/>
                <a:cs typeface="Open Sauce"/>
                <a:sym typeface="Open Sauce"/>
              </a:rPr>
              <a:t>P1: D</a:t>
            </a:r>
            <a:r>
              <a:rPr lang="en-US" sz="2193">
                <a:solidFill>
                  <a:srgbClr val="38B6FF"/>
                </a:solidFill>
                <a:latin typeface="Open Sauce"/>
                <a:ea typeface="Open Sauce"/>
                <a:cs typeface="Open Sauce"/>
                <a:sym typeface="Open Sauce"/>
              </a:rPr>
              <a:t>escribe or cite a reference for all procedures used. Rep</a:t>
            </a:r>
            <a:r>
              <a:rPr lang="en-US" sz="2193">
                <a:solidFill>
                  <a:srgbClr val="38B6FF"/>
                </a:solidFill>
                <a:latin typeface="Open Sauce"/>
                <a:ea typeface="Open Sauce"/>
                <a:cs typeface="Open Sauce"/>
                <a:sym typeface="Open Sauce"/>
              </a:rPr>
              <a:t>ort or cite the statistical package used. </a:t>
            </a:r>
          </a:p>
          <a:p>
            <a:pPr algn="l">
              <a:lnSpc>
                <a:spcPts val="3070"/>
              </a:lnSpc>
            </a:pPr>
            <a:r>
              <a:rPr lang="en-US" sz="2193">
                <a:solidFill>
                  <a:srgbClr val="38B6FF"/>
                </a:solidFill>
                <a:latin typeface="Open Sauce"/>
                <a:ea typeface="Open Sauce"/>
                <a:cs typeface="Open Sauce"/>
                <a:sym typeface="Open Sauce"/>
              </a:rPr>
              <a:t>P2: Present quantitative results as well as significance levels. Quantitative results should show the magnitude of effects and the confidence limits. </a:t>
            </a:r>
          </a:p>
          <a:p>
            <a:pPr algn="l">
              <a:lnSpc>
                <a:spcPts val="3070"/>
              </a:lnSpc>
            </a:pPr>
            <a:r>
              <a:rPr lang="en-US" sz="2193">
                <a:solidFill>
                  <a:srgbClr val="38B6FF"/>
                </a:solidFill>
                <a:latin typeface="Open Sauce"/>
                <a:ea typeface="Open Sauce"/>
                <a:cs typeface="Open Sauce"/>
                <a:sym typeface="Open Sauce"/>
              </a:rPr>
              <a:t>P3: Present the raw data whenever possible. Otherwise, confirm that they are available for review by the reviewers and independent auditors.</a:t>
            </a:r>
          </a:p>
          <a:p>
            <a:pPr algn="l">
              <a:lnSpc>
                <a:spcPts val="3070"/>
              </a:lnSpc>
            </a:pPr>
            <a:r>
              <a:rPr lang="en-US" sz="2193">
                <a:solidFill>
                  <a:srgbClr val="38B6FF"/>
                </a:solidFill>
                <a:latin typeface="Open Sauce"/>
                <a:ea typeface="Open Sauce"/>
                <a:cs typeface="Open Sauce"/>
                <a:sym typeface="Open Sauce"/>
              </a:rPr>
              <a:t>P4: Provide appropriate descriptive statistics. </a:t>
            </a:r>
          </a:p>
          <a:p>
            <a:pPr algn="l">
              <a:lnSpc>
                <a:spcPts val="3071"/>
              </a:lnSpc>
            </a:pPr>
            <a:r>
              <a:rPr lang="en-US" sz="2193">
                <a:solidFill>
                  <a:srgbClr val="38B6FF"/>
                </a:solidFill>
                <a:latin typeface="Open Sauce"/>
                <a:ea typeface="Open Sauce"/>
                <a:cs typeface="Open Sauce"/>
                <a:sym typeface="Open Sauce"/>
              </a:rPr>
              <a:t>P5: Make appropriate use of graphics. </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25001"/>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6. Interpretation of Results </a:t>
            </a:r>
          </a:p>
        </p:txBody>
      </p:sp>
      <p:sp>
        <p:nvSpPr>
          <p:cNvPr name="TextBox 7" id="7"/>
          <p:cNvSpPr txBox="true"/>
          <p:nvPr/>
        </p:nvSpPr>
        <p:spPr>
          <a:xfrm rot="0">
            <a:off x="1387507" y="5178022"/>
            <a:ext cx="12352763" cy="1543161"/>
          </a:xfrm>
          <a:prstGeom prst="rect">
            <a:avLst/>
          </a:prstGeom>
        </p:spPr>
        <p:txBody>
          <a:bodyPr anchor="t" rtlCol="false" tIns="0" lIns="0" bIns="0" rIns="0">
            <a:spAutoFit/>
          </a:bodyPr>
          <a:lstStyle/>
          <a:p>
            <a:pPr algn="l">
              <a:lnSpc>
                <a:spcPts val="4470"/>
              </a:lnSpc>
            </a:pPr>
            <a:r>
              <a:rPr lang="en-US" sz="3192">
                <a:solidFill>
                  <a:srgbClr val="38B6FF"/>
                </a:solidFill>
                <a:latin typeface="Open Sauce"/>
                <a:ea typeface="Open Sauce"/>
                <a:cs typeface="Open Sauce"/>
                <a:sym typeface="Open Sauce"/>
              </a:rPr>
              <a:t>G</a:t>
            </a:r>
            <a:r>
              <a:rPr lang="en-US" sz="3192">
                <a:solidFill>
                  <a:srgbClr val="38B6FF"/>
                </a:solidFill>
                <a:latin typeface="Open Sauce"/>
                <a:ea typeface="Open Sauce"/>
                <a:cs typeface="Open Sauce"/>
                <a:sym typeface="Open Sauce"/>
              </a:rPr>
              <a:t>oal </a:t>
            </a:r>
          </a:p>
          <a:p>
            <a:pPr algn="l">
              <a:lnSpc>
                <a:spcPts val="3911"/>
              </a:lnSpc>
            </a:pPr>
            <a:r>
              <a:rPr lang="en-US" sz="2792">
                <a:solidFill>
                  <a:srgbClr val="38B6FF"/>
                </a:solidFill>
                <a:latin typeface="Open Sauce"/>
                <a:ea typeface="Open Sauce"/>
                <a:cs typeface="Open Sauce"/>
                <a:sym typeface="Open Sauce"/>
              </a:rPr>
              <a:t> Ensure that the conclusions are derived merely from the results of the experiment</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7507" y="976846"/>
            <a:ext cx="15512996" cy="8333299"/>
          </a:xfrm>
          <a:custGeom>
            <a:avLst/>
            <a:gdLst/>
            <a:ahLst/>
            <a:cxnLst/>
            <a:rect r="r" b="b" t="t" l="l"/>
            <a:pathLst>
              <a:path h="8333299" w="15512996">
                <a:moveTo>
                  <a:pt x="0" y="0"/>
                </a:moveTo>
                <a:lnTo>
                  <a:pt x="15512996" y="0"/>
                </a:lnTo>
                <a:lnTo>
                  <a:pt x="15512996" y="8333299"/>
                </a:lnTo>
                <a:lnTo>
                  <a:pt x="0" y="8333299"/>
                </a:lnTo>
                <a:lnTo>
                  <a:pt x="0" y="0"/>
                </a:lnTo>
                <a:close/>
              </a:path>
            </a:pathLst>
          </a:custGeom>
          <a:blipFill>
            <a:blip r:embed="rId2">
              <a:alphaModFix amt="24000"/>
              <a:extLst>
                <a:ext uri="{96DAC541-7B7A-43D3-8B79-37D633B846F1}">
                  <asvg:svgBlip xmlns:asvg="http://schemas.microsoft.com/office/drawing/2016/SVG/main" r:embed="rId3"/>
                </a:ext>
              </a:extLst>
            </a:blip>
            <a:stretch>
              <a:fillRect l="0" t="-110" r="0" b="-110"/>
            </a:stretch>
          </a:blipFill>
        </p:spPr>
      </p:sp>
      <p:sp>
        <p:nvSpPr>
          <p:cNvPr name="Freeform 3" id="3"/>
          <p:cNvSpPr/>
          <p:nvPr/>
        </p:nvSpPr>
        <p:spPr>
          <a:xfrm flipH="false" flipV="false" rot="0">
            <a:off x="12522489" y="2025567"/>
            <a:ext cx="13126822" cy="11098139"/>
          </a:xfrm>
          <a:custGeom>
            <a:avLst/>
            <a:gdLst/>
            <a:ahLst/>
            <a:cxnLst/>
            <a:rect r="r" b="b" t="t" l="l"/>
            <a:pathLst>
              <a:path h="11098139" w="13126822">
                <a:moveTo>
                  <a:pt x="0" y="0"/>
                </a:moveTo>
                <a:lnTo>
                  <a:pt x="13126822" y="0"/>
                </a:lnTo>
                <a:lnTo>
                  <a:pt x="13126822" y="11098140"/>
                </a:lnTo>
                <a:lnTo>
                  <a:pt x="0" y="11098140"/>
                </a:lnTo>
                <a:lnTo>
                  <a:pt x="0" y="0"/>
                </a:lnTo>
                <a:close/>
              </a:path>
            </a:pathLst>
          </a:custGeom>
          <a:blipFill>
            <a:blip r:embed="rId4">
              <a:extLst>
                <a:ext uri="{96DAC541-7B7A-43D3-8B79-37D633B846F1}">
                  <asvg:svgBlip xmlns:asvg="http://schemas.microsoft.com/office/drawing/2016/SVG/main" r:embed="rId5"/>
                </a:ext>
              </a:extLst>
            </a:blip>
            <a:stretch>
              <a:fillRect l="-176" t="0" r="-176" b="0"/>
            </a:stretch>
          </a:blipFill>
        </p:spPr>
      </p:sp>
      <p:sp>
        <p:nvSpPr>
          <p:cNvPr name="TextBox 4" id="4"/>
          <p:cNvSpPr txBox="true"/>
          <p:nvPr/>
        </p:nvSpPr>
        <p:spPr>
          <a:xfrm rot="0">
            <a:off x="1387507" y="1540478"/>
            <a:ext cx="7005237" cy="1738293"/>
          </a:xfrm>
          <a:prstGeom prst="rect">
            <a:avLst/>
          </a:prstGeom>
        </p:spPr>
        <p:txBody>
          <a:bodyPr anchor="t" rtlCol="false" tIns="0" lIns="0" bIns="0" rIns="0">
            <a:spAutoFit/>
          </a:bodyPr>
          <a:lstStyle/>
          <a:p>
            <a:pPr algn="l">
              <a:lnSpc>
                <a:spcPts val="12863"/>
              </a:lnSpc>
            </a:pPr>
            <a:r>
              <a:rPr lang="en-US" sz="9188">
                <a:solidFill>
                  <a:srgbClr val="15910C"/>
                </a:solidFill>
                <a:latin typeface="Rubik One"/>
                <a:ea typeface="Rubik One"/>
                <a:cs typeface="Rubik One"/>
                <a:sym typeface="Rubik One"/>
              </a:rPr>
              <a:t>SOFTWARE</a:t>
            </a:r>
          </a:p>
        </p:txBody>
      </p:sp>
      <p:sp>
        <p:nvSpPr>
          <p:cNvPr name="TextBox 5" id="5"/>
          <p:cNvSpPr txBox="true"/>
          <p:nvPr/>
        </p:nvSpPr>
        <p:spPr>
          <a:xfrm rot="0">
            <a:off x="1387507" y="2785853"/>
            <a:ext cx="10220582" cy="1738293"/>
          </a:xfrm>
          <a:prstGeom prst="rect">
            <a:avLst/>
          </a:prstGeom>
        </p:spPr>
        <p:txBody>
          <a:bodyPr anchor="t" rtlCol="false" tIns="0" lIns="0" bIns="0" rIns="0">
            <a:spAutoFit/>
          </a:bodyPr>
          <a:lstStyle/>
          <a:p>
            <a:pPr algn="l">
              <a:lnSpc>
                <a:spcPts val="12863"/>
              </a:lnSpc>
            </a:pPr>
            <a:r>
              <a:rPr lang="en-US" sz="9188">
                <a:solidFill>
                  <a:srgbClr val="000000"/>
                </a:solidFill>
                <a:latin typeface="Rubik One"/>
                <a:ea typeface="Rubik One"/>
                <a:cs typeface="Rubik One"/>
                <a:sym typeface="Rubik One"/>
              </a:rPr>
              <a:t>METRICS </a:t>
            </a:r>
          </a:p>
        </p:txBody>
      </p:sp>
      <p:sp>
        <p:nvSpPr>
          <p:cNvPr name="TextBox 6" id="6"/>
          <p:cNvSpPr txBox="true"/>
          <p:nvPr/>
        </p:nvSpPr>
        <p:spPr>
          <a:xfrm rot="0">
            <a:off x="1458373" y="4094416"/>
            <a:ext cx="11403587" cy="1278433"/>
          </a:xfrm>
          <a:prstGeom prst="rect">
            <a:avLst/>
          </a:prstGeom>
        </p:spPr>
        <p:txBody>
          <a:bodyPr anchor="t" rtlCol="false" tIns="0" lIns="0" bIns="0" rIns="0">
            <a:spAutoFit/>
          </a:bodyPr>
          <a:lstStyle/>
          <a:p>
            <a:pPr algn="l">
              <a:lnSpc>
                <a:spcPts val="5127"/>
              </a:lnSpc>
            </a:pPr>
            <a:r>
              <a:rPr lang="en-US" sz="3661" b="true">
                <a:solidFill>
                  <a:srgbClr val="5E17EB"/>
                </a:solidFill>
                <a:latin typeface="Open Sauce Bold"/>
                <a:ea typeface="Open Sauce Bold"/>
                <a:cs typeface="Open Sauce Bold"/>
                <a:sym typeface="Open Sauce Bold"/>
              </a:rPr>
              <a:t>chapter Four</a:t>
            </a:r>
          </a:p>
          <a:p>
            <a:pPr algn="l">
              <a:lnSpc>
                <a:spcPts val="5127"/>
              </a:lnSpc>
            </a:pPr>
            <a:r>
              <a:rPr lang="en-US" sz="3661" b="true">
                <a:solidFill>
                  <a:srgbClr val="5E17EB"/>
                </a:solidFill>
                <a:latin typeface="Open Sauce Bold"/>
                <a:ea typeface="Open Sauce Bold"/>
                <a:cs typeface="Open Sauce Bold"/>
                <a:sym typeface="Open Sauce Bold"/>
              </a:rPr>
              <a:t>6. Interpretation of Results </a:t>
            </a:r>
          </a:p>
        </p:txBody>
      </p:sp>
      <p:sp>
        <p:nvSpPr>
          <p:cNvPr name="TextBox 7" id="7"/>
          <p:cNvSpPr txBox="true"/>
          <p:nvPr/>
        </p:nvSpPr>
        <p:spPr>
          <a:xfrm rot="0">
            <a:off x="1387507" y="5353926"/>
            <a:ext cx="12352763" cy="1108837"/>
          </a:xfrm>
          <a:prstGeom prst="rect">
            <a:avLst/>
          </a:prstGeom>
        </p:spPr>
        <p:txBody>
          <a:bodyPr anchor="t" rtlCol="false" tIns="0" lIns="0" bIns="0" rIns="0">
            <a:spAutoFit/>
          </a:bodyPr>
          <a:lstStyle/>
          <a:p>
            <a:pPr algn="just">
              <a:lnSpc>
                <a:spcPts val="2930"/>
              </a:lnSpc>
            </a:pPr>
            <a:r>
              <a:rPr lang="en-US" sz="2093">
                <a:solidFill>
                  <a:srgbClr val="38B6FF"/>
                </a:solidFill>
                <a:latin typeface="Open Sauce"/>
                <a:ea typeface="Open Sauce"/>
                <a:cs typeface="Open Sauce"/>
                <a:sym typeface="Open Sauce"/>
              </a:rPr>
              <a:t>  I1: Define the populati</a:t>
            </a:r>
            <a:r>
              <a:rPr lang="en-US" sz="2093">
                <a:solidFill>
                  <a:srgbClr val="38B6FF"/>
                </a:solidFill>
                <a:latin typeface="Open Sauce"/>
                <a:ea typeface="Open Sauce"/>
                <a:cs typeface="Open Sauce"/>
                <a:sym typeface="Open Sauce"/>
              </a:rPr>
              <a:t>on to which inferential statistics and predictive models apply.</a:t>
            </a:r>
          </a:p>
          <a:p>
            <a:pPr algn="just">
              <a:lnSpc>
                <a:spcPts val="2930"/>
              </a:lnSpc>
            </a:pPr>
            <a:r>
              <a:rPr lang="en-US" sz="2093">
                <a:solidFill>
                  <a:srgbClr val="38B6FF"/>
                </a:solidFill>
                <a:latin typeface="Open Sauce"/>
                <a:ea typeface="Open Sauce"/>
                <a:cs typeface="Open Sauce"/>
                <a:sym typeface="Open Sauce"/>
              </a:rPr>
              <a:t> I2: Differentiate between statistical significance and practical importance.</a:t>
            </a:r>
          </a:p>
          <a:p>
            <a:pPr algn="just">
              <a:lnSpc>
                <a:spcPts val="2931"/>
              </a:lnSpc>
            </a:pPr>
            <a:r>
              <a:rPr lang="en-US" sz="2093">
                <a:solidFill>
                  <a:srgbClr val="38B6FF"/>
                </a:solidFill>
                <a:latin typeface="Open Sauce"/>
                <a:ea typeface="Open Sauce"/>
                <a:cs typeface="Open Sauce"/>
                <a:sym typeface="Open Sauce"/>
              </a:rPr>
              <a:t>I3: Specify any limitations of the study.</a:t>
            </a:r>
          </a:p>
        </p:txBody>
      </p:sp>
      <p:sp>
        <p:nvSpPr>
          <p:cNvPr name="Freeform 8" id="8"/>
          <p:cNvSpPr/>
          <p:nvPr/>
        </p:nvSpPr>
        <p:spPr>
          <a:xfrm flipH="false" flipV="false" rot="0">
            <a:off x="14835397" y="5589565"/>
            <a:ext cx="6461284" cy="5721172"/>
          </a:xfrm>
          <a:custGeom>
            <a:avLst/>
            <a:gdLst/>
            <a:ahLst/>
            <a:cxnLst/>
            <a:rect r="r" b="b" t="t" l="l"/>
            <a:pathLst>
              <a:path h="5721172" w="6461284">
                <a:moveTo>
                  <a:pt x="0" y="0"/>
                </a:moveTo>
                <a:lnTo>
                  <a:pt x="6461284" y="0"/>
                </a:lnTo>
                <a:lnTo>
                  <a:pt x="6461284" y="5721172"/>
                </a:lnTo>
                <a:lnTo>
                  <a:pt x="0" y="5721172"/>
                </a:lnTo>
                <a:lnTo>
                  <a:pt x="0" y="0"/>
                </a:lnTo>
                <a:close/>
              </a:path>
            </a:pathLst>
          </a:custGeom>
          <a:blipFill>
            <a:blip r:embed="rId6">
              <a:extLst>
                <a:ext uri="{96DAC541-7B7A-43D3-8B79-37D633B846F1}">
                  <asvg:svgBlip xmlns:asvg="http://schemas.microsoft.com/office/drawing/2016/SVG/main" r:embed="rId7"/>
                </a:ext>
              </a:extLst>
            </a:blip>
            <a:stretch>
              <a:fillRect l="-18" t="0" r="-18" b="0"/>
            </a:stretch>
          </a:blipFill>
        </p:spPr>
      </p:sp>
      <p:sp>
        <p:nvSpPr>
          <p:cNvPr name="Freeform 9" id="9"/>
          <p:cNvSpPr/>
          <p:nvPr/>
        </p:nvSpPr>
        <p:spPr>
          <a:xfrm flipH="false" flipV="false" rot="0">
            <a:off x="-8748446" y="-5832453"/>
            <a:ext cx="10999518" cy="9299591"/>
          </a:xfrm>
          <a:custGeom>
            <a:avLst/>
            <a:gdLst/>
            <a:ahLst/>
            <a:cxnLst/>
            <a:rect r="r" b="b" t="t" l="l"/>
            <a:pathLst>
              <a:path h="9299591" w="10999518">
                <a:moveTo>
                  <a:pt x="0" y="0"/>
                </a:moveTo>
                <a:lnTo>
                  <a:pt x="10999518" y="0"/>
                </a:lnTo>
                <a:lnTo>
                  <a:pt x="10999518" y="9299591"/>
                </a:lnTo>
                <a:lnTo>
                  <a:pt x="0" y="9299591"/>
                </a:lnTo>
                <a:lnTo>
                  <a:pt x="0" y="0"/>
                </a:lnTo>
                <a:close/>
              </a:path>
            </a:pathLst>
          </a:custGeom>
          <a:blipFill>
            <a:blip r:embed="rId4">
              <a:extLst>
                <a:ext uri="{96DAC541-7B7A-43D3-8B79-37D633B846F1}">
                  <asvg:svgBlip xmlns:asvg="http://schemas.microsoft.com/office/drawing/2016/SVG/main" r:embed="rId5"/>
                </a:ext>
              </a:extLst>
            </a:blip>
            <a:stretch>
              <a:fillRect l="-190" t="0" r="-19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DAHDbuaAqpk</dc:identifier>
  <dcterms:modified xsi:type="dcterms:W3CDTF">2011-08-01T06:04:30Z</dcterms:modified>
  <cp:revision>1</cp:revision>
  <dc:title>chapter four Goal-Based Framework</dc:title>
</cp:coreProperties>
</file>