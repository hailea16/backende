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x="18288000" cy="10287000"/>
  <p:notesSz cx="6858000" cy="9144000"/>
  <p:embeddedFontLst>
    <p:embeddedFont>
      <p:font typeface="Rubik One" charset="1" panose="02000604000000020004"/>
      <p:regular r:id="rId57"/>
    </p:embeddedFont>
    <p:embeddedFont>
      <p:font typeface="Open Sauce Bold" charset="1" panose="00000800000000000000"/>
      <p:regular r:id="rId58"/>
    </p:embeddedFont>
    <p:embeddedFont>
      <p:font typeface="Open Sauce" charset="1" panose="00000500000000000000"/>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458369" y="5240316"/>
            <a:ext cx="11403584" cy="1480348"/>
          </a:xfrm>
          <a:prstGeom prst="rect">
            <a:avLst/>
          </a:prstGeom>
        </p:spPr>
        <p:txBody>
          <a:bodyPr anchor="t" rtlCol="false" tIns="0" lIns="0" bIns="0" rIns="0">
            <a:spAutoFit/>
          </a:bodyPr>
          <a:lstStyle/>
          <a:p>
            <a:pPr algn="l">
              <a:lnSpc>
                <a:spcPts val="2931"/>
              </a:lnSpc>
            </a:pPr>
            <a:r>
              <a:rPr lang="en-US" sz="2093">
                <a:solidFill>
                  <a:srgbClr val="CB6CE6"/>
                </a:solidFill>
                <a:latin typeface="Open Sauce"/>
                <a:ea typeface="Open Sauce"/>
                <a:cs typeface="Open Sauce"/>
                <a:sym typeface="Open Sauce"/>
              </a:rPr>
              <a:t>Software Measurement:</a:t>
            </a:r>
            <a:r>
              <a:rPr lang="en-US" sz="2093">
                <a:solidFill>
                  <a:srgbClr val="000000"/>
                </a:solidFill>
                <a:latin typeface="Open Sauce"/>
                <a:ea typeface="Open Sauce"/>
                <a:cs typeface="Open Sauce"/>
                <a:sym typeface="Open Sauce"/>
              </a:rPr>
              <a:t> A measurement is a manifestation of the size, quantity, amount, or dimension of a particular attribute of a product or process. Software measurement is a titrate impute of a characteristic of a software product or the software process.</a:t>
            </a:r>
          </a:p>
          <a:p>
            <a:pPr algn="l">
              <a:lnSpc>
                <a:spcPts val="2931"/>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458369" y="5249841"/>
            <a:ext cx="11134984" cy="4442293"/>
          </a:xfrm>
          <a:prstGeom prst="rect">
            <a:avLst/>
          </a:prstGeom>
        </p:spPr>
        <p:txBody>
          <a:bodyPr anchor="t" rtlCol="false" tIns="0" lIns="0" bIns="0" rIns="0">
            <a:spAutoFit/>
          </a:bodyPr>
          <a:lstStyle/>
          <a:p>
            <a:pPr algn="l">
              <a:lnSpc>
                <a:spcPts val="2949"/>
              </a:lnSpc>
            </a:pPr>
            <a:r>
              <a:rPr lang="en-US" sz="2106">
                <a:solidFill>
                  <a:srgbClr val="CB6CE6"/>
                </a:solidFill>
                <a:latin typeface="Open Sauce"/>
                <a:ea typeface="Open Sauce"/>
                <a:cs typeface="Open Sauce"/>
                <a:sym typeface="Open Sauce"/>
              </a:rPr>
              <a:t>Software Measurement Principles</a:t>
            </a:r>
          </a:p>
          <a:p>
            <a:pPr algn="l">
              <a:lnSpc>
                <a:spcPts val="2949"/>
              </a:lnSpc>
            </a:pPr>
            <a:r>
              <a:rPr lang="en-US" sz="2106">
                <a:solidFill>
                  <a:srgbClr val="000000"/>
                </a:solidFill>
                <a:latin typeface="Open Sauce"/>
                <a:ea typeface="Open Sauce"/>
                <a:cs typeface="Open Sauce"/>
                <a:sym typeface="Open Sauce"/>
              </a:rPr>
              <a:t>The software measurement process can be characterized by five activities-</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Formulation: The derivation of software measures and metrics appropriate for the representation of the software that is being considered.</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Collection: The mechanism used to accumulate data required to derive the formulated metrics.</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Analysis: The computation of metrics and the application of mathematical tools.</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Interpretation: The evaluation of metrics results in insight into the quality of the representation.</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Feedback: Recommendation derived from the interpretation of product metrics transmitted to the software team.</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647878" y="5249841"/>
            <a:ext cx="10261414" cy="4369830"/>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Need for Software Measurement</a:t>
            </a:r>
          </a:p>
          <a:p>
            <a:pPr algn="l">
              <a:lnSpc>
                <a:spcPts val="2949"/>
              </a:lnSpc>
            </a:pPr>
            <a:r>
              <a:rPr lang="en-US" sz="2106">
                <a:solidFill>
                  <a:srgbClr val="000000"/>
                </a:solidFill>
                <a:latin typeface="Open Sauce"/>
                <a:ea typeface="Open Sauce"/>
                <a:cs typeface="Open Sauce"/>
                <a:sym typeface="Open Sauce"/>
              </a:rPr>
              <a:t>Software is measured to: </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Create the quality of the current product or process.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Anticipate future qualities of the product or process.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Enhance the quality of a product or process.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Regulate the state of the project concerning budget and schedule.</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Enable data-driven decision-making in project planning and control.</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Identify bottlenecks and areas for improvement to drive process improvement activities.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Give software products and processes a quantitative basis for evaluation.</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Enable the ongoing improvement of software development practices.</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249841"/>
            <a:ext cx="9699836" cy="2956393"/>
          </a:xfrm>
          <a:prstGeom prst="rect">
            <a:avLst/>
          </a:prstGeom>
        </p:spPr>
        <p:txBody>
          <a:bodyPr anchor="t" rtlCol="false" tIns="0" lIns="0" bIns="0" rIns="0">
            <a:spAutoFit/>
          </a:bodyPr>
          <a:lstStyle/>
          <a:p>
            <a:pPr algn="l">
              <a:lnSpc>
                <a:spcPts val="2949"/>
              </a:lnSpc>
            </a:pPr>
            <a:r>
              <a:rPr lang="en-US" sz="2106">
                <a:solidFill>
                  <a:srgbClr val="5E17EB"/>
                </a:solidFill>
                <a:latin typeface="Open Sauce"/>
                <a:ea typeface="Open Sauce"/>
                <a:cs typeface="Open Sauce"/>
                <a:sym typeface="Open Sauce"/>
              </a:rPr>
              <a:t>Classification of Software Measurement</a:t>
            </a:r>
          </a:p>
          <a:p>
            <a:pPr algn="l">
              <a:lnSpc>
                <a:spcPts val="2949"/>
              </a:lnSpc>
            </a:pPr>
            <a:r>
              <a:rPr lang="en-US" sz="2106">
                <a:solidFill>
                  <a:srgbClr val="000000"/>
                </a:solidFill>
                <a:latin typeface="Open Sauce"/>
                <a:ea typeface="Open Sauce"/>
                <a:cs typeface="Open Sauce"/>
                <a:sym typeface="Open Sauce"/>
              </a:rPr>
              <a:t>There are 2 types of software measurement: </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Direct Measurement: In direct measurement, the product, process, or thing is measured directly using a standard scale.</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Indirect Measurement: In indirect measurement, the quantity or quality to be measured is measured using related parameters i.e. by use of reference.</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4070818"/>
          </a:xfrm>
          <a:prstGeom prst="rect">
            <a:avLst/>
          </a:prstGeom>
        </p:spPr>
        <p:txBody>
          <a:bodyPr anchor="t" rtlCol="false" tIns="0" lIns="0" bIns="0" rIns="0">
            <a:spAutoFit/>
          </a:bodyPr>
          <a:lstStyle/>
          <a:p>
            <a:pPr algn="l">
              <a:lnSpc>
                <a:spcPts val="2949"/>
              </a:lnSpc>
            </a:pPr>
            <a:r>
              <a:rPr lang="en-US" sz="2106">
                <a:solidFill>
                  <a:srgbClr val="5E17EB"/>
                </a:solidFill>
                <a:latin typeface="Open Sauce"/>
                <a:ea typeface="Open Sauce"/>
                <a:cs typeface="Open Sauce"/>
                <a:sym typeface="Open Sauce"/>
              </a:rPr>
              <a:t>Software Metrics</a:t>
            </a:r>
          </a:p>
          <a:p>
            <a:pPr algn="l">
              <a:lnSpc>
                <a:spcPts val="2949"/>
              </a:lnSpc>
            </a:pPr>
            <a:r>
              <a:rPr lang="en-US" sz="2106">
                <a:solidFill>
                  <a:srgbClr val="000000"/>
                </a:solidFill>
                <a:latin typeface="Open Sauce"/>
                <a:ea typeface="Open Sauce"/>
                <a:cs typeface="Open Sauce"/>
                <a:sym typeface="Open Sauce"/>
              </a:rPr>
              <a:t>A metric is a measurement of the level at which any impute belongs to a system product or process. </a:t>
            </a:r>
          </a:p>
          <a:p>
            <a:pPr algn="l">
              <a:lnSpc>
                <a:spcPts val="2949"/>
              </a:lnSpc>
            </a:pPr>
            <a:r>
              <a:rPr lang="en-US" sz="2106">
                <a:solidFill>
                  <a:srgbClr val="000000"/>
                </a:solidFill>
                <a:latin typeface="Open Sauce"/>
                <a:ea typeface="Open Sauce"/>
                <a:cs typeface="Open Sauce"/>
                <a:sym typeface="Open Sauce"/>
              </a:rPr>
              <a:t>Software metrics are a quantifiable or countable assessment of the attributes of a software product. There are 4 functions related to software metrics: </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Planning</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Organizing</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Controlling</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Improving</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249841"/>
            <a:ext cx="9699836" cy="4813768"/>
          </a:xfrm>
          <a:prstGeom prst="rect">
            <a:avLst/>
          </a:prstGeom>
        </p:spPr>
        <p:txBody>
          <a:bodyPr anchor="t" rtlCol="false" tIns="0" lIns="0" bIns="0" rIns="0">
            <a:spAutoFit/>
          </a:bodyPr>
          <a:lstStyle/>
          <a:p>
            <a:pPr algn="l">
              <a:lnSpc>
                <a:spcPts val="2949"/>
              </a:lnSpc>
            </a:pPr>
            <a:r>
              <a:rPr lang="en-US" sz="2106">
                <a:solidFill>
                  <a:srgbClr val="38B6FF"/>
                </a:solidFill>
                <a:latin typeface="Open Sauce"/>
                <a:ea typeface="Open Sauce"/>
                <a:cs typeface="Open Sauce"/>
                <a:sym typeface="Open Sauce"/>
              </a:rPr>
              <a:t>Characteristics of software Metrics</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Quantitative: Metrics must possess a quantitative nature. It means metrics can be expressed in numerical values.</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Understandable: Metric computation should be easily understood, and the method of computing metrics should be clearly defined.</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Applicability: Metrics should be applicable in the initial phases of the development of the software.</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Repeatable: When measured repeatedly, the metric values should be the same and consistent.</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Economical: The computation of metrics should be economical.</a:t>
            </a:r>
          </a:p>
          <a:p>
            <a:pPr algn="l" marL="454812" indent="-227406" lvl="1">
              <a:lnSpc>
                <a:spcPts val="2949"/>
              </a:lnSpc>
              <a:buAutoNum type="arabicPeriod" startAt="1"/>
            </a:pPr>
            <a:r>
              <a:rPr lang="en-US" sz="2106">
                <a:solidFill>
                  <a:srgbClr val="000000"/>
                </a:solidFill>
                <a:latin typeface="Open Sauce"/>
                <a:ea typeface="Open Sauce"/>
                <a:cs typeface="Open Sauce"/>
                <a:sym typeface="Open Sauce"/>
              </a:rPr>
              <a:t>Language Independent: Metrics should not depend on any programming language.</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387504" y="4512638"/>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5185243"/>
          </a:xfrm>
          <a:prstGeom prst="rect">
            <a:avLst/>
          </a:prstGeom>
        </p:spPr>
        <p:txBody>
          <a:bodyPr anchor="t" rtlCol="false" tIns="0" lIns="0" bIns="0" rIns="0">
            <a:spAutoFit/>
          </a:bodyPr>
          <a:lstStyle/>
          <a:p>
            <a:pPr algn="l">
              <a:lnSpc>
                <a:spcPts val="2949"/>
              </a:lnSpc>
            </a:pPr>
            <a:r>
              <a:rPr lang="en-US" sz="2106">
                <a:solidFill>
                  <a:srgbClr val="38B6FF"/>
                </a:solidFill>
                <a:latin typeface="Open Sauce"/>
                <a:ea typeface="Open Sauce"/>
                <a:cs typeface="Open Sauce"/>
                <a:sym typeface="Open Sauce"/>
              </a:rPr>
              <a:t>Types of Software Metrics</a:t>
            </a:r>
          </a:p>
          <a:p>
            <a:pPr algn="l">
              <a:lnSpc>
                <a:spcPts val="2949"/>
              </a:lnSpc>
            </a:pPr>
            <a:r>
              <a:rPr lang="en-US" sz="2106">
                <a:solidFill>
                  <a:srgbClr val="38B6FF"/>
                </a:solidFill>
                <a:latin typeface="Open Sauce"/>
                <a:ea typeface="Open Sauce"/>
                <a:cs typeface="Open Sauce"/>
                <a:sym typeface="Open Sauce"/>
              </a:rPr>
              <a:t>Product Metrics:</a:t>
            </a:r>
            <a:r>
              <a:rPr lang="en-US" sz="2106">
                <a:solidFill>
                  <a:srgbClr val="000000"/>
                </a:solidFill>
                <a:latin typeface="Open Sauce"/>
                <a:ea typeface="Open Sauce"/>
                <a:cs typeface="Open Sauce"/>
                <a:sym typeface="Open Sauce"/>
              </a:rPr>
              <a:t> Product metrics are used to evaluate the state of the product, tracing risks and undercover prospective problem areas. The ability of the team to control quality is evaluated. instance lines of code, cyclomatic complexity, code coverage, defect density, and code maintainability index.</a:t>
            </a:r>
          </a:p>
          <a:p>
            <a:pPr algn="l">
              <a:lnSpc>
                <a:spcPts val="2949"/>
              </a:lnSpc>
            </a:pPr>
            <a:r>
              <a:rPr lang="en-US" sz="2106">
                <a:solidFill>
                  <a:srgbClr val="38B6FF"/>
                </a:solidFill>
                <a:latin typeface="Open Sauce"/>
                <a:ea typeface="Open Sauce"/>
                <a:cs typeface="Open Sauce"/>
                <a:sym typeface="Open Sauce"/>
              </a:rPr>
              <a:t>Process Metrics:</a:t>
            </a:r>
            <a:r>
              <a:rPr lang="en-US" sz="2106">
                <a:solidFill>
                  <a:srgbClr val="000000"/>
                </a:solidFill>
                <a:latin typeface="Open Sauce"/>
                <a:ea typeface="Open Sauce"/>
                <a:cs typeface="Open Sauce"/>
                <a:sym typeface="Open Sauce"/>
              </a:rPr>
              <a:t> Process metrics pay particular attention to enhancing the long-term process of the team or organization. These metrics are used to optimize the development process and maintenance activities of software.</a:t>
            </a:r>
          </a:p>
          <a:p>
            <a:pPr algn="l">
              <a:lnSpc>
                <a:spcPts val="2949"/>
              </a:lnSpc>
            </a:pPr>
          </a:p>
          <a:p>
            <a:pPr algn="l">
              <a:lnSpc>
                <a:spcPts val="2949"/>
              </a:lnSpc>
            </a:pPr>
          </a:p>
          <a:p>
            <a:pPr algn="l">
              <a:lnSpc>
                <a:spcPts val="2949"/>
              </a:lnSpc>
            </a:pPr>
          </a:p>
          <a:p>
            <a:pPr algn="l">
              <a:lnSpc>
                <a:spcPts val="2949"/>
              </a:lnSpc>
            </a:pP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3699343"/>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instance schedule variance, defect injection rate, and lead time.</a:t>
            </a:r>
          </a:p>
          <a:p>
            <a:pPr algn="l">
              <a:lnSpc>
                <a:spcPts val="2949"/>
              </a:lnSpc>
            </a:pPr>
            <a:r>
              <a:rPr lang="en-US" sz="2106">
                <a:solidFill>
                  <a:srgbClr val="38B6FF"/>
                </a:solidFill>
                <a:latin typeface="Open Sauce"/>
                <a:ea typeface="Open Sauce"/>
                <a:cs typeface="Open Sauce"/>
                <a:sym typeface="Open Sauce"/>
              </a:rPr>
              <a:t>Project Metrics: </a:t>
            </a:r>
            <a:r>
              <a:rPr lang="en-US" sz="2106">
                <a:solidFill>
                  <a:srgbClr val="000000"/>
                </a:solidFill>
                <a:latin typeface="Open Sauce"/>
                <a:ea typeface="Open Sauce"/>
                <a:cs typeface="Open Sauce"/>
                <a:sym typeface="Open Sauce"/>
              </a:rPr>
              <a:t>The project metrics describes the characteristic and execution of a project. Examples include effort estimation accuracy, schedule deviation, cost variance, and productivity. Usually measures-</a:t>
            </a:r>
          </a:p>
          <a:p>
            <a:pPr algn="l" marL="909623" indent="-303208" lvl="2">
              <a:lnSpc>
                <a:spcPts val="2949"/>
              </a:lnSpc>
              <a:buFont typeface="Arial"/>
              <a:buChar char="⚬"/>
            </a:pPr>
            <a:r>
              <a:rPr lang="en-US" sz="2106">
                <a:solidFill>
                  <a:srgbClr val="000000"/>
                </a:solidFill>
                <a:latin typeface="Open Sauce"/>
                <a:ea typeface="Open Sauce"/>
                <a:cs typeface="Open Sauce"/>
                <a:sym typeface="Open Sauce"/>
              </a:rPr>
              <a:t>Number of software developer</a:t>
            </a:r>
          </a:p>
          <a:p>
            <a:pPr algn="l" marL="909623" indent="-303208" lvl="2">
              <a:lnSpc>
                <a:spcPts val="2949"/>
              </a:lnSpc>
              <a:buFont typeface="Arial"/>
              <a:buChar char="⚬"/>
            </a:pPr>
            <a:r>
              <a:rPr lang="en-US" sz="2106">
                <a:solidFill>
                  <a:srgbClr val="000000"/>
                </a:solidFill>
                <a:latin typeface="Open Sauce"/>
                <a:ea typeface="Open Sauce"/>
                <a:cs typeface="Open Sauce"/>
                <a:sym typeface="Open Sauce"/>
              </a:rPr>
              <a:t>Staffing patterns over the life cycle of software</a:t>
            </a:r>
          </a:p>
          <a:p>
            <a:pPr algn="l" marL="909623" indent="-303208" lvl="2">
              <a:lnSpc>
                <a:spcPts val="2949"/>
              </a:lnSpc>
              <a:buFont typeface="Arial"/>
              <a:buChar char="⚬"/>
            </a:pPr>
            <a:r>
              <a:rPr lang="en-US" sz="2106">
                <a:solidFill>
                  <a:srgbClr val="000000"/>
                </a:solidFill>
                <a:latin typeface="Open Sauce"/>
                <a:ea typeface="Open Sauce"/>
                <a:cs typeface="Open Sauce"/>
                <a:sym typeface="Open Sauce"/>
              </a:rPr>
              <a:t>Cost and schedule</a:t>
            </a:r>
          </a:p>
          <a:p>
            <a:pPr algn="l" marL="909623" indent="-303208" lvl="2">
              <a:lnSpc>
                <a:spcPts val="2949"/>
              </a:lnSpc>
              <a:buFont typeface="Arial"/>
              <a:buChar char="⚬"/>
            </a:pPr>
            <a:r>
              <a:rPr lang="en-US" sz="2106">
                <a:solidFill>
                  <a:srgbClr val="000000"/>
                </a:solidFill>
                <a:latin typeface="Open Sauce"/>
                <a:ea typeface="Open Sauce"/>
                <a:cs typeface="Open Sauce"/>
                <a:sym typeface="Open Sauce"/>
              </a:rPr>
              <a:t>Productivity</a:t>
            </a:r>
          </a:p>
          <a:p>
            <a:pPr algn="l">
              <a:lnSpc>
                <a:spcPts val="2949"/>
              </a:lnSpc>
            </a:pP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4004394"/>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The cyclomatic complexity of a code section is the quantitative measure of the number of linearly independent paths in it. It is a software metric used to indicate the complexity of a program.</a:t>
            </a:r>
          </a:p>
          <a:p>
            <a:pPr algn="l">
              <a:lnSpc>
                <a:spcPts val="2949"/>
              </a:lnSpc>
            </a:pPr>
            <a:r>
              <a:rPr lang="en-US" sz="2106">
                <a:solidFill>
                  <a:srgbClr val="000000"/>
                </a:solidFill>
                <a:latin typeface="Open Sauce"/>
                <a:ea typeface="Open Sauce"/>
                <a:cs typeface="Open Sauce"/>
                <a:sym typeface="Open Sauce"/>
              </a:rPr>
              <a:t> cyclomatic complexity M would be defined as, </a:t>
            </a:r>
          </a:p>
          <a:p>
            <a:pPr algn="l">
              <a:lnSpc>
                <a:spcPts val="2949"/>
              </a:lnSpc>
            </a:pPr>
            <a:r>
              <a:rPr lang="en-US" sz="2106">
                <a:solidFill>
                  <a:srgbClr val="000000"/>
                </a:solidFill>
                <a:latin typeface="Open Sauce"/>
                <a:ea typeface="Open Sauce"/>
                <a:cs typeface="Open Sauce"/>
                <a:sym typeface="Open Sauce"/>
              </a:rPr>
              <a:t>M = E - N + 2P </a:t>
            </a:r>
          </a:p>
          <a:p>
            <a:pPr algn="l">
              <a:lnSpc>
                <a:spcPts val="2949"/>
              </a:lnSpc>
            </a:pPr>
            <a:r>
              <a:rPr lang="en-US" sz="2106">
                <a:solidFill>
                  <a:srgbClr val="000000"/>
                </a:solidFill>
                <a:latin typeface="Open Sauce"/>
                <a:ea typeface="Open Sauce"/>
                <a:cs typeface="Open Sauce"/>
                <a:sym typeface="Open Sauce"/>
              </a:rPr>
              <a:t>where</a:t>
            </a:r>
          </a:p>
          <a:p>
            <a:pPr algn="l">
              <a:lnSpc>
                <a:spcPts val="2949"/>
              </a:lnSpc>
            </a:pPr>
            <a:r>
              <a:rPr lang="en-US" sz="2106">
                <a:solidFill>
                  <a:srgbClr val="000000"/>
                </a:solidFill>
                <a:latin typeface="Open Sauce"/>
                <a:ea typeface="Open Sauce"/>
                <a:cs typeface="Open Sauce"/>
                <a:sym typeface="Open Sauce"/>
              </a:rPr>
              <a:t>E = the number of edges in the control flow graph </a:t>
            </a:r>
          </a:p>
          <a:p>
            <a:pPr algn="l">
              <a:lnSpc>
                <a:spcPts val="2949"/>
              </a:lnSpc>
            </a:pPr>
            <a:r>
              <a:rPr lang="en-US" sz="2106">
                <a:solidFill>
                  <a:srgbClr val="000000"/>
                </a:solidFill>
                <a:latin typeface="Open Sauce"/>
                <a:ea typeface="Open Sauce"/>
                <a:cs typeface="Open Sauce"/>
                <a:sym typeface="Open Sauce"/>
              </a:rPr>
              <a:t>N = the number of nodes in the control flow graph </a:t>
            </a:r>
          </a:p>
          <a:p>
            <a:pPr algn="l">
              <a:lnSpc>
                <a:spcPts val="2949"/>
              </a:lnSpc>
            </a:pPr>
            <a:r>
              <a:rPr lang="en-US" sz="2106">
                <a:solidFill>
                  <a:srgbClr val="000000"/>
                </a:solidFill>
                <a:latin typeface="Open Sauce"/>
                <a:ea typeface="Open Sauce"/>
                <a:cs typeface="Open Sauce"/>
                <a:sym typeface="Open Sauce"/>
              </a:rPr>
              <a:t>P = the number of connected components</a:t>
            </a:r>
          </a:p>
          <a:p>
            <a:pPr algn="l">
              <a:lnSpc>
                <a:spcPts val="2949"/>
              </a:lnSpc>
            </a:pP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187783" y="5514948"/>
            <a:ext cx="9899556" cy="2221256"/>
          </a:xfrm>
          <a:prstGeom prst="rect">
            <a:avLst/>
          </a:prstGeom>
        </p:spPr>
        <p:txBody>
          <a:bodyPr anchor="t" rtlCol="false" tIns="0" lIns="0" bIns="0" rIns="0">
            <a:spAutoFit/>
          </a:bodyPr>
          <a:lstStyle/>
          <a:p>
            <a:pPr algn="l">
              <a:lnSpc>
                <a:spcPts val="3009"/>
              </a:lnSpc>
            </a:pPr>
            <a:r>
              <a:rPr lang="en-US" sz="2149">
                <a:solidFill>
                  <a:srgbClr val="000000"/>
                </a:solidFill>
                <a:latin typeface="Open Sauce"/>
                <a:ea typeface="Open Sauce"/>
                <a:cs typeface="Open Sauce"/>
                <a:sym typeface="Open Sauce"/>
              </a:rPr>
              <a:t>How to Calculate Cyclomatic Complexity?</a:t>
            </a:r>
          </a:p>
          <a:p>
            <a:pPr algn="l">
              <a:lnSpc>
                <a:spcPts val="3009"/>
              </a:lnSpc>
            </a:pPr>
            <a:r>
              <a:rPr lang="en-US" sz="2149">
                <a:solidFill>
                  <a:srgbClr val="000000"/>
                </a:solidFill>
                <a:latin typeface="Open Sauce"/>
                <a:ea typeface="Open Sauce"/>
                <a:cs typeface="Open Sauce"/>
                <a:sym typeface="Open Sauce"/>
              </a:rPr>
              <a:t>Construction of graph with nodes and edges from code.</a:t>
            </a:r>
          </a:p>
          <a:p>
            <a:pPr algn="l" marL="464176" indent="-232088" lvl="1">
              <a:lnSpc>
                <a:spcPts val="3009"/>
              </a:lnSpc>
              <a:buFont typeface="Arial"/>
              <a:buChar char="•"/>
            </a:pPr>
            <a:r>
              <a:rPr lang="en-US" sz="2149">
                <a:solidFill>
                  <a:srgbClr val="000000"/>
                </a:solidFill>
                <a:latin typeface="Open Sauce"/>
                <a:ea typeface="Open Sauce"/>
                <a:cs typeface="Open Sauce"/>
                <a:sym typeface="Open Sauce"/>
              </a:rPr>
              <a:t>Identification of independent paths.</a:t>
            </a:r>
          </a:p>
          <a:p>
            <a:pPr algn="l" marL="464176" indent="-232088" lvl="1">
              <a:lnSpc>
                <a:spcPts val="3009"/>
              </a:lnSpc>
              <a:buFont typeface="Arial"/>
              <a:buChar char="•"/>
            </a:pPr>
            <a:r>
              <a:rPr lang="en-US" sz="2149">
                <a:solidFill>
                  <a:srgbClr val="000000"/>
                </a:solidFill>
                <a:latin typeface="Open Sauce"/>
                <a:ea typeface="Open Sauce"/>
                <a:cs typeface="Open Sauce"/>
                <a:sym typeface="Open Sauce"/>
              </a:rPr>
              <a:t>Cyclomatic Complexity Calculation</a:t>
            </a:r>
          </a:p>
          <a:p>
            <a:pPr algn="l" marL="464176" indent="-232088" lvl="1">
              <a:lnSpc>
                <a:spcPts val="3009"/>
              </a:lnSpc>
              <a:buFont typeface="Arial"/>
              <a:buChar char="•"/>
            </a:pPr>
            <a:r>
              <a:rPr lang="en-US" sz="2149">
                <a:solidFill>
                  <a:srgbClr val="000000"/>
                </a:solidFill>
                <a:latin typeface="Open Sauce"/>
                <a:ea typeface="Open Sauce"/>
                <a:cs typeface="Open Sauce"/>
                <a:sym typeface="Open Sauce"/>
              </a:rPr>
              <a:t>Design of Test Cases</a:t>
            </a:r>
          </a:p>
          <a:p>
            <a:pPr algn="l">
              <a:lnSpc>
                <a:spcPts val="300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3638957"/>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A = 10</a:t>
            </a:r>
          </a:p>
          <a:p>
            <a:pPr algn="l">
              <a:lnSpc>
                <a:spcPts val="2949"/>
              </a:lnSpc>
            </a:pPr>
            <a:r>
              <a:rPr lang="en-US" sz="2106">
                <a:solidFill>
                  <a:srgbClr val="000000"/>
                </a:solidFill>
                <a:latin typeface="Open Sauce"/>
                <a:ea typeface="Open Sauce"/>
                <a:cs typeface="Open Sauce"/>
                <a:sym typeface="Open Sauce"/>
              </a:rPr>
              <a:t>   IF B &gt; C THEN</a:t>
            </a:r>
          </a:p>
          <a:p>
            <a:pPr algn="l">
              <a:lnSpc>
                <a:spcPts val="2949"/>
              </a:lnSpc>
            </a:pPr>
            <a:r>
              <a:rPr lang="en-US" sz="2106">
                <a:solidFill>
                  <a:srgbClr val="000000"/>
                </a:solidFill>
                <a:latin typeface="Open Sauce"/>
                <a:ea typeface="Open Sauce"/>
                <a:cs typeface="Open Sauce"/>
                <a:sym typeface="Open Sauce"/>
              </a:rPr>
              <a:t>      A = B</a:t>
            </a:r>
          </a:p>
          <a:p>
            <a:pPr algn="l">
              <a:lnSpc>
                <a:spcPts val="2949"/>
              </a:lnSpc>
            </a:pPr>
            <a:r>
              <a:rPr lang="en-US" sz="2106">
                <a:solidFill>
                  <a:srgbClr val="000000"/>
                </a:solidFill>
                <a:latin typeface="Open Sauce"/>
                <a:ea typeface="Open Sauce"/>
                <a:cs typeface="Open Sauce"/>
                <a:sym typeface="Open Sauce"/>
              </a:rPr>
              <a:t>   ELSE</a:t>
            </a:r>
          </a:p>
          <a:p>
            <a:pPr algn="l">
              <a:lnSpc>
                <a:spcPts val="2949"/>
              </a:lnSpc>
            </a:pPr>
            <a:r>
              <a:rPr lang="en-US" sz="2106">
                <a:solidFill>
                  <a:srgbClr val="000000"/>
                </a:solidFill>
                <a:latin typeface="Open Sauce"/>
                <a:ea typeface="Open Sauce"/>
                <a:cs typeface="Open Sauce"/>
                <a:sym typeface="Open Sauce"/>
              </a:rPr>
              <a:t>      A = C</a:t>
            </a:r>
          </a:p>
          <a:p>
            <a:pPr algn="l">
              <a:lnSpc>
                <a:spcPts val="2949"/>
              </a:lnSpc>
            </a:pPr>
            <a:r>
              <a:rPr lang="en-US" sz="2106">
                <a:solidFill>
                  <a:srgbClr val="000000"/>
                </a:solidFill>
                <a:latin typeface="Open Sauce"/>
                <a:ea typeface="Open Sauce"/>
                <a:cs typeface="Open Sauce"/>
                <a:sym typeface="Open Sauce"/>
              </a:rPr>
              <a:t>   ENDIF</a:t>
            </a:r>
          </a:p>
          <a:p>
            <a:pPr algn="l">
              <a:lnSpc>
                <a:spcPts val="2949"/>
              </a:lnSpc>
            </a:pPr>
            <a:r>
              <a:rPr lang="en-US" sz="2106">
                <a:solidFill>
                  <a:srgbClr val="000000"/>
                </a:solidFill>
                <a:latin typeface="Open Sauce"/>
                <a:ea typeface="Open Sauce"/>
                <a:cs typeface="Open Sauce"/>
                <a:sym typeface="Open Sauce"/>
              </a:rPr>
              <a:t>Print A</a:t>
            </a:r>
          </a:p>
          <a:p>
            <a:pPr algn="l">
              <a:lnSpc>
                <a:spcPts val="2949"/>
              </a:lnSpc>
            </a:pPr>
            <a:r>
              <a:rPr lang="en-US" sz="2106">
                <a:solidFill>
                  <a:srgbClr val="000000"/>
                </a:solidFill>
                <a:latin typeface="Open Sauce"/>
                <a:ea typeface="Open Sauce"/>
                <a:cs typeface="Open Sauce"/>
                <a:sym typeface="Open Sauce"/>
              </a:rPr>
              <a:t>Print B</a:t>
            </a:r>
          </a:p>
          <a:p>
            <a:pPr algn="l">
              <a:lnSpc>
                <a:spcPts val="2949"/>
              </a:lnSpc>
            </a:pPr>
            <a:r>
              <a:rPr lang="en-US" sz="2106">
                <a:solidFill>
                  <a:srgbClr val="000000"/>
                </a:solidFill>
                <a:latin typeface="Open Sauce"/>
                <a:ea typeface="Open Sauce"/>
                <a:cs typeface="Open Sauce"/>
                <a:sym typeface="Open Sauce"/>
              </a:rPr>
              <a:t>Print C</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two The basics of measurement </a:t>
            </a:r>
          </a:p>
        </p:txBody>
      </p:sp>
      <p:sp>
        <p:nvSpPr>
          <p:cNvPr name="TextBox 7" id="7"/>
          <p:cNvSpPr txBox="true"/>
          <p:nvPr/>
        </p:nvSpPr>
        <p:spPr>
          <a:xfrm rot="0">
            <a:off x="1387504" y="5551469"/>
            <a:ext cx="9699836" cy="3273521"/>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 Metrology </a:t>
            </a:r>
          </a:p>
          <a:p>
            <a:pPr algn="l">
              <a:lnSpc>
                <a:spcPts val="2949"/>
              </a:lnSpc>
            </a:pPr>
            <a:r>
              <a:rPr lang="en-US" sz="2106">
                <a:solidFill>
                  <a:srgbClr val="000000"/>
                </a:solidFill>
                <a:latin typeface="Open Sauce"/>
                <a:ea typeface="Open Sauce"/>
                <a:cs typeface="Open Sauce"/>
                <a:sym typeface="Open Sauce"/>
              </a:rPr>
              <a:t>• Property-oriented measurement</a:t>
            </a:r>
          </a:p>
          <a:p>
            <a:pPr algn="l">
              <a:lnSpc>
                <a:spcPts val="2949"/>
              </a:lnSpc>
            </a:pPr>
            <a:r>
              <a:rPr lang="en-US" sz="2106">
                <a:solidFill>
                  <a:srgbClr val="000000"/>
                </a:solidFill>
                <a:latin typeface="Open Sauce"/>
                <a:ea typeface="Open Sauce"/>
                <a:cs typeface="Open Sauce"/>
                <a:sym typeface="Open Sauce"/>
              </a:rPr>
              <a:t> • Meaningfulness in measurement</a:t>
            </a:r>
          </a:p>
          <a:p>
            <a:pPr algn="l">
              <a:lnSpc>
                <a:spcPts val="2949"/>
              </a:lnSpc>
            </a:pPr>
            <a:r>
              <a:rPr lang="en-US" sz="2106">
                <a:solidFill>
                  <a:srgbClr val="000000"/>
                </a:solidFill>
                <a:latin typeface="Open Sauce"/>
                <a:ea typeface="Open Sauce"/>
                <a:cs typeface="Open Sauce"/>
                <a:sym typeface="Open Sauce"/>
              </a:rPr>
              <a:t> • Measurement quality</a:t>
            </a:r>
          </a:p>
          <a:p>
            <a:pPr algn="l">
              <a:lnSpc>
                <a:spcPts val="2949"/>
              </a:lnSpc>
            </a:pPr>
            <a:r>
              <a:rPr lang="en-US" sz="2106">
                <a:solidFill>
                  <a:srgbClr val="000000"/>
                </a:solidFill>
                <a:latin typeface="Open Sauce"/>
                <a:ea typeface="Open Sauce"/>
                <a:cs typeface="Open Sauce"/>
                <a:sym typeface="Open Sauce"/>
              </a:rPr>
              <a:t> • Measurement process </a:t>
            </a:r>
          </a:p>
          <a:p>
            <a:pPr algn="l">
              <a:lnSpc>
                <a:spcPts val="2949"/>
              </a:lnSpc>
            </a:pPr>
            <a:r>
              <a:rPr lang="en-US" sz="2106">
                <a:solidFill>
                  <a:srgbClr val="000000"/>
                </a:solidFill>
                <a:latin typeface="Open Sauce"/>
                <a:ea typeface="Open Sauce"/>
                <a:cs typeface="Open Sauce"/>
                <a:sym typeface="Open Sauce"/>
              </a:rPr>
              <a:t>• Scale </a:t>
            </a:r>
          </a:p>
          <a:p>
            <a:pPr algn="l">
              <a:lnSpc>
                <a:spcPts val="2949"/>
              </a:lnSpc>
            </a:pPr>
            <a:r>
              <a:rPr lang="en-US" sz="2106">
                <a:solidFill>
                  <a:srgbClr val="000000"/>
                </a:solidFill>
                <a:latin typeface="Open Sauce"/>
                <a:ea typeface="Open Sauce"/>
                <a:cs typeface="Open Sauce"/>
                <a:sym typeface="Open Sauce"/>
              </a:rPr>
              <a:t>• Measurement validation</a:t>
            </a:r>
          </a:p>
          <a:p>
            <a:pPr algn="l">
              <a:lnSpc>
                <a:spcPts val="2949"/>
              </a:lnSpc>
            </a:pPr>
            <a:r>
              <a:rPr lang="en-US" sz="2106">
                <a:solidFill>
                  <a:srgbClr val="000000"/>
                </a:solidFill>
                <a:latin typeface="Open Sauce"/>
                <a:ea typeface="Open Sauce"/>
                <a:cs typeface="Open Sauce"/>
                <a:sym typeface="Open Sauce"/>
              </a:rPr>
              <a:t> • Object-oriented measurement</a:t>
            </a:r>
          </a:p>
          <a:p>
            <a:pPr algn="l">
              <a:lnSpc>
                <a:spcPts val="2949"/>
              </a:lnSpc>
            </a:pPr>
            <a:r>
              <a:rPr lang="en-US" sz="2106">
                <a:solidFill>
                  <a:srgbClr val="000000"/>
                </a:solidFill>
                <a:latin typeface="Open Sauce"/>
                <a:ea typeface="Open Sauce"/>
                <a:cs typeface="Open Sauce"/>
                <a:sym typeface="Open Sauce"/>
              </a:rPr>
              <a:t>• Subject-domain-oriented measurement </a:t>
            </a: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two</a:t>
            </a:r>
          </a:p>
        </p:txBody>
      </p:sp>
      <p:sp>
        <p:nvSpPr>
          <p:cNvPr name="TextBox 7" id="7"/>
          <p:cNvSpPr txBox="true"/>
          <p:nvPr/>
        </p:nvSpPr>
        <p:spPr>
          <a:xfrm rot="0">
            <a:off x="1387504" y="5551469"/>
            <a:ext cx="9699836" cy="2177211"/>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What is Measurement? •Definition: Measurement is the process of assigning numbers or symbols to attributes of entities in the real world in such a way that they describe them according to clearly defined rules. • In software engineering, measurement is used to quantify software characteristics (like size, complexity, quality, effort, and performance). • Example: Counting the number of lines of code (LOC) in a program</a:t>
            </a: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387504" y="4512638"/>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two</a:t>
            </a:r>
          </a:p>
        </p:txBody>
      </p:sp>
      <p:sp>
        <p:nvSpPr>
          <p:cNvPr name="TextBox 7" id="7"/>
          <p:cNvSpPr txBox="true"/>
          <p:nvPr/>
        </p:nvSpPr>
        <p:spPr>
          <a:xfrm rot="0">
            <a:off x="1387504" y="5551469"/>
            <a:ext cx="9699836" cy="2908084"/>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 What is Metrology?</a:t>
            </a:r>
          </a:p>
          <a:p>
            <a:pPr algn="l">
              <a:lnSpc>
                <a:spcPts val="2949"/>
              </a:lnSpc>
            </a:pPr>
            <a:r>
              <a:rPr lang="en-US" sz="2106">
                <a:solidFill>
                  <a:srgbClr val="000000"/>
                </a:solidFill>
                <a:latin typeface="Open Sauce"/>
                <a:ea typeface="Open Sauce"/>
                <a:cs typeface="Open Sauce"/>
                <a:sym typeface="Open Sauce"/>
              </a:rPr>
              <a:t>• General Definition:</a:t>
            </a:r>
          </a:p>
          <a:p>
            <a:pPr algn="l">
              <a:lnSpc>
                <a:spcPts val="2949"/>
              </a:lnSpc>
            </a:pPr>
            <a:r>
              <a:rPr lang="en-US" sz="2106">
                <a:solidFill>
                  <a:srgbClr val="000000"/>
                </a:solidFill>
                <a:latin typeface="Open Sauce"/>
                <a:ea typeface="Open Sauce"/>
                <a:cs typeface="Open Sauce"/>
                <a:sym typeface="Open Sauce"/>
              </a:rPr>
              <a:t> Metrology is the science of measurement, including the development of measurement standards, techniques, and accuracy.</a:t>
            </a:r>
          </a:p>
          <a:p>
            <a:pPr algn="l">
              <a:lnSpc>
                <a:spcPts val="2949"/>
              </a:lnSpc>
            </a:pPr>
            <a:r>
              <a:rPr lang="en-US" sz="2106">
                <a:solidFill>
                  <a:srgbClr val="000000"/>
                </a:solidFill>
                <a:latin typeface="Open Sauce"/>
                <a:ea typeface="Open Sauce"/>
                <a:cs typeface="Open Sauce"/>
                <a:sym typeface="Open Sauce"/>
              </a:rPr>
              <a:t>• In Engineering:</a:t>
            </a:r>
          </a:p>
          <a:p>
            <a:pPr algn="l">
              <a:lnSpc>
                <a:spcPts val="2949"/>
              </a:lnSpc>
            </a:pPr>
            <a:r>
              <a:rPr lang="en-US" sz="2106">
                <a:solidFill>
                  <a:srgbClr val="000000"/>
                </a:solidFill>
                <a:latin typeface="Open Sauce"/>
                <a:ea typeface="Open Sauce"/>
                <a:cs typeface="Open Sauce"/>
                <a:sym typeface="Open Sauce"/>
              </a:rPr>
              <a:t> It ensures that measurements are consistent, reliable, and comparable across different contexts.</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3273521"/>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Why Metrology Matters in Software</a:t>
            </a:r>
          </a:p>
          <a:p>
            <a:pPr algn="l">
              <a:lnSpc>
                <a:spcPts val="2949"/>
              </a:lnSpc>
            </a:pPr>
            <a:r>
              <a:rPr lang="en-US" sz="2106">
                <a:solidFill>
                  <a:srgbClr val="000000"/>
                </a:solidFill>
                <a:latin typeface="Open Sauce"/>
                <a:ea typeface="Open Sauce"/>
                <a:cs typeface="Open Sauce"/>
                <a:sym typeface="Open Sauce"/>
              </a:rPr>
              <a:t>• In physical sciences, metrology deals with measuring physical quantities (length, mass, time).</a:t>
            </a:r>
          </a:p>
          <a:p>
            <a:pPr algn="l">
              <a:lnSpc>
                <a:spcPts val="2949"/>
              </a:lnSpc>
            </a:pPr>
            <a:r>
              <a:rPr lang="en-US" sz="2106">
                <a:solidFill>
                  <a:srgbClr val="000000"/>
                </a:solidFill>
                <a:latin typeface="Open Sauce"/>
                <a:ea typeface="Open Sauce"/>
                <a:cs typeface="Open Sauce"/>
                <a:sym typeface="Open Sauce"/>
              </a:rPr>
              <a:t>• In software engineering, metrology principles are applied to measure intangible attributes such as:</a:t>
            </a:r>
          </a:p>
          <a:p>
            <a:pPr algn="l">
              <a:lnSpc>
                <a:spcPts val="2949"/>
              </a:lnSpc>
            </a:pPr>
            <a:r>
              <a:rPr lang="en-US" sz="2106">
                <a:solidFill>
                  <a:srgbClr val="000000"/>
                </a:solidFill>
                <a:latin typeface="Open Sauce"/>
                <a:ea typeface="Open Sauce"/>
                <a:cs typeface="Open Sauce"/>
                <a:sym typeface="Open Sauce"/>
              </a:rPr>
              <a:t>• Size of code (LOC — Lines of Code, Function Points)</a:t>
            </a:r>
          </a:p>
          <a:p>
            <a:pPr algn="l">
              <a:lnSpc>
                <a:spcPts val="2949"/>
              </a:lnSpc>
            </a:pPr>
            <a:r>
              <a:rPr lang="en-US" sz="2106">
                <a:solidFill>
                  <a:srgbClr val="000000"/>
                </a:solidFill>
                <a:latin typeface="Open Sauce"/>
                <a:ea typeface="Open Sauce"/>
                <a:cs typeface="Open Sauce"/>
                <a:sym typeface="Open Sauce"/>
              </a:rPr>
              <a:t> • Complexity of algorithms</a:t>
            </a:r>
          </a:p>
          <a:p>
            <a:pPr algn="l">
              <a:lnSpc>
                <a:spcPts val="2949"/>
              </a:lnSpc>
            </a:pPr>
            <a:r>
              <a:rPr lang="en-US" sz="2106">
                <a:solidFill>
                  <a:srgbClr val="000000"/>
                </a:solidFill>
                <a:latin typeface="Open Sauce"/>
                <a:ea typeface="Open Sauce"/>
                <a:cs typeface="Open Sauce"/>
                <a:sym typeface="Open Sauce"/>
              </a:rPr>
              <a:t> • Quality factors (defects, reliability, maintainability)</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3638957"/>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Metrology in Software Metrics</a:t>
            </a:r>
          </a:p>
          <a:p>
            <a:pPr algn="l">
              <a:lnSpc>
                <a:spcPts val="2949"/>
              </a:lnSpc>
            </a:pPr>
            <a:r>
              <a:rPr lang="en-US" sz="2106">
                <a:solidFill>
                  <a:srgbClr val="000000"/>
                </a:solidFill>
                <a:latin typeface="Open Sauce"/>
                <a:ea typeface="Open Sauce"/>
                <a:cs typeface="Open Sauce"/>
                <a:sym typeface="Open Sauce"/>
              </a:rPr>
              <a:t>• Measurement Standards:</a:t>
            </a:r>
          </a:p>
          <a:p>
            <a:pPr algn="l">
              <a:lnSpc>
                <a:spcPts val="2949"/>
              </a:lnSpc>
            </a:pPr>
            <a:r>
              <a:rPr lang="en-US" sz="2106">
                <a:solidFill>
                  <a:srgbClr val="000000"/>
                </a:solidFill>
                <a:latin typeface="Open Sauce"/>
                <a:ea typeface="Open Sauce"/>
                <a:cs typeface="Open Sauce"/>
                <a:sym typeface="Open Sauce"/>
              </a:rPr>
              <a:t> Define how metrics should be collected (e.g., IEEE 1061 standard for software quality metrics).</a:t>
            </a:r>
          </a:p>
          <a:p>
            <a:pPr algn="l">
              <a:lnSpc>
                <a:spcPts val="2949"/>
              </a:lnSpc>
            </a:pPr>
            <a:r>
              <a:rPr lang="en-US" sz="2106">
                <a:solidFill>
                  <a:srgbClr val="000000"/>
                </a:solidFill>
                <a:latin typeface="Open Sauce"/>
                <a:ea typeface="Open Sauce"/>
                <a:cs typeface="Open Sauce"/>
                <a:sym typeface="Open Sauce"/>
              </a:rPr>
              <a:t>• Accuracy and Reliability:</a:t>
            </a:r>
          </a:p>
          <a:p>
            <a:pPr algn="l">
              <a:lnSpc>
                <a:spcPts val="2949"/>
              </a:lnSpc>
            </a:pPr>
            <a:r>
              <a:rPr lang="en-US" sz="2106">
                <a:solidFill>
                  <a:srgbClr val="000000"/>
                </a:solidFill>
                <a:latin typeface="Open Sauce"/>
                <a:ea typeface="Open Sauce"/>
                <a:cs typeface="Open Sauce"/>
                <a:sym typeface="Open Sauce"/>
              </a:rPr>
              <a:t> Metrics should give consistent results across projects and teams.</a:t>
            </a:r>
          </a:p>
          <a:p>
            <a:pPr algn="l">
              <a:lnSpc>
                <a:spcPts val="2949"/>
              </a:lnSpc>
            </a:pPr>
            <a:r>
              <a:rPr lang="en-US" sz="2106">
                <a:solidFill>
                  <a:srgbClr val="000000"/>
                </a:solidFill>
                <a:latin typeface="Open Sauce"/>
                <a:ea typeface="Open Sauce"/>
                <a:cs typeface="Open Sauce"/>
                <a:sym typeface="Open Sauce"/>
              </a:rPr>
              <a:t>• Comparability:</a:t>
            </a:r>
          </a:p>
          <a:p>
            <a:pPr algn="l">
              <a:lnSpc>
                <a:spcPts val="2949"/>
              </a:lnSpc>
            </a:pPr>
            <a:r>
              <a:rPr lang="en-US" sz="2106">
                <a:solidFill>
                  <a:srgbClr val="000000"/>
                </a:solidFill>
                <a:latin typeface="Open Sauce"/>
                <a:ea typeface="Open Sauce"/>
                <a:cs typeface="Open Sauce"/>
                <a:sym typeface="Open Sauce"/>
              </a:rPr>
              <a:t> Enables organizations to benchmark productivity and quality across projects.</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2908084"/>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Link to Software Metrics Basics</a:t>
            </a:r>
          </a:p>
          <a:p>
            <a:pPr algn="l">
              <a:lnSpc>
                <a:spcPts val="2949"/>
              </a:lnSpc>
            </a:pPr>
            <a:r>
              <a:rPr lang="en-US" sz="2106">
                <a:solidFill>
                  <a:srgbClr val="000000"/>
                </a:solidFill>
                <a:latin typeface="Open Sauce"/>
                <a:ea typeface="Open Sauce"/>
                <a:cs typeface="Open Sauce"/>
                <a:sym typeface="Open Sauce"/>
              </a:rPr>
              <a:t>• Just like in metrology, software measurement requires:</a:t>
            </a:r>
          </a:p>
          <a:p>
            <a:pPr algn="l">
              <a:lnSpc>
                <a:spcPts val="2949"/>
              </a:lnSpc>
            </a:pPr>
            <a:r>
              <a:rPr lang="en-US" sz="2106">
                <a:solidFill>
                  <a:srgbClr val="000000"/>
                </a:solidFill>
                <a:latin typeface="Open Sauce"/>
                <a:ea typeface="Open Sauce"/>
                <a:cs typeface="Open Sauce"/>
                <a:sym typeface="Open Sauce"/>
              </a:rPr>
              <a:t>• Entities → e.g., modules, processes</a:t>
            </a:r>
          </a:p>
          <a:p>
            <a:pPr algn="l">
              <a:lnSpc>
                <a:spcPts val="2949"/>
              </a:lnSpc>
            </a:pPr>
            <a:r>
              <a:rPr lang="en-US" sz="2106">
                <a:solidFill>
                  <a:srgbClr val="000000"/>
                </a:solidFill>
                <a:latin typeface="Open Sauce"/>
                <a:ea typeface="Open Sauce"/>
                <a:cs typeface="Open Sauce"/>
                <a:sym typeface="Open Sauce"/>
              </a:rPr>
              <a:t> • Attributes → e.g., size, reliability</a:t>
            </a:r>
          </a:p>
          <a:p>
            <a:pPr algn="l">
              <a:lnSpc>
                <a:spcPts val="2949"/>
              </a:lnSpc>
            </a:pPr>
            <a:r>
              <a:rPr lang="en-US" sz="2106">
                <a:solidFill>
                  <a:srgbClr val="000000"/>
                </a:solidFill>
                <a:latin typeface="Open Sauce"/>
                <a:ea typeface="Open Sauce"/>
                <a:cs typeface="Open Sauce"/>
                <a:sym typeface="Open Sauce"/>
              </a:rPr>
              <a:t> • Measurement rules → e.g., how to count LOC or classify defects</a:t>
            </a:r>
          </a:p>
          <a:p>
            <a:pPr algn="l">
              <a:lnSpc>
                <a:spcPts val="2949"/>
              </a:lnSpc>
            </a:pPr>
            <a:r>
              <a:rPr lang="en-US" sz="2106">
                <a:solidFill>
                  <a:srgbClr val="000000"/>
                </a:solidFill>
                <a:latin typeface="Open Sauce"/>
                <a:ea typeface="Open Sauce"/>
                <a:cs typeface="Open Sauce"/>
                <a:sym typeface="Open Sauce"/>
              </a:rPr>
              <a:t>• This ensures that metrics are valid, repeatable, and useful for decision-making.</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617240" y="5249841"/>
            <a:ext cx="11869571" cy="4369830"/>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Property-Oriented Measurement: What it Means</a:t>
            </a:r>
          </a:p>
          <a:p>
            <a:pPr algn="l">
              <a:lnSpc>
                <a:spcPts val="2949"/>
              </a:lnSpc>
            </a:pPr>
            <a:r>
              <a:rPr lang="en-US" sz="2106">
                <a:solidFill>
                  <a:srgbClr val="000000"/>
                </a:solidFill>
                <a:latin typeface="Open Sauce"/>
                <a:ea typeface="Open Sauce"/>
                <a:cs typeface="Open Sauce"/>
                <a:sym typeface="Open Sauce"/>
              </a:rPr>
              <a:t>• In measurement theory, property-oriented measurement focuses on measuring the properties (attributes) of an entity rather than the entity itself.</a:t>
            </a:r>
          </a:p>
          <a:p>
            <a:pPr algn="l">
              <a:lnSpc>
                <a:spcPts val="2949"/>
              </a:lnSpc>
            </a:pPr>
            <a:r>
              <a:rPr lang="en-US" sz="2106">
                <a:solidFill>
                  <a:srgbClr val="000000"/>
                </a:solidFill>
                <a:latin typeface="Open Sauce"/>
                <a:ea typeface="Open Sauce"/>
                <a:cs typeface="Open Sauce"/>
                <a:sym typeface="Open Sauce"/>
              </a:rPr>
              <a:t>• In software engineering, we can’t measure software directly (it’s intangible), but we can measure its properties like size, complexity, effort, or reliability.</a:t>
            </a:r>
          </a:p>
          <a:p>
            <a:pPr algn="l">
              <a:lnSpc>
                <a:spcPts val="2949"/>
              </a:lnSpc>
            </a:pPr>
            <a:r>
              <a:rPr lang="en-US" sz="2106">
                <a:solidFill>
                  <a:srgbClr val="000000"/>
                </a:solidFill>
                <a:latin typeface="Open Sauce"/>
                <a:ea typeface="Open Sauce"/>
                <a:cs typeface="Open Sauce"/>
                <a:sym typeface="Open Sauce"/>
              </a:rPr>
              <a:t>• Key Concepts:</a:t>
            </a:r>
          </a:p>
          <a:p>
            <a:pPr algn="l">
              <a:lnSpc>
                <a:spcPts val="2949"/>
              </a:lnSpc>
            </a:pPr>
            <a:r>
              <a:rPr lang="en-US" sz="2106">
                <a:solidFill>
                  <a:srgbClr val="000000"/>
                </a:solidFill>
                <a:latin typeface="Open Sauce"/>
                <a:ea typeface="Open Sauce"/>
                <a:cs typeface="Open Sauce"/>
                <a:sym typeface="Open Sauce"/>
              </a:rPr>
              <a:t> • Entity → The object of interest (e.g., a program, a module, or a development process)</a:t>
            </a:r>
          </a:p>
          <a:p>
            <a:pPr algn="l">
              <a:lnSpc>
                <a:spcPts val="2949"/>
              </a:lnSpc>
            </a:pPr>
            <a:r>
              <a:rPr lang="en-US" sz="2106">
                <a:solidFill>
                  <a:srgbClr val="000000"/>
                </a:solidFill>
                <a:latin typeface="Open Sauce"/>
                <a:ea typeface="Open Sauce"/>
                <a:cs typeface="Open Sauce"/>
                <a:sym typeface="Open Sauce"/>
              </a:rPr>
              <a:t> • Property/Attribute → A characteristic of the entity (e.g., LOC = size, defect density = quality)</a:t>
            </a:r>
          </a:p>
          <a:p>
            <a:pPr algn="l">
              <a:lnSpc>
                <a:spcPts val="2949"/>
              </a:lnSpc>
            </a:pPr>
            <a:r>
              <a:rPr lang="en-US" sz="2106">
                <a:solidFill>
                  <a:srgbClr val="000000"/>
                </a:solidFill>
                <a:latin typeface="Open Sauce"/>
                <a:ea typeface="Open Sauce"/>
                <a:cs typeface="Open Sauce"/>
                <a:sym typeface="Open Sauce"/>
              </a:rPr>
              <a:t> • Measurement Mapping → Assigning numbers/symbols to the attribute following well-defined rules</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2542648"/>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Steps in Property-Oriented Measurement</a:t>
            </a:r>
          </a:p>
          <a:p>
            <a:pPr algn="l" marL="454811" indent="-227406" lvl="1">
              <a:lnSpc>
                <a:spcPts val="2949"/>
              </a:lnSpc>
              <a:buAutoNum type="arabicPeriod" startAt="1"/>
            </a:pPr>
            <a:r>
              <a:rPr lang="en-US" sz="2106">
                <a:solidFill>
                  <a:srgbClr val="000000"/>
                </a:solidFill>
                <a:latin typeface="Open Sauce"/>
                <a:ea typeface="Open Sauce"/>
                <a:cs typeface="Open Sauce"/>
                <a:sym typeface="Open Sauce"/>
              </a:rPr>
              <a:t>Identify the entity → e.g., source code</a:t>
            </a:r>
          </a:p>
          <a:p>
            <a:pPr algn="l" marL="454811" indent="-227406" lvl="1">
              <a:lnSpc>
                <a:spcPts val="2949"/>
              </a:lnSpc>
              <a:buAutoNum type="arabicPeriod" startAt="1"/>
            </a:pPr>
            <a:r>
              <a:rPr lang="en-US" sz="2106">
                <a:solidFill>
                  <a:srgbClr val="000000"/>
                </a:solidFill>
                <a:latin typeface="Open Sauce"/>
                <a:ea typeface="Open Sauce"/>
                <a:cs typeface="Open Sauce"/>
                <a:sym typeface="Open Sauce"/>
              </a:rPr>
              <a:t>Select the property to measure → e.g., complexity</a:t>
            </a:r>
          </a:p>
          <a:p>
            <a:pPr algn="l" marL="454811" indent="-227406" lvl="1">
              <a:lnSpc>
                <a:spcPts val="2949"/>
              </a:lnSpc>
              <a:buAutoNum type="arabicPeriod" startAt="1"/>
            </a:pPr>
            <a:r>
              <a:rPr lang="en-US" sz="2106">
                <a:solidFill>
                  <a:srgbClr val="000000"/>
                </a:solidFill>
                <a:latin typeface="Open Sauce"/>
                <a:ea typeface="Open Sauce"/>
                <a:cs typeface="Open Sauce"/>
                <a:sym typeface="Open Sauce"/>
              </a:rPr>
              <a:t>Define a measurement function → e.g., Cyclomatic Complexity formula</a:t>
            </a:r>
          </a:p>
          <a:p>
            <a:pPr algn="l" marL="454811" indent="-227406" lvl="1">
              <a:lnSpc>
                <a:spcPts val="2949"/>
              </a:lnSpc>
              <a:buAutoNum type="arabicPeriod" startAt="1"/>
            </a:pPr>
            <a:r>
              <a:rPr lang="en-US" sz="2106">
                <a:solidFill>
                  <a:srgbClr val="000000"/>
                </a:solidFill>
                <a:latin typeface="Open Sauce"/>
                <a:ea typeface="Open Sauce"/>
                <a:cs typeface="Open Sauce"/>
                <a:sym typeface="Open Sauce"/>
              </a:rPr>
              <a:t>Apply measurement rules consistently → e.g., follow IEEE standards</a:t>
            </a:r>
          </a:p>
          <a:p>
            <a:pPr algn="l" marL="454811" indent="-227406" lvl="1">
              <a:lnSpc>
                <a:spcPts val="2949"/>
              </a:lnSpc>
              <a:buAutoNum type="arabicPeriod" startAt="1"/>
            </a:pPr>
            <a:r>
              <a:rPr lang="en-US" sz="2106">
                <a:solidFill>
                  <a:srgbClr val="000000"/>
                </a:solidFill>
                <a:latin typeface="Open Sauce"/>
                <a:ea typeface="Open Sauce"/>
                <a:cs typeface="Open Sauce"/>
                <a:sym typeface="Open Sauce"/>
              </a:rPr>
              <a:t>Interpret the measurement for decision-making</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2908084"/>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Examples in Software Metrics</a:t>
            </a:r>
          </a:p>
          <a:p>
            <a:pPr algn="l">
              <a:lnSpc>
                <a:spcPts val="2949"/>
              </a:lnSpc>
            </a:pPr>
            <a:r>
              <a:rPr lang="en-US" sz="2106">
                <a:solidFill>
                  <a:srgbClr val="000000"/>
                </a:solidFill>
                <a:latin typeface="Open Sauce"/>
                <a:ea typeface="Open Sauce"/>
                <a:cs typeface="Open Sauce"/>
                <a:sym typeface="Open Sauce"/>
              </a:rPr>
              <a:t>• Size Property → Measured by Lines of Code (LOC), Function Points</a:t>
            </a:r>
          </a:p>
          <a:p>
            <a:pPr algn="l">
              <a:lnSpc>
                <a:spcPts val="2949"/>
              </a:lnSpc>
            </a:pPr>
            <a:r>
              <a:rPr lang="en-US" sz="2106">
                <a:solidFill>
                  <a:srgbClr val="000000"/>
                </a:solidFill>
                <a:latin typeface="Open Sauce"/>
                <a:ea typeface="Open Sauce"/>
                <a:cs typeface="Open Sauce"/>
                <a:sym typeface="Open Sauce"/>
              </a:rPr>
              <a:t> • Complexity Property → Measured by Cyclomatic Complexity, Halstead metrics</a:t>
            </a:r>
          </a:p>
          <a:p>
            <a:pPr algn="l">
              <a:lnSpc>
                <a:spcPts val="2949"/>
              </a:lnSpc>
            </a:pPr>
            <a:r>
              <a:rPr lang="en-US" sz="2106">
                <a:solidFill>
                  <a:srgbClr val="000000"/>
                </a:solidFill>
                <a:latin typeface="Open Sauce"/>
                <a:ea typeface="Open Sauce"/>
                <a:cs typeface="Open Sauce"/>
                <a:sym typeface="Open Sauce"/>
              </a:rPr>
              <a:t> • Quality Property → Measured by defect density, reliability, maintainability index</a:t>
            </a:r>
          </a:p>
          <a:p>
            <a:pPr algn="l">
              <a:lnSpc>
                <a:spcPts val="2949"/>
              </a:lnSpc>
            </a:pPr>
            <a:r>
              <a:rPr lang="en-US" sz="2106">
                <a:solidFill>
                  <a:srgbClr val="000000"/>
                </a:solidFill>
                <a:latin typeface="Open Sauce"/>
                <a:ea typeface="Open Sauce"/>
                <a:cs typeface="Open Sauce"/>
                <a:sym typeface="Open Sauce"/>
              </a:rPr>
              <a:t> • Process Property → Measured by effort (person-hours), productivity</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11134984" cy="4735266"/>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Meaningfulness in Measurement</a:t>
            </a:r>
          </a:p>
          <a:p>
            <a:pPr algn="l">
              <a:lnSpc>
                <a:spcPts val="2949"/>
              </a:lnSpc>
            </a:pPr>
            <a:r>
              <a:rPr lang="en-US" sz="2106">
                <a:solidFill>
                  <a:srgbClr val="000000"/>
                </a:solidFill>
                <a:latin typeface="Open Sauce"/>
                <a:ea typeface="Open Sauce"/>
                <a:cs typeface="Open Sauce"/>
                <a:sym typeface="Open Sauce"/>
              </a:rPr>
              <a:t>Definition:</a:t>
            </a:r>
          </a:p>
          <a:p>
            <a:pPr algn="l">
              <a:lnSpc>
                <a:spcPts val="2949"/>
              </a:lnSpc>
            </a:pPr>
            <a:r>
              <a:rPr lang="en-US" sz="2106">
                <a:solidFill>
                  <a:srgbClr val="000000"/>
                </a:solidFill>
                <a:latin typeface="Open Sauce"/>
                <a:ea typeface="Open Sauce"/>
                <a:cs typeface="Open Sauce"/>
                <a:sym typeface="Open Sauce"/>
              </a:rPr>
              <a:t> • A measurement is meaningful if the numerical values assigned to attributes correctly represent the real-world properties they are supposed to measure.</a:t>
            </a:r>
          </a:p>
          <a:p>
            <a:pPr algn="l">
              <a:lnSpc>
                <a:spcPts val="2949"/>
              </a:lnSpc>
            </a:pPr>
            <a:r>
              <a:rPr lang="en-US" sz="2106">
                <a:solidFill>
                  <a:srgbClr val="000000"/>
                </a:solidFill>
                <a:latin typeface="Open Sauce"/>
                <a:ea typeface="Open Sauce"/>
                <a:cs typeface="Open Sauce"/>
                <a:sym typeface="Open Sauce"/>
              </a:rPr>
              <a:t> • In other words: Does the number we assign truly reflect the property of the software we care about?</a:t>
            </a:r>
          </a:p>
          <a:p>
            <a:pPr algn="l">
              <a:lnSpc>
                <a:spcPts val="2949"/>
              </a:lnSpc>
            </a:pPr>
            <a:r>
              <a:rPr lang="en-US" sz="2106">
                <a:solidFill>
                  <a:srgbClr val="000000"/>
                </a:solidFill>
                <a:latin typeface="Open Sauce"/>
                <a:ea typeface="Open Sauce"/>
                <a:cs typeface="Open Sauce"/>
                <a:sym typeface="Open Sauce"/>
              </a:rPr>
              <a:t>Why It Matters in Software Metrics:</a:t>
            </a:r>
          </a:p>
          <a:p>
            <a:pPr algn="l">
              <a:lnSpc>
                <a:spcPts val="2949"/>
              </a:lnSpc>
            </a:pPr>
            <a:r>
              <a:rPr lang="en-US" sz="2106">
                <a:solidFill>
                  <a:srgbClr val="000000"/>
                </a:solidFill>
                <a:latin typeface="Open Sauce"/>
                <a:ea typeface="Open Sauce"/>
                <a:cs typeface="Open Sauce"/>
                <a:sym typeface="Open Sauce"/>
              </a:rPr>
              <a:t> • Software is intangible — we can’t physically measure it.</a:t>
            </a:r>
          </a:p>
          <a:p>
            <a:pPr algn="l">
              <a:lnSpc>
                <a:spcPts val="2949"/>
              </a:lnSpc>
            </a:pPr>
            <a:r>
              <a:rPr lang="en-US" sz="2106">
                <a:solidFill>
                  <a:srgbClr val="000000"/>
                </a:solidFill>
                <a:latin typeface="Open Sauce"/>
                <a:ea typeface="Open Sauce"/>
                <a:cs typeface="Open Sauce"/>
                <a:sym typeface="Open Sauce"/>
              </a:rPr>
              <a:t> • If a metric doesn’t correspond to the real attribute (e.g., using LOC as a direct measure of quality), it may lead to false conclusions.</a:t>
            </a:r>
          </a:p>
          <a:p>
            <a:pPr algn="l">
              <a:lnSpc>
                <a:spcPts val="2949"/>
              </a:lnSpc>
            </a:pPr>
            <a:r>
              <a:rPr lang="en-US" sz="2106">
                <a:solidFill>
                  <a:srgbClr val="000000"/>
                </a:solidFill>
                <a:latin typeface="Open Sauce"/>
                <a:ea typeface="Open Sauce"/>
                <a:cs typeface="Open Sauce"/>
                <a:sym typeface="Open Sauce"/>
              </a:rPr>
              <a:t> • Ensures that metrics provide valid, useful, and interpretable information for decision-making.</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3638957"/>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Levels of Meaningfulness (by Scale Type)</a:t>
            </a:r>
          </a:p>
          <a:p>
            <a:pPr algn="l">
              <a:lnSpc>
                <a:spcPts val="2949"/>
              </a:lnSpc>
            </a:pPr>
            <a:r>
              <a:rPr lang="en-US" sz="2106">
                <a:solidFill>
                  <a:srgbClr val="000000"/>
                </a:solidFill>
                <a:latin typeface="Open Sauce"/>
                <a:ea typeface="Open Sauce"/>
                <a:cs typeface="Open Sauce"/>
                <a:sym typeface="Open Sauce"/>
              </a:rPr>
              <a:t>Different scales of measurement affect what operations are meaningful:</a:t>
            </a:r>
          </a:p>
          <a:p>
            <a:pPr algn="l">
              <a:lnSpc>
                <a:spcPts val="2949"/>
              </a:lnSpc>
            </a:pPr>
            <a:r>
              <a:rPr lang="en-US" sz="2106">
                <a:solidFill>
                  <a:srgbClr val="000000"/>
                </a:solidFill>
                <a:latin typeface="Open Sauce"/>
                <a:ea typeface="Open Sauce"/>
                <a:cs typeface="Open Sauce"/>
                <a:sym typeface="Open Sauce"/>
              </a:rPr>
              <a:t>• Nominal Scale → Only equality/inequality comparisons are meaningful</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Example: Defect type (logic, syntax, runtime)</a:t>
            </a:r>
          </a:p>
          <a:p>
            <a:pPr algn="l">
              <a:lnSpc>
                <a:spcPts val="2949"/>
              </a:lnSpc>
            </a:pPr>
            <a:r>
              <a:rPr lang="en-US" sz="2106">
                <a:solidFill>
                  <a:srgbClr val="000000"/>
                </a:solidFill>
                <a:latin typeface="Open Sauce"/>
                <a:ea typeface="Open Sauce"/>
                <a:cs typeface="Open Sauce"/>
                <a:sym typeface="Open Sauce"/>
              </a:rPr>
              <a:t>• Ordinal Scale → Rankings are meaningful, but not the size of differences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Example: Severity levels (High &gt; Medium &gt; Low)</a:t>
            </a:r>
          </a:p>
          <a:p>
            <a:pPr algn="l">
              <a:lnSpc>
                <a:spcPts val="2949"/>
              </a:lnSpc>
            </a:pPr>
            <a:r>
              <a:rPr lang="en-US" sz="2106">
                <a:solidFill>
                  <a:srgbClr val="000000"/>
                </a:solidFill>
                <a:latin typeface="Open Sauce"/>
                <a:ea typeface="Open Sauce"/>
                <a:cs typeface="Open Sauce"/>
                <a:sym typeface="Open Sauce"/>
              </a:rPr>
              <a:t>• Interval Scale → Differences are meaningful, but ratios are not</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Example: Calendar time (10 days vs 20 days → difference of 10 days is meaningful, but twice as long</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1811775"/>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Examples in So ware Metrics • Meaningful Metric: Cyclomatic Complexity = 10 → tells us there are 10 independent execution paths A true reflection of complexity). • Potentially Misleading Metric: LOC = 5,000 → may suggest “larger software,” but does not necessarily indicate higher quality or functionality</a:t>
            </a: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1811775"/>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Key Characteristics of Measurement Quality </a:t>
            </a:r>
          </a:p>
          <a:p>
            <a:pPr algn="l">
              <a:lnSpc>
                <a:spcPts val="2949"/>
              </a:lnSpc>
            </a:pPr>
            <a:r>
              <a:rPr lang="en-US" sz="2106">
                <a:solidFill>
                  <a:srgbClr val="000000"/>
                </a:solidFill>
                <a:latin typeface="Open Sauce"/>
                <a:ea typeface="Open Sauce"/>
                <a:cs typeface="Open Sauce"/>
                <a:sym typeface="Open Sauce"/>
              </a:rPr>
              <a:t>• Validity</a:t>
            </a:r>
          </a:p>
          <a:p>
            <a:pPr algn="l">
              <a:lnSpc>
                <a:spcPts val="2949"/>
              </a:lnSpc>
            </a:pPr>
            <a:r>
              <a:rPr lang="en-US" sz="2106">
                <a:solidFill>
                  <a:srgbClr val="000000"/>
                </a:solidFill>
                <a:latin typeface="Open Sauce"/>
                <a:ea typeface="Open Sauce"/>
                <a:cs typeface="Open Sauce"/>
                <a:sym typeface="Open Sauce"/>
              </a:rPr>
              <a:t>• Reliability (Consistency)</a:t>
            </a:r>
          </a:p>
          <a:p>
            <a:pPr algn="l">
              <a:lnSpc>
                <a:spcPts val="2949"/>
              </a:lnSpc>
            </a:pPr>
            <a:r>
              <a:rPr lang="en-US" sz="2106">
                <a:solidFill>
                  <a:srgbClr val="000000"/>
                </a:solidFill>
                <a:latin typeface="Open Sauce"/>
                <a:ea typeface="Open Sauce"/>
                <a:cs typeface="Open Sauce"/>
                <a:sym typeface="Open Sauce"/>
              </a:rPr>
              <a:t> . Accuracy </a:t>
            </a:r>
          </a:p>
          <a:p>
            <a:pPr algn="l">
              <a:lnSpc>
                <a:spcPts val="2949"/>
              </a:lnSpc>
            </a:pPr>
            <a:r>
              <a:rPr lang="en-US" sz="2106">
                <a:solidFill>
                  <a:srgbClr val="000000"/>
                </a:solidFill>
                <a:latin typeface="Open Sauce"/>
                <a:ea typeface="Open Sauce"/>
                <a:cs typeface="Open Sauce"/>
                <a:sym typeface="Open Sauce"/>
              </a:rPr>
              <a:t>• Precision </a:t>
            </a: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2177211"/>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 Example: Reporting execution time as 2.34 seconds instead of “about 2 seconds.” • Consistency • The measurement method should produce repeatable and comparable results across projects, teams, or tools. • Practicality / Cost-effectiveness.</a:t>
            </a:r>
          </a:p>
          <a:p>
            <a:pPr algn="l">
              <a:lnSpc>
                <a:spcPts val="2949"/>
              </a:lnSpc>
            </a:pPr>
            <a:r>
              <a:rPr lang="en-US" sz="2106">
                <a:solidFill>
                  <a:srgbClr val="000000"/>
                </a:solidFill>
                <a:latin typeface="Open Sauce"/>
                <a:ea typeface="Open Sauce"/>
                <a:cs typeface="Open Sauce"/>
                <a:sym typeface="Open Sauce"/>
              </a:rPr>
              <a:t> Measurement should not be so costly or time-consuming that it outweighs its usefulness.</a:t>
            </a: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2177211"/>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Importance in So ware Metrics</a:t>
            </a:r>
          </a:p>
          <a:p>
            <a:pPr algn="l">
              <a:lnSpc>
                <a:spcPts val="2949"/>
              </a:lnSpc>
            </a:pPr>
            <a:r>
              <a:rPr lang="en-US" sz="2106">
                <a:solidFill>
                  <a:srgbClr val="000000"/>
                </a:solidFill>
                <a:latin typeface="Open Sauce"/>
                <a:ea typeface="Open Sauce"/>
                <a:cs typeface="Open Sauce"/>
                <a:sym typeface="Open Sauce"/>
              </a:rPr>
              <a:t> • Poor-quality measurement → misleading metrics → wrong decisions. </a:t>
            </a:r>
          </a:p>
          <a:p>
            <a:pPr algn="l">
              <a:lnSpc>
                <a:spcPts val="2949"/>
              </a:lnSpc>
            </a:pPr>
            <a:r>
              <a:rPr lang="en-US" sz="2106">
                <a:solidFill>
                  <a:srgbClr val="000000"/>
                </a:solidFill>
                <a:latin typeface="Open Sauce"/>
                <a:ea typeface="Open Sauce"/>
                <a:cs typeface="Open Sauce"/>
                <a:sym typeface="Open Sauce"/>
              </a:rPr>
              <a:t>• High-quality measurement:</a:t>
            </a:r>
          </a:p>
          <a:p>
            <a:pPr algn="l">
              <a:lnSpc>
                <a:spcPts val="2949"/>
              </a:lnSpc>
            </a:pPr>
            <a:r>
              <a:rPr lang="en-US" sz="2106">
                <a:solidFill>
                  <a:srgbClr val="000000"/>
                </a:solidFill>
                <a:latin typeface="Open Sauce"/>
                <a:ea typeface="Open Sauce"/>
                <a:cs typeface="Open Sauce"/>
                <a:sym typeface="Open Sauce"/>
              </a:rPr>
              <a:t> • Improves project planning &amp; control</a:t>
            </a:r>
          </a:p>
          <a:p>
            <a:pPr algn="l">
              <a:lnSpc>
                <a:spcPts val="2949"/>
              </a:lnSpc>
            </a:pPr>
            <a:r>
              <a:rPr lang="en-US" sz="2106">
                <a:solidFill>
                  <a:srgbClr val="000000"/>
                </a:solidFill>
                <a:latin typeface="Open Sauce"/>
                <a:ea typeface="Open Sauce"/>
                <a:cs typeface="Open Sauce"/>
                <a:sym typeface="Open Sauce"/>
              </a:rPr>
              <a:t>. • Provides a solid basis for quality assurance.</a:t>
            </a:r>
          </a:p>
          <a:p>
            <a:pPr algn="l">
              <a:lnSpc>
                <a:spcPts val="2949"/>
              </a:lnSpc>
            </a:pPr>
            <a:r>
              <a:rPr lang="en-US" sz="2106">
                <a:solidFill>
                  <a:srgbClr val="000000"/>
                </a:solidFill>
                <a:latin typeface="Open Sauce"/>
                <a:ea typeface="Open Sauce"/>
                <a:cs typeface="Open Sauce"/>
                <a:sym typeface="Open Sauce"/>
              </a:rPr>
              <a:t> • Enables reliable benchmarking across projects and organizations</a:t>
            </a: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1811775"/>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Examples • Good Quality Measurement: Cyclomatic Complexity using McCabe’s formula → always produces the same result for a given program. • Poor Quality Measurement: “Developer productivity” measured only by LOC → misleading because it ignores quality, complexity, and maintainability</a:t>
            </a: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1811775"/>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Measurement Process – Definition</a:t>
            </a:r>
          </a:p>
          <a:p>
            <a:pPr algn="l">
              <a:lnSpc>
                <a:spcPts val="2949"/>
              </a:lnSpc>
            </a:pPr>
            <a:r>
              <a:rPr lang="en-US" sz="2106">
                <a:solidFill>
                  <a:srgbClr val="000000"/>
                </a:solidFill>
                <a:latin typeface="Open Sauce"/>
                <a:ea typeface="Open Sauce"/>
                <a:cs typeface="Open Sauce"/>
                <a:sym typeface="Open Sauce"/>
              </a:rPr>
              <a:t>The measurement process is a systematic set of activities used to identify, collect, analyze, and interpret data about software entities and their attributes in order to support decision-making.</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4369830"/>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Steps in the Measurement Process</a:t>
            </a:r>
          </a:p>
          <a:p>
            <a:pPr algn="l">
              <a:lnSpc>
                <a:spcPts val="2949"/>
              </a:lnSpc>
            </a:pPr>
            <a:r>
              <a:rPr lang="en-US" sz="2106">
                <a:solidFill>
                  <a:srgbClr val="000000"/>
                </a:solidFill>
                <a:latin typeface="Open Sauce"/>
                <a:ea typeface="Open Sauce"/>
                <a:cs typeface="Open Sauce"/>
                <a:sym typeface="Open Sauce"/>
              </a:rPr>
              <a:t>1. </a:t>
            </a:r>
            <a:r>
              <a:rPr lang="en-US" sz="2106">
                <a:solidFill>
                  <a:srgbClr val="000000"/>
                </a:solidFill>
                <a:latin typeface="Open Sauce"/>
                <a:ea typeface="Open Sauce"/>
                <a:cs typeface="Open Sauce"/>
                <a:sym typeface="Open Sauce"/>
              </a:rPr>
              <a:t>Define Measurement Goals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Clearly define why you are measuring.</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The goal should support decision-making.</a:t>
            </a:r>
          </a:p>
          <a:p>
            <a:pPr algn="l">
              <a:lnSpc>
                <a:spcPts val="2949"/>
              </a:lnSpc>
            </a:pPr>
            <a:r>
              <a:rPr lang="en-US" sz="2106">
                <a:solidFill>
                  <a:srgbClr val="000000"/>
                </a:solidFill>
                <a:latin typeface="Open Sauce"/>
                <a:ea typeface="Open Sauce"/>
                <a:cs typeface="Open Sauce"/>
                <a:sym typeface="Open Sauce"/>
              </a:rPr>
              <a:t>Examples: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Improve software quality</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Estimate development cost</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Track productivity</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Monitor performance</a:t>
            </a:r>
          </a:p>
          <a:p>
            <a:pPr algn="l">
              <a:lnSpc>
                <a:spcPts val="2949"/>
              </a:lnSpc>
            </a:pPr>
            <a:r>
              <a:rPr lang="en-US" sz="2106">
                <a:solidFill>
                  <a:srgbClr val="000000"/>
                </a:solidFill>
                <a:latin typeface="Open Sauce"/>
                <a:ea typeface="Open Sauce"/>
                <a:cs typeface="Open Sauce"/>
                <a:sym typeface="Open Sauce"/>
              </a:rPr>
              <a:t>Example:</a:t>
            </a:r>
          </a:p>
          <a:p>
            <a:pPr algn="l">
              <a:lnSpc>
                <a:spcPts val="2949"/>
              </a:lnSpc>
            </a:pPr>
            <a:r>
              <a:rPr lang="en-US" sz="2106">
                <a:solidFill>
                  <a:srgbClr val="000000"/>
                </a:solidFill>
                <a:latin typeface="Open Sauce"/>
                <a:ea typeface="Open Sauce"/>
                <a:cs typeface="Open Sauce"/>
                <a:sym typeface="Open Sauce"/>
              </a:rPr>
              <a:t> Measure defect density to assess software reliability.</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028700" y="5105400"/>
            <a:ext cx="11958941" cy="5831576"/>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Select Entities and Attributes</a:t>
            </a:r>
          </a:p>
          <a:p>
            <a:pPr algn="l">
              <a:lnSpc>
                <a:spcPts val="2949"/>
              </a:lnSpc>
            </a:pPr>
            <a:r>
              <a:rPr lang="en-US" sz="2106">
                <a:solidFill>
                  <a:srgbClr val="000000"/>
                </a:solidFill>
                <a:latin typeface="Open Sauce"/>
                <a:ea typeface="Open Sauce"/>
                <a:cs typeface="Open Sauce"/>
                <a:sym typeface="Open Sauce"/>
              </a:rPr>
              <a:t>Ent</a:t>
            </a:r>
            <a:r>
              <a:rPr lang="en-US" sz="2106">
                <a:solidFill>
                  <a:srgbClr val="000000"/>
                </a:solidFill>
                <a:latin typeface="Open Sauce"/>
                <a:ea typeface="Open Sauce"/>
                <a:cs typeface="Open Sauce"/>
                <a:sym typeface="Open Sauce"/>
              </a:rPr>
              <a:t>ity:</a:t>
            </a:r>
          </a:p>
          <a:p>
            <a:pPr algn="l">
              <a:lnSpc>
                <a:spcPts val="2949"/>
              </a:lnSpc>
            </a:pPr>
            <a:r>
              <a:rPr lang="en-US" sz="2106">
                <a:solidFill>
                  <a:srgbClr val="000000"/>
                </a:solidFill>
                <a:latin typeface="Open Sauce"/>
                <a:ea typeface="Open Sauce"/>
                <a:cs typeface="Open Sauce"/>
                <a:sym typeface="Open Sauce"/>
              </a:rPr>
              <a:t>Th</a:t>
            </a:r>
            <a:r>
              <a:rPr lang="en-US" sz="2106">
                <a:solidFill>
                  <a:srgbClr val="000000"/>
                </a:solidFill>
                <a:latin typeface="Open Sauce"/>
                <a:ea typeface="Open Sauce"/>
                <a:cs typeface="Open Sauce"/>
                <a:sym typeface="Open Sauce"/>
              </a:rPr>
              <a:t>e object being measured.</a:t>
            </a:r>
          </a:p>
          <a:p>
            <a:pPr algn="l">
              <a:lnSpc>
                <a:spcPts val="2949"/>
              </a:lnSpc>
            </a:pPr>
            <a:r>
              <a:rPr lang="en-US" sz="2106">
                <a:solidFill>
                  <a:srgbClr val="000000"/>
                </a:solidFill>
                <a:latin typeface="Open Sauce"/>
                <a:ea typeface="Open Sauce"/>
                <a:cs typeface="Open Sauce"/>
                <a:sym typeface="Open Sauce"/>
              </a:rPr>
              <a:t>Examples of entities: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Source code</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Development process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Test cases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Software product</a:t>
            </a:r>
          </a:p>
          <a:p>
            <a:pPr algn="l">
              <a:lnSpc>
                <a:spcPts val="2949"/>
              </a:lnSpc>
            </a:pPr>
            <a:r>
              <a:rPr lang="en-US" sz="2106">
                <a:solidFill>
                  <a:srgbClr val="000000"/>
                </a:solidFill>
                <a:latin typeface="Open Sauce"/>
                <a:ea typeface="Open Sauce"/>
                <a:cs typeface="Open Sauce"/>
                <a:sym typeface="Open Sauce"/>
              </a:rPr>
              <a:t>Attribute:</a:t>
            </a:r>
          </a:p>
          <a:p>
            <a:pPr algn="l">
              <a:lnSpc>
                <a:spcPts val="2949"/>
              </a:lnSpc>
            </a:pPr>
            <a:r>
              <a:rPr lang="en-US" sz="2106">
                <a:solidFill>
                  <a:srgbClr val="000000"/>
                </a:solidFill>
                <a:latin typeface="Open Sauce"/>
                <a:ea typeface="Open Sauce"/>
                <a:cs typeface="Open Sauce"/>
                <a:sym typeface="Open Sauce"/>
              </a:rPr>
              <a:t>The characteristic of the entity that is being measured.</a:t>
            </a:r>
          </a:p>
          <a:p>
            <a:pPr algn="l">
              <a:lnSpc>
                <a:spcPts val="2949"/>
              </a:lnSpc>
            </a:pPr>
            <a:r>
              <a:rPr lang="en-US" sz="2106">
                <a:solidFill>
                  <a:srgbClr val="000000"/>
                </a:solidFill>
                <a:latin typeface="Open Sauce"/>
                <a:ea typeface="Open Sauce"/>
                <a:cs typeface="Open Sauce"/>
                <a:sym typeface="Open Sauce"/>
              </a:rPr>
              <a:t>Examples of attributes: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Size</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Complexity</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Number of defects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Development effort</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2908084"/>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3️⃣ Define Measurement Metrics and Scales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D</a:t>
            </a:r>
            <a:r>
              <a:rPr lang="en-US" sz="2106">
                <a:solidFill>
                  <a:srgbClr val="000000"/>
                </a:solidFill>
                <a:latin typeface="Open Sauce"/>
                <a:ea typeface="Open Sauce"/>
                <a:cs typeface="Open Sauce"/>
                <a:sym typeface="Open Sauce"/>
              </a:rPr>
              <a:t>ecide how the attribute will be quantified.</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a:t>
            </a:r>
            <a:r>
              <a:rPr lang="en-US" sz="2106">
                <a:solidFill>
                  <a:srgbClr val="000000"/>
                </a:solidFill>
                <a:latin typeface="Open Sauce"/>
                <a:ea typeface="Open Sauce"/>
                <a:cs typeface="Open Sauce"/>
                <a:sym typeface="Open Sauce"/>
              </a:rPr>
              <a:t>elect an appropriate measurement scale.</a:t>
            </a:r>
          </a:p>
          <a:p>
            <a:pPr algn="l">
              <a:lnSpc>
                <a:spcPts val="2949"/>
              </a:lnSpc>
            </a:pPr>
            <a:r>
              <a:rPr lang="en-US" sz="2106">
                <a:solidFill>
                  <a:srgbClr val="000000"/>
                </a:solidFill>
                <a:latin typeface="Open Sauce"/>
                <a:ea typeface="Open Sauce"/>
                <a:cs typeface="Open Sauce"/>
                <a:sym typeface="Open Sauce"/>
              </a:rPr>
              <a:t>Examples: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Lin</a:t>
            </a:r>
            <a:r>
              <a:rPr lang="en-US" sz="2106">
                <a:solidFill>
                  <a:srgbClr val="000000"/>
                </a:solidFill>
                <a:latin typeface="Open Sauce"/>
                <a:ea typeface="Open Sauce"/>
                <a:cs typeface="Open Sauce"/>
                <a:sym typeface="Open Sauce"/>
              </a:rPr>
              <a:t>es of Code (LOC) → Ratio Scale</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Defect Severity (Low, Medium, High) → Ordinal Scale</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Temperature (°C) → Interval Scale</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539904" y="11292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028700" y="5105400"/>
            <a:ext cx="11958941" cy="3273521"/>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4️⃣ Data Collection</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Gather data accordi</a:t>
            </a:r>
            <a:r>
              <a:rPr lang="en-US" sz="2106">
                <a:solidFill>
                  <a:srgbClr val="000000"/>
                </a:solidFill>
                <a:latin typeface="Open Sauce"/>
                <a:ea typeface="Open Sauce"/>
                <a:cs typeface="Open Sauce"/>
                <a:sym typeface="Open Sauce"/>
              </a:rPr>
              <a:t>ng t</a:t>
            </a:r>
            <a:r>
              <a:rPr lang="en-US" sz="2106">
                <a:solidFill>
                  <a:srgbClr val="000000"/>
                </a:solidFill>
                <a:latin typeface="Open Sauce"/>
                <a:ea typeface="Open Sauce"/>
                <a:cs typeface="Open Sauce"/>
                <a:sym typeface="Open Sauce"/>
              </a:rPr>
              <a:t>o defined metrics.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Ensure accuracy, consistency, and reliability.</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Us</a:t>
            </a:r>
            <a:r>
              <a:rPr lang="en-US" sz="2106">
                <a:solidFill>
                  <a:srgbClr val="000000"/>
                </a:solidFill>
                <a:latin typeface="Open Sauce"/>
                <a:ea typeface="Open Sauce"/>
                <a:cs typeface="Open Sauce"/>
                <a:sym typeface="Open Sauce"/>
              </a:rPr>
              <a:t>e tools, surveys, logs, or automated systems for data collection.</a:t>
            </a:r>
          </a:p>
          <a:p>
            <a:pPr algn="l">
              <a:lnSpc>
                <a:spcPts val="2949"/>
              </a:lnSpc>
            </a:pPr>
            <a:r>
              <a:rPr lang="en-US" sz="2106">
                <a:solidFill>
                  <a:srgbClr val="000000"/>
                </a:solidFill>
                <a:latin typeface="Open Sauce"/>
                <a:ea typeface="Open Sauce"/>
                <a:cs typeface="Open Sauce"/>
                <a:sym typeface="Open Sauce"/>
              </a:rPr>
              <a:t>5️⃣ Data Analysis and Interpretation (Important Step)</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Analyz</a:t>
            </a:r>
            <a:r>
              <a:rPr lang="en-US" sz="2106">
                <a:solidFill>
                  <a:srgbClr val="000000"/>
                </a:solidFill>
                <a:latin typeface="Open Sauce"/>
                <a:ea typeface="Open Sauce"/>
                <a:cs typeface="Open Sauce"/>
                <a:sym typeface="Open Sauce"/>
              </a:rPr>
              <a:t>e collected data using statistical or analytical methods.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Interpret the results in relation to the measurement goals.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Support decision-making based on findings.</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3273521"/>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 Gather the measurement data using tools, checklists, or automated systems. • Example: Sta c analysis tools for code complexity. • Data Analysis &amp; Interpreta on • Convert raw data into meaningful informa on. • Example: Compute defect density = (defects / KLOC). • Interpret results: higher density → lower quality. • Valida on and Verification • Check if the measurement is valid (measuring the right property) and reliable (consistent results). • Reporting and Feedback • Present results in a way that supports decision-making (e.g., dashboards, reports). • Provide feedback to improve future measurement.</a:t>
            </a: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3638957"/>
          </a:xfrm>
          <a:prstGeom prst="rect">
            <a:avLst/>
          </a:prstGeom>
        </p:spPr>
        <p:txBody>
          <a:bodyPr anchor="t" rtlCol="false" tIns="0" lIns="0" bIns="0" rIns="0">
            <a:spAutoFit/>
          </a:bodyPr>
          <a:lstStyle/>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Illustration (Simple Flow) • Goals → En es &amp; A tributes → Define Metrics → Collect Data → Analyze &amp; Interpret →</a:t>
            </a:r>
          </a:p>
          <a:p>
            <a:pPr algn="l">
              <a:lnSpc>
                <a:spcPts val="2949"/>
              </a:lnSpc>
            </a:pPr>
            <a:r>
              <a:rPr lang="en-US" sz="2106">
                <a:solidFill>
                  <a:srgbClr val="000000"/>
                </a:solidFill>
                <a:latin typeface="Open Sauce"/>
                <a:ea typeface="Open Sauce"/>
                <a:cs typeface="Open Sauce"/>
                <a:sym typeface="Open Sauce"/>
              </a:rPr>
              <a:t> Validate → Report &amp; Use Why the Measurement Process is Important</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Ensures measurements are systematic, consistent, and purposeful.</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Supports better planning, quality control, and risk management.</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Prevents wasting time on meaningless or misleading metrics.</a:t>
            </a:r>
          </a:p>
          <a:p>
            <a:pPr algn="l">
              <a:lnSpc>
                <a:spcPts val="2949"/>
              </a:lnSpc>
            </a:pPr>
            <a:r>
              <a:rPr lang="en-US" sz="2106">
                <a:solidFill>
                  <a:srgbClr val="000000"/>
                </a:solidFill>
                <a:latin typeface="Open Sauce"/>
                <a:ea typeface="Open Sauce"/>
                <a:cs typeface="Open Sauce"/>
                <a:sym typeface="Open Sauce"/>
              </a:rPr>
              <a:t> • Provides a feedback loop for continuous improvement in software projects.</a:t>
            </a:r>
          </a:p>
          <a:p>
            <a:pPr algn="l">
              <a:lnSpc>
                <a:spcPts val="2949"/>
              </a:lnSpc>
            </a:pP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2908084"/>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Scales of Measurement – Definition</a:t>
            </a:r>
          </a:p>
          <a:p>
            <a:pPr algn="l">
              <a:lnSpc>
                <a:spcPts val="2949"/>
              </a:lnSpc>
            </a:pPr>
            <a:r>
              <a:rPr lang="en-US" sz="2106">
                <a:solidFill>
                  <a:srgbClr val="000000"/>
                </a:solidFill>
                <a:latin typeface="Open Sauce"/>
                <a:ea typeface="Open Sauce"/>
                <a:cs typeface="Open Sauce"/>
                <a:sym typeface="Open Sauce"/>
              </a:rPr>
              <a:t>A scale of measurement defines the rules for assigning numbers (or symbols) to the attributes of entities.</a:t>
            </a:r>
          </a:p>
          <a:p>
            <a:pPr algn="l">
              <a:lnSpc>
                <a:spcPts val="2949"/>
              </a:lnSpc>
            </a:pPr>
            <a:r>
              <a:rPr lang="en-US" sz="2106">
                <a:solidFill>
                  <a:srgbClr val="000000"/>
                </a:solidFill>
                <a:latin typeface="Open Sauce"/>
                <a:ea typeface="Open Sauce"/>
                <a:cs typeface="Open Sauce"/>
                <a:sym typeface="Open Sauce"/>
              </a:rPr>
              <a:t>It determines which mathematical operations and comparisons are meaningful.</a:t>
            </a:r>
          </a:p>
          <a:p>
            <a:pPr algn="l">
              <a:lnSpc>
                <a:spcPts val="2949"/>
              </a:lnSpc>
            </a:pPr>
            <a:r>
              <a:rPr lang="en-US" sz="2106">
                <a:solidFill>
                  <a:srgbClr val="000000"/>
                </a:solidFill>
                <a:latin typeface="Open Sauce"/>
                <a:ea typeface="Open Sauce"/>
                <a:cs typeface="Open Sauce"/>
                <a:sym typeface="Open Sauce"/>
              </a:rPr>
              <a:t>Scales of measurement are essential for ensuring that metrics are interpreted correctly.</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1811775"/>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Types o Measurement Scales • Nominal Scale • Numbers (or labels) are used only for classification. • No order or magnitude implied. • Examples in software: • Defect categories (logic error = 1, syntax error = 2, runtime error = 3). • Programming languages used (1 = Java, 2 = Python, 3 = C++). • Ordinal Scale • Values show rank order, but not the size of di erences</a:t>
            </a: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4735266"/>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1️⃣ Ordinal Scale (Examples in Software)</a:t>
            </a:r>
          </a:p>
          <a:p>
            <a:pPr algn="l">
              <a:lnSpc>
                <a:spcPts val="2949"/>
              </a:lnSpc>
            </a:pPr>
            <a:r>
              <a:rPr lang="en-US" sz="2106">
                <a:solidFill>
                  <a:srgbClr val="000000"/>
                </a:solidFill>
                <a:latin typeface="Open Sauce"/>
                <a:ea typeface="Open Sauce"/>
                <a:cs typeface="Open Sauce"/>
                <a:sym typeface="Open Sauce"/>
              </a:rPr>
              <a:t>An ordinal scale represents ordered categories, but the difference between values is not measurable.</a:t>
            </a:r>
          </a:p>
          <a:p>
            <a:pPr algn="l">
              <a:lnSpc>
                <a:spcPts val="2949"/>
              </a:lnSpc>
            </a:pPr>
            <a:r>
              <a:rPr lang="en-US" sz="2106">
                <a:solidFill>
                  <a:srgbClr val="000000"/>
                </a:solidFill>
                <a:latin typeface="Open Sauce"/>
                <a:ea typeface="Open Sauce"/>
                <a:cs typeface="Open Sauce"/>
                <a:sym typeface="Open Sauce"/>
              </a:rPr>
              <a:t>Examples: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Defect Severity:</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 High &gt; Medium &gt; Low</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Customer Satisfaction Rating:</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 1 = Very Dissatisfied</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 2 = Dissatisfied</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 3 = Neutral</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 4 = Satisfied</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 5 = Very Satisfied</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5100703"/>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2️⃣ Interval Scale</a:t>
            </a:r>
          </a:p>
          <a:p>
            <a:pPr algn="l">
              <a:lnSpc>
                <a:spcPts val="2949"/>
              </a:lnSpc>
            </a:pPr>
            <a:r>
              <a:rPr lang="en-US" sz="2106">
                <a:solidFill>
                  <a:srgbClr val="000000"/>
                </a:solidFill>
                <a:latin typeface="Open Sauce"/>
                <a:ea typeface="Open Sauce"/>
                <a:cs typeface="Open Sauce"/>
                <a:sym typeface="Open Sauce"/>
              </a:rPr>
              <a:t>An interval scale has meaningful differences between values, but ratios are not meaningful.</a:t>
            </a:r>
          </a:p>
          <a:p>
            <a:pPr algn="l">
              <a:lnSpc>
                <a:spcPts val="2949"/>
              </a:lnSpc>
            </a:pPr>
            <a:r>
              <a:rPr lang="en-US" sz="2106">
                <a:solidFill>
                  <a:srgbClr val="000000"/>
                </a:solidFill>
                <a:latin typeface="Open Sauce"/>
                <a:ea typeface="Open Sauce"/>
                <a:cs typeface="Open Sauce"/>
                <a:sym typeface="Open Sauce"/>
              </a:rPr>
              <a:t>Key Characteristics: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Differences between values are meaningful</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No true zero point</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Addition and subtraction are valid</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Multiplication and division are NOT meaningful</a:t>
            </a:r>
          </a:p>
          <a:p>
            <a:pPr algn="l">
              <a:lnSpc>
                <a:spcPts val="2949"/>
              </a:lnSpc>
            </a:pPr>
            <a:r>
              <a:rPr lang="en-US" sz="2106">
                <a:solidFill>
                  <a:srgbClr val="000000"/>
                </a:solidFill>
                <a:latin typeface="Open Sauce"/>
                <a:ea typeface="Open Sauce"/>
                <a:cs typeface="Open Sauce"/>
                <a:sym typeface="Open Sauce"/>
              </a:rPr>
              <a:t>Example in Software:</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Calendar</a:t>
            </a:r>
            <a:r>
              <a:rPr lang="en-US" sz="2106">
                <a:solidFill>
                  <a:srgbClr val="000000"/>
                </a:solidFill>
                <a:latin typeface="Open Sauce"/>
                <a:ea typeface="Open Sauce"/>
                <a:cs typeface="Open Sauce"/>
                <a:sym typeface="Open Sauce"/>
              </a:rPr>
              <a:t> time (e.g., project start year 2015 vs 2025)</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Temperature of server room in °C</a:t>
            </a:r>
          </a:p>
          <a:p>
            <a:pPr algn="l">
              <a:lnSpc>
                <a:spcPts val="2949"/>
              </a:lnSpc>
            </a:pPr>
            <a:r>
              <a:rPr lang="en-US" sz="2106">
                <a:solidFill>
                  <a:srgbClr val="000000"/>
                </a:solidFill>
                <a:latin typeface="Open Sauce"/>
                <a:ea typeface="Open Sauce"/>
                <a:cs typeface="Open Sauce"/>
                <a:sym typeface="Open Sauce"/>
              </a:rPr>
              <a:t>👉</a:t>
            </a:r>
            <a:r>
              <a:rPr lang="en-US" sz="2106">
                <a:solidFill>
                  <a:srgbClr val="000000"/>
                </a:solidFill>
                <a:latin typeface="Open Sauce"/>
                <a:ea typeface="Open Sauce"/>
                <a:cs typeface="Open Sauce"/>
                <a:sym typeface="Open Sauce"/>
              </a:rPr>
              <a:t> The difference between 10 and 20 units is meaningful.</a:t>
            </a:r>
          </a:p>
          <a:p>
            <a:pPr algn="l">
              <a:lnSpc>
                <a:spcPts val="2949"/>
              </a:lnSpc>
            </a:pPr>
            <a:r>
              <a:rPr lang="en-US" sz="2106">
                <a:solidFill>
                  <a:srgbClr val="000000"/>
                </a:solidFill>
                <a:latin typeface="Open Sauce"/>
                <a:ea typeface="Open Sauce"/>
                <a:cs typeface="Open Sauce"/>
                <a:sym typeface="Open Sauce"/>
              </a:rPr>
              <a:t> 👉 But 20 is NOT “twice” 10 because there is no true zero.</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1422918"/>
            <a:ext cx="15512993" cy="8333300"/>
          </a:xfrm>
          <a:custGeom>
            <a:avLst/>
            <a:gdLst/>
            <a:ahLst/>
            <a:cxnLst/>
            <a:rect r="r" b="b" t="t" l="l"/>
            <a:pathLst>
              <a:path h="8333300" w="15512993">
                <a:moveTo>
                  <a:pt x="0" y="0"/>
                </a:moveTo>
                <a:lnTo>
                  <a:pt x="15512992" y="0"/>
                </a:lnTo>
                <a:lnTo>
                  <a:pt x="15512992" y="8333301"/>
                </a:lnTo>
                <a:lnTo>
                  <a:pt x="0" y="8333301"/>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4369830"/>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Examples of Scales in Software Measurement (Continued)</a:t>
            </a:r>
          </a:p>
          <a:p>
            <a:pPr algn="l">
              <a:lnSpc>
                <a:spcPts val="2949"/>
              </a:lnSpc>
            </a:pPr>
            <a:r>
              <a:rPr lang="en-US" sz="2106">
                <a:solidFill>
                  <a:srgbClr val="000000"/>
                </a:solidFill>
                <a:latin typeface="Open Sauce"/>
                <a:ea typeface="Open Sauce"/>
                <a:cs typeface="Open Sauce"/>
                <a:sym typeface="Open Sauce"/>
              </a:rPr>
              <a:t>3️⃣ Interval Scale (Software Examples)</a:t>
            </a:r>
          </a:p>
          <a:p>
            <a:pPr algn="l">
              <a:lnSpc>
                <a:spcPts val="2949"/>
              </a:lnSpc>
            </a:pPr>
            <a:r>
              <a:rPr lang="en-US" sz="2106">
                <a:solidFill>
                  <a:srgbClr val="000000"/>
                </a:solidFill>
                <a:latin typeface="Open Sauce"/>
                <a:ea typeface="Open Sauce"/>
                <a:cs typeface="Open Sauce"/>
                <a:sym typeface="Open Sauce"/>
              </a:rPr>
              <a:t>Key Points: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Differences between values are meaningful</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No true zero point</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Addition and subtraction are valid</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Multiplication and division are not valid</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Software Examples:Project timeline (Week 2 vs Week 4 → difference of 2 weeks is meaningful)</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Calendar dates of defect detection</a:t>
            </a:r>
          </a:p>
          <a:p>
            <a:pPr algn="l">
              <a:lnSpc>
                <a:spcPts val="2949"/>
              </a:lnSpc>
            </a:pP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1080902"/>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 Examples in software: • LOC (0 means no code). • Execution time (0 means no time consumed). • Number of defects found. • Memory usage 0 KB = none </a:t>
            </a: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3638957"/>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Why Scales Matter in Software Metrics</a:t>
            </a:r>
          </a:p>
          <a:p>
            <a:pPr algn="l">
              <a:lnSpc>
                <a:spcPts val="2949"/>
              </a:lnSpc>
            </a:pPr>
            <a:r>
              <a:rPr lang="en-US" sz="2106">
                <a:solidFill>
                  <a:srgbClr val="000000"/>
                </a:solidFill>
                <a:latin typeface="Open Sauce"/>
                <a:ea typeface="Open Sauce"/>
                <a:cs typeface="Open Sauce"/>
                <a:sym typeface="Open Sauce"/>
              </a:rPr>
              <a:t>1️⃣ Ensure Meaningful Comparisons and Calculations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Proper scales ensure that any mathematical operations or comparisons you perform are valid.</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Example: You can compute averages only if the scale supports it.</a:t>
            </a:r>
          </a:p>
          <a:p>
            <a:pPr algn="l">
              <a:lnSpc>
                <a:spcPts val="2949"/>
              </a:lnSpc>
            </a:pPr>
            <a:r>
              <a:rPr lang="en-US" sz="2106">
                <a:solidFill>
                  <a:srgbClr val="000000"/>
                </a:solidFill>
                <a:latin typeface="Open Sauce"/>
                <a:ea typeface="Open Sauce"/>
                <a:cs typeface="Open Sauce"/>
                <a:sym typeface="Open Sauce"/>
              </a:rPr>
              <a:t>2️⃣ Prevent Misinterpretation</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Using the wrong scale can lead to incorrect conclusions.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Example: You cannot say “twice as severe” when using ordinal data (e.g., High, Medium, Low).</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6197012"/>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1. Theoretical Validation</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Purpose: Check if the metric is conceptually sound and consistent with measurement theory.</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Key Question: Does the metric correctly represent the construct it aims to measure?</a:t>
            </a:r>
          </a:p>
          <a:p>
            <a:pPr algn="l">
              <a:lnSpc>
                <a:spcPts val="2949"/>
              </a:lnSpc>
            </a:pPr>
            <a:r>
              <a:rPr lang="en-US" sz="2106">
                <a:solidFill>
                  <a:srgbClr val="000000"/>
                </a:solidFill>
                <a:latin typeface="Open Sauce"/>
                <a:ea typeface="Open Sauce"/>
                <a:cs typeface="Open Sauce"/>
                <a:sym typeface="Open Sauce"/>
              </a:rPr>
              <a:t>2. Empirical Validation</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Purpose: Test whether the metric behaves as expected in real-world scenarios.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Key Question: Does the metric correlate with actual outcomes?</a:t>
            </a:r>
          </a:p>
          <a:p>
            <a:pPr algn="l">
              <a:lnSpc>
                <a:spcPts val="2949"/>
              </a:lnSpc>
            </a:pPr>
            <a:r>
              <a:rPr lang="en-US" sz="2106">
                <a:solidFill>
                  <a:srgbClr val="000000"/>
                </a:solidFill>
                <a:latin typeface="Open Sauce"/>
                <a:ea typeface="Open Sauce"/>
                <a:cs typeface="Open Sauce"/>
                <a:sym typeface="Open Sauce"/>
              </a:rPr>
              <a:t>3. Expert Judgment</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Purpose: Use the knowledge and consensus of experienced practitioners to validate a metric.</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Key Question: Do domain experts agree that the metric is meaningful and useful?</a:t>
            </a:r>
          </a:p>
          <a:p>
            <a:pPr algn="l">
              <a:lnSpc>
                <a:spcPts val="2949"/>
              </a:lnSpc>
            </a:pPr>
          </a:p>
          <a:p>
            <a:pPr algn="l">
              <a:lnSpc>
                <a:spcPts val="2949"/>
              </a:lnSpc>
            </a:pP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4735266"/>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Why Measurement Validation Is Important</a:t>
            </a:r>
          </a:p>
          <a:p>
            <a:pPr algn="l">
              <a:lnSpc>
                <a:spcPts val="2949"/>
              </a:lnSpc>
            </a:pPr>
            <a:r>
              <a:rPr lang="en-US" sz="2106">
                <a:solidFill>
                  <a:srgbClr val="000000"/>
                </a:solidFill>
                <a:latin typeface="Open Sauce"/>
                <a:ea typeface="Open Sauce"/>
                <a:cs typeface="Open Sauce"/>
                <a:sym typeface="Open Sauce"/>
              </a:rPr>
              <a:t>Measurement validation ensures that the metrics we use in software engineering (or any field) are accurate, meaningful, and reliable. Without validation, decisions based on metrics can be misleading or outright wrong.</a:t>
            </a:r>
          </a:p>
          <a:p>
            <a:pPr algn="l">
              <a:lnSpc>
                <a:spcPts val="2949"/>
              </a:lnSpc>
            </a:pPr>
            <a:r>
              <a:rPr lang="en-US" sz="2106">
                <a:solidFill>
                  <a:srgbClr val="000000"/>
                </a:solidFill>
                <a:latin typeface="Open Sauce"/>
                <a:ea typeface="Open Sauce"/>
                <a:cs typeface="Open Sauce"/>
                <a:sym typeface="Open Sauce"/>
              </a:rPr>
              <a:t>1. Prevents Misleading Conclusions</a:t>
            </a:r>
          </a:p>
          <a:p>
            <a:pPr algn="l">
              <a:lnSpc>
                <a:spcPts val="2949"/>
              </a:lnSpc>
            </a:pPr>
            <a:r>
              <a:rPr lang="en-US" sz="2106">
                <a:solidFill>
                  <a:srgbClr val="000000"/>
                </a:solidFill>
                <a:latin typeface="Open Sauce"/>
                <a:ea typeface="Open Sauce"/>
                <a:cs typeface="Open Sauce"/>
                <a:sym typeface="Open Sauce"/>
              </a:rPr>
              <a:t>2. Builds Confidence in Decision-Making</a:t>
            </a:r>
          </a:p>
          <a:p>
            <a:pPr algn="l">
              <a:lnSpc>
                <a:spcPts val="2949"/>
              </a:lnSpc>
            </a:pPr>
            <a:r>
              <a:rPr lang="en-US" sz="2106">
                <a:solidFill>
                  <a:srgbClr val="000000"/>
                </a:solidFill>
                <a:latin typeface="Open Sauce"/>
                <a:ea typeface="Open Sauce"/>
                <a:cs typeface="Open Sauce"/>
                <a:sym typeface="Open Sauce"/>
              </a:rPr>
              <a:t>3. Ensures Meaningfulness, Consistency, and Trustworthiness</a:t>
            </a:r>
          </a:p>
          <a:p>
            <a:pPr algn="l">
              <a:lnSpc>
                <a:spcPts val="2949"/>
              </a:lnSpc>
            </a:pPr>
          </a:p>
          <a:p>
            <a:pPr algn="l">
              <a:lnSpc>
                <a:spcPts val="2949"/>
              </a:lnSpc>
            </a:pPr>
          </a:p>
          <a:p>
            <a:pPr algn="l">
              <a:lnSpc>
                <a:spcPts val="2949"/>
              </a:lnSpc>
            </a:pPr>
          </a:p>
          <a:p>
            <a:pPr algn="l">
              <a:lnSpc>
                <a:spcPts val="2949"/>
              </a:lnSpc>
            </a:pP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249841"/>
            <a:ext cx="9699836" cy="5100703"/>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Why OO Measurement Is Needed</a:t>
            </a:r>
          </a:p>
          <a:p>
            <a:pPr algn="l">
              <a:lnSpc>
                <a:spcPts val="2949"/>
              </a:lnSpc>
            </a:pPr>
            <a:r>
              <a:rPr lang="en-US" sz="2106">
                <a:solidFill>
                  <a:srgbClr val="000000"/>
                </a:solidFill>
                <a:latin typeface="Open Sauce"/>
                <a:ea typeface="Open Sauce"/>
                <a:cs typeface="Open Sauce"/>
                <a:sym typeface="Open Sauce"/>
              </a:rPr>
              <a:t>Object-Oriented (OO) systems differ fundamentally from procedural systems, introducing new structural and behavioral dimensions that affect software quality. Standard procedural metrics (like lines of code or function counts) are often insufficient for capturing these OO-specific aspects.</a:t>
            </a:r>
          </a:p>
          <a:p>
            <a:pPr algn="l">
              <a:lnSpc>
                <a:spcPts val="2949"/>
              </a:lnSpc>
            </a:pPr>
            <a:r>
              <a:rPr lang="en-US" sz="2106">
                <a:solidFill>
                  <a:srgbClr val="000000"/>
                </a:solidFill>
                <a:latin typeface="Open Sauce"/>
                <a:ea typeface="Open Sauce"/>
                <a:cs typeface="Open Sauce"/>
                <a:sym typeface="Open Sauce"/>
              </a:rPr>
              <a:t>1. OO Systems Have Different Structures</a:t>
            </a:r>
          </a:p>
          <a:p>
            <a:pPr algn="l">
              <a:lnSpc>
                <a:spcPts val="2949"/>
              </a:lnSpc>
            </a:pPr>
            <a:r>
              <a:rPr lang="en-US" sz="2106">
                <a:solidFill>
                  <a:srgbClr val="000000"/>
                </a:solidFill>
                <a:latin typeface="Open Sauce"/>
                <a:ea typeface="Open Sauce"/>
                <a:cs typeface="Open Sauce"/>
                <a:sym typeface="Open Sauce"/>
              </a:rPr>
              <a:t>2. OO Introduces New Dimensions of Complexity</a:t>
            </a:r>
          </a:p>
          <a:p>
            <a:pPr algn="l">
              <a:lnSpc>
                <a:spcPts val="2949"/>
              </a:lnSpc>
            </a:pPr>
            <a:r>
              <a:rPr lang="en-US" sz="2106">
                <a:solidFill>
                  <a:srgbClr val="000000"/>
                </a:solidFill>
                <a:latin typeface="Open Sauce"/>
                <a:ea typeface="Open Sauce"/>
                <a:cs typeface="Open Sauce"/>
                <a:sym typeface="Open Sauce"/>
              </a:rPr>
              <a:t>3. Purpose of OO-Specific Metrics</a:t>
            </a:r>
          </a:p>
          <a:p>
            <a:pPr algn="l">
              <a:lnSpc>
                <a:spcPts val="2949"/>
              </a:lnSpc>
            </a:pPr>
          </a:p>
          <a:p>
            <a:pPr algn="l">
              <a:lnSpc>
                <a:spcPts val="2949"/>
              </a:lnSpc>
            </a:pPr>
          </a:p>
          <a:p>
            <a:pPr algn="l">
              <a:lnSpc>
                <a:spcPts val="2949"/>
              </a:lnSpc>
            </a:pPr>
          </a:p>
          <a:p>
            <a:pPr algn="l">
              <a:lnSpc>
                <a:spcPts val="2949"/>
              </a:lnSpc>
            </a:pP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2177211"/>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Benefits of OO Measurement</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Helps in assessing complexity, reusability, and maintainability of OO systems.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Provides early indicators of design quality.</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Supports refactoring and improvement in OO design.</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674887" y="21779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2908084"/>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Subject-Domain-Oriented Measurement Definition</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Subject-domain-oriented measurement is a type of software measurement where metrics are defined with respect to the specific application domain (business, scientific, engineering, etc.).</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Unlike general-purpose metrics (e.g., LOC or Cyclomatic Complexity), these metrics are domain-specific and focus on attributes relevant to the problem domain.</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674887" y="21779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3638957"/>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Examples of Subject-Domain-Oriented Metrics</a:t>
            </a:r>
          </a:p>
          <a:p>
            <a:pPr algn="l">
              <a:lnSpc>
                <a:spcPts val="2949"/>
              </a:lnSpc>
            </a:pPr>
            <a:r>
              <a:rPr lang="en-US" sz="2106">
                <a:solidFill>
                  <a:srgbClr val="000000"/>
                </a:solidFill>
                <a:latin typeface="Open Sauce"/>
                <a:ea typeface="Open Sauce"/>
                <a:cs typeface="Open Sauce"/>
                <a:sym typeface="Open Sauce"/>
              </a:rPr>
              <a:t>1. Banking / Financial Software</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Number of transactions per second</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Security breaches detected</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Compliance with financial regulations</a:t>
            </a:r>
          </a:p>
          <a:p>
            <a:pPr algn="l">
              <a:lnSpc>
                <a:spcPts val="2949"/>
              </a:lnSpc>
            </a:pPr>
            <a:r>
              <a:rPr lang="en-US" sz="2106">
                <a:solidFill>
                  <a:srgbClr val="000000"/>
                </a:solidFill>
                <a:latin typeface="Open Sauce"/>
                <a:ea typeface="Open Sauce"/>
                <a:cs typeface="Open Sauce"/>
                <a:sym typeface="Open Sauce"/>
              </a:rPr>
              <a:t>2. Real-Time Embedded Systems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Response time (ms)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CPU utilization (%)</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Deadline miss ratio</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674887" y="21779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4735266"/>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More Examples of Subject-Domain-Oriented Metrics</a:t>
            </a:r>
          </a:p>
          <a:p>
            <a:pPr algn="l">
              <a:lnSpc>
                <a:spcPts val="2949"/>
              </a:lnSpc>
            </a:pPr>
            <a:r>
              <a:rPr lang="en-US" sz="2106">
                <a:solidFill>
                  <a:srgbClr val="000000"/>
                </a:solidFill>
                <a:latin typeface="Open Sauce"/>
                <a:ea typeface="Open Sauce"/>
                <a:cs typeface="Open Sauce"/>
                <a:sym typeface="Open Sauce"/>
              </a:rPr>
              <a:t>1.</a:t>
            </a:r>
            <a:r>
              <a:rPr lang="en-US" sz="2106">
                <a:solidFill>
                  <a:srgbClr val="000000"/>
                </a:solidFill>
                <a:latin typeface="Open Sauce"/>
                <a:ea typeface="Open Sauce"/>
                <a:cs typeface="Open Sauce"/>
                <a:sym typeface="Open Sauce"/>
              </a:rPr>
              <a:t> Web Applications / E-commerce</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Page load time (seconds)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Number of successful user sessions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Shopping cart abandonment rate</a:t>
            </a:r>
          </a:p>
          <a:p>
            <a:pPr algn="l">
              <a:lnSpc>
                <a:spcPts val="2949"/>
              </a:lnSpc>
            </a:pPr>
            <a:r>
              <a:rPr lang="en-US" sz="2106">
                <a:solidFill>
                  <a:srgbClr val="000000"/>
                </a:solidFill>
                <a:latin typeface="Open Sauce"/>
                <a:ea typeface="Open Sauce"/>
                <a:cs typeface="Open Sauce"/>
                <a:sym typeface="Open Sauce"/>
              </a:rPr>
              <a:t>2. Machine Learning / AI Systems</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Accuracy (%)</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Precision, Recall, F1-score</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Training time / Model size</a:t>
            </a:r>
          </a:p>
          <a:p>
            <a:pPr algn="l">
              <a:lnSpc>
                <a:spcPts val="2949"/>
              </a:lnSpc>
            </a:pPr>
          </a:p>
          <a:p>
            <a:pPr algn="l">
              <a:lnSpc>
                <a:spcPts val="2949"/>
              </a:lnSpc>
            </a:pPr>
          </a:p>
          <a:p>
            <a:pPr algn="l">
              <a:lnSpc>
                <a:spcPts val="2949"/>
              </a:lnSpc>
            </a:pP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674887" y="21779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2908084"/>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Why Subject-Domain-Oriented Measurement Is Important</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Ensures that measurements are meaningful in the real-world context of the software.</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Helps stakeholders (developers, customers, managers) assess quality and performance in ways that matter for their domain.</a:t>
            </a:r>
          </a:p>
          <a:p>
            <a:pPr algn="l" marL="454811" indent="-227406" lvl="1">
              <a:lnSpc>
                <a:spcPts val="2949"/>
              </a:lnSpc>
              <a:buFont typeface="Arial"/>
              <a:buChar char="•"/>
            </a:pPr>
            <a:r>
              <a:rPr lang="en-US" sz="2106">
                <a:solidFill>
                  <a:srgbClr val="000000"/>
                </a:solidFill>
                <a:latin typeface="Open Sauce"/>
                <a:ea typeface="Open Sauce"/>
                <a:cs typeface="Open Sauce"/>
                <a:sym typeface="Open Sauce"/>
              </a:rPr>
              <a:t>Bridges the gap between technical measures and business/operational goals.</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674887" y="21779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4" y="976850"/>
            <a:ext cx="15512993" cy="8333300"/>
          </a:xfrm>
          <a:custGeom>
            <a:avLst/>
            <a:gdLst/>
            <a:ahLst/>
            <a:cxnLst/>
            <a:rect r="r" b="b" t="t" l="l"/>
            <a:pathLst>
              <a:path h="8333300" w="15512993">
                <a:moveTo>
                  <a:pt x="0" y="0"/>
                </a:moveTo>
                <a:lnTo>
                  <a:pt x="15512992" y="0"/>
                </a:lnTo>
                <a:lnTo>
                  <a:pt x="15512992" y="8333300"/>
                </a:lnTo>
                <a:lnTo>
                  <a:pt x="0" y="8333300"/>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7" id="7"/>
          <p:cNvSpPr txBox="true"/>
          <p:nvPr/>
        </p:nvSpPr>
        <p:spPr>
          <a:xfrm rot="0">
            <a:off x="1387504" y="5551469"/>
            <a:ext cx="9699836" cy="1811775"/>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AspectProperty-OrientedSubject-Domain-Oriented</a:t>
            </a:r>
          </a:p>
          <a:p>
            <a:pPr algn="l">
              <a:lnSpc>
                <a:spcPts val="2949"/>
              </a:lnSpc>
            </a:pPr>
            <a:r>
              <a:rPr lang="en-US" sz="2106">
                <a:solidFill>
                  <a:srgbClr val="000000"/>
                </a:solidFill>
                <a:latin typeface="Open Sauce"/>
                <a:ea typeface="Open Sauce"/>
                <a:cs typeface="Open Sauce"/>
                <a:sym typeface="Open Sauce"/>
              </a:rPr>
              <a:t>Focus</a:t>
            </a:r>
          </a:p>
          <a:p>
            <a:pPr algn="l">
              <a:lnSpc>
                <a:spcPts val="2949"/>
              </a:lnSpc>
            </a:pPr>
            <a:r>
              <a:rPr lang="en-US" sz="2106">
                <a:solidFill>
                  <a:srgbClr val="000000"/>
                </a:solidFill>
                <a:latin typeface="Open Sauce"/>
                <a:ea typeface="Open Sauce"/>
                <a:cs typeface="Open Sauce"/>
                <a:sym typeface="Open Sauce"/>
              </a:rPr>
              <a:t>Internal software properties (size, complexity)</a:t>
            </a:r>
          </a:p>
          <a:p>
            <a:pPr algn="l">
              <a:lnSpc>
                <a:spcPts val="2949"/>
              </a:lnSpc>
            </a:pPr>
            <a:r>
              <a:rPr lang="en-US" sz="2106">
                <a:solidFill>
                  <a:srgbClr val="000000"/>
                </a:solidFill>
                <a:latin typeface="Open Sauce"/>
                <a:ea typeface="Open Sauce"/>
                <a:cs typeface="Open Sauce"/>
                <a:sym typeface="Open Sauce"/>
              </a:rPr>
              <a:t>Domain-specific performance and requirements</a:t>
            </a:r>
          </a:p>
          <a:p>
            <a:pPr algn="l">
              <a:lnSpc>
                <a:spcPts val="2949"/>
              </a:lnSpc>
            </a:pPr>
          </a:p>
        </p:txBody>
      </p:sp>
      <p:sp>
        <p:nvSpPr>
          <p:cNvPr name="Freeform 8" id="8"/>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674887" y="21779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22487" y="20255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87504" y="1711926"/>
            <a:ext cx="7005239" cy="1566845"/>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4" id="4"/>
          <p:cNvSpPr txBox="true"/>
          <p:nvPr/>
        </p:nvSpPr>
        <p:spPr>
          <a:xfrm rot="0">
            <a:off x="1387504" y="2957303"/>
            <a:ext cx="10220584" cy="1566845"/>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5" id="5"/>
          <p:cNvSpPr txBox="true"/>
          <p:nvPr/>
        </p:nvSpPr>
        <p:spPr>
          <a:xfrm rot="0">
            <a:off x="1458369" y="4552304"/>
            <a:ext cx="11403584" cy="630862"/>
          </a:xfrm>
          <a:prstGeom prst="rect">
            <a:avLst/>
          </a:prstGeom>
        </p:spPr>
        <p:txBody>
          <a:bodyPr anchor="t" rtlCol="false" tIns="0" lIns="0" bIns="0" rIns="0">
            <a:spAutoFit/>
          </a:bodyPr>
          <a:lstStyle/>
          <a:p>
            <a:pPr algn="l">
              <a:lnSpc>
                <a:spcPts val="5128"/>
              </a:lnSpc>
            </a:pPr>
            <a:r>
              <a:rPr lang="en-US" sz="3662" b="true">
                <a:solidFill>
                  <a:srgbClr val="5E17EB"/>
                </a:solidFill>
                <a:latin typeface="Open Sauce Bold"/>
                <a:ea typeface="Open Sauce Bold"/>
                <a:cs typeface="Open Sauce Bold"/>
                <a:sym typeface="Open Sauce Bold"/>
              </a:rPr>
              <a:t>chapter one</a:t>
            </a:r>
          </a:p>
        </p:txBody>
      </p:sp>
      <p:sp>
        <p:nvSpPr>
          <p:cNvPr name="TextBox 6" id="6"/>
          <p:cNvSpPr txBox="true"/>
          <p:nvPr/>
        </p:nvSpPr>
        <p:spPr>
          <a:xfrm rot="0">
            <a:off x="1387504" y="5551469"/>
            <a:ext cx="9699836" cy="2542648"/>
          </a:xfrm>
          <a:prstGeom prst="rect">
            <a:avLst/>
          </a:prstGeom>
        </p:spPr>
        <p:txBody>
          <a:bodyPr anchor="t" rtlCol="false" tIns="0" lIns="0" bIns="0" rIns="0">
            <a:spAutoFit/>
          </a:bodyPr>
          <a:lstStyle/>
          <a:p>
            <a:pPr algn="l">
              <a:lnSpc>
                <a:spcPts val="2949"/>
              </a:lnSpc>
            </a:pPr>
            <a:r>
              <a:rPr lang="en-US" sz="2106">
                <a:solidFill>
                  <a:srgbClr val="000000"/>
                </a:solidFill>
                <a:latin typeface="Open Sauce"/>
                <a:ea typeface="Open Sauce"/>
                <a:cs typeface="Open Sauce"/>
                <a:sym typeface="Open Sauce"/>
              </a:rPr>
              <a:t>EPO Examples LOC</a:t>
            </a:r>
          </a:p>
          <a:p>
            <a:pPr algn="l">
              <a:lnSpc>
                <a:spcPts val="2949"/>
              </a:lnSpc>
            </a:pPr>
            <a:r>
              <a:rPr lang="en-US" sz="2106">
                <a:solidFill>
                  <a:srgbClr val="000000"/>
                </a:solidFill>
                <a:latin typeface="Open Sauce"/>
                <a:ea typeface="Open Sauce"/>
                <a:cs typeface="Open Sauce"/>
                <a:sym typeface="Open Sauce"/>
              </a:rPr>
              <a:t> Cyclomatic Complexity</a:t>
            </a:r>
          </a:p>
          <a:p>
            <a:pPr algn="l">
              <a:lnSpc>
                <a:spcPts val="2949"/>
              </a:lnSpc>
            </a:pPr>
            <a:r>
              <a:rPr lang="en-US" sz="2106">
                <a:solidFill>
                  <a:srgbClr val="000000"/>
                </a:solidFill>
                <a:latin typeface="Open Sauce"/>
                <a:ea typeface="Open Sauce"/>
                <a:cs typeface="Open Sauce"/>
                <a:sym typeface="Open Sauce"/>
              </a:rPr>
              <a:t> Cohesion, Coupling </a:t>
            </a:r>
          </a:p>
          <a:p>
            <a:pPr algn="l">
              <a:lnSpc>
                <a:spcPts val="2949"/>
              </a:lnSpc>
            </a:pPr>
            <a:r>
              <a:rPr lang="en-US" sz="2106">
                <a:solidFill>
                  <a:srgbClr val="000000"/>
                </a:solidFill>
                <a:latin typeface="Open Sauce"/>
                <a:ea typeface="Open Sauce"/>
                <a:cs typeface="Open Sauce"/>
                <a:sym typeface="Open Sauce"/>
              </a:rPr>
              <a:t>Subject-Domain-Oriented</a:t>
            </a:r>
          </a:p>
          <a:p>
            <a:pPr algn="l">
              <a:lnSpc>
                <a:spcPts val="2949"/>
              </a:lnSpc>
            </a:pPr>
            <a:r>
              <a:rPr lang="en-US" sz="2106">
                <a:solidFill>
                  <a:srgbClr val="000000"/>
                </a:solidFill>
                <a:latin typeface="Open Sauce"/>
                <a:ea typeface="Open Sauce"/>
                <a:cs typeface="Open Sauce"/>
                <a:sym typeface="Open Sauce"/>
              </a:rPr>
              <a:t>Transactions/sec</a:t>
            </a:r>
          </a:p>
          <a:p>
            <a:pPr algn="l">
              <a:lnSpc>
                <a:spcPts val="2949"/>
              </a:lnSpc>
            </a:pPr>
            <a:r>
              <a:rPr lang="en-US" sz="2106">
                <a:solidFill>
                  <a:srgbClr val="000000"/>
                </a:solidFill>
                <a:latin typeface="Open Sauce"/>
                <a:ea typeface="Open Sauce"/>
                <a:cs typeface="Open Sauce"/>
                <a:sym typeface="Open Sauce"/>
              </a:rPr>
              <a:t> response time, accuracy</a:t>
            </a:r>
          </a:p>
          <a:p>
            <a:pPr algn="l">
              <a:lnSpc>
                <a:spcPts val="2949"/>
              </a:lnSpc>
            </a:pPr>
            <a:r>
              <a:rPr lang="en-US" sz="2106">
                <a:solidFill>
                  <a:srgbClr val="000000"/>
                </a:solidFill>
                <a:latin typeface="Open Sauce"/>
                <a:ea typeface="Open Sauce"/>
                <a:cs typeface="Open Sauce"/>
                <a:sym typeface="Open Sauce"/>
              </a:rPr>
              <a:t> compliance</a:t>
            </a:r>
          </a:p>
        </p:txBody>
      </p:sp>
      <p:sp>
        <p:nvSpPr>
          <p:cNvPr name="Freeform 7" id="7"/>
          <p:cNvSpPr/>
          <p:nvPr/>
        </p:nvSpPr>
        <p:spPr>
          <a:xfrm flipH="false" flipV="false" rot="0">
            <a:off x="14835401" y="5589569"/>
            <a:ext cx="6461284" cy="5721174"/>
          </a:xfrm>
          <a:custGeom>
            <a:avLst/>
            <a:gdLst/>
            <a:ahLst/>
            <a:cxnLst/>
            <a:rect r="r" b="b" t="t" l="l"/>
            <a:pathLst>
              <a:path h="5721174" w="6461284">
                <a:moveTo>
                  <a:pt x="0" y="0"/>
                </a:moveTo>
                <a:lnTo>
                  <a:pt x="6461284" y="0"/>
                </a:lnTo>
                <a:lnTo>
                  <a:pt x="6461284" y="5721173"/>
                </a:lnTo>
                <a:lnTo>
                  <a:pt x="0" y="57211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748449" y="-5832457"/>
            <a:ext cx="10999513" cy="9299588"/>
          </a:xfrm>
          <a:custGeom>
            <a:avLst/>
            <a:gdLst/>
            <a:ahLst/>
            <a:cxnLst/>
            <a:rect r="r" b="b" t="t" l="l"/>
            <a:pathLst>
              <a:path h="9299588" w="10999513">
                <a:moveTo>
                  <a:pt x="0" y="0"/>
                </a:moveTo>
                <a:lnTo>
                  <a:pt x="10999513" y="0"/>
                </a:lnTo>
                <a:lnTo>
                  <a:pt x="10999513" y="9299588"/>
                </a:lnTo>
                <a:lnTo>
                  <a:pt x="0" y="92995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674887" y="2177968"/>
            <a:ext cx="13126826" cy="11098135"/>
          </a:xfrm>
          <a:custGeom>
            <a:avLst/>
            <a:gdLst/>
            <a:ahLst/>
            <a:cxnLst/>
            <a:rect r="r" b="b" t="t" l="l"/>
            <a:pathLst>
              <a:path h="11098135" w="13126826">
                <a:moveTo>
                  <a:pt x="0" y="0"/>
                </a:moveTo>
                <a:lnTo>
                  <a:pt x="13126826" y="0"/>
                </a:lnTo>
                <a:lnTo>
                  <a:pt x="13126826" y="11098134"/>
                </a:lnTo>
                <a:lnTo>
                  <a:pt x="0" y="11098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DAHBv20Tx60</dc:identifier>
  <dcterms:modified xsi:type="dcterms:W3CDTF">2011-08-01T06:04:30Z</dcterms:modified>
  <cp:revision>1</cp:revision>
  <dc:title>software</dc:title>
</cp:coreProperties>
</file>